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embeddedFontLst>
    <p:embeddedFont>
      <p:font typeface="Alexandria Semi Bold"/>
      <p:regular r:id="rId22"/>
    </p:embeddedFont>
    <p:embeddedFont>
      <p:font typeface="Alexandria Semi Bold"/>
      <p:regular r:id="rId23"/>
    </p:embeddedFont>
    <p:embeddedFont>
      <p:font typeface="Sora Light"/>
      <p:regular r:id="rId24"/>
    </p:embeddedFont>
    <p:embeddedFont>
      <p:font typeface="Sora Light"/>
      <p:regular r:id="rId2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page-11-0" TargetMode="External"/><Relationship Id="rId2" Type="http://schemas.openxmlformats.org/officeDocument/2006/relationships/hyperlink" Target="#page-11-1" TargetMode="External"/><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page-11-1" TargetMode="External"/><Relationship Id="rId2" Type="http://schemas.openxmlformats.org/officeDocument/2006/relationships/hyperlink" Target="#page-11-2" TargetMode="External"/><Relationship Id="rId3" Type="http://schemas.openxmlformats.org/officeDocument/2006/relationships/hyperlink" Target="#page-11-3" TargetMode="External"/><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page-11-3" TargetMode="External"/><Relationship Id="rId5" Type="http://schemas.openxmlformats.org/officeDocument/2006/relationships/hyperlink" Target="#page-11-1" TargetMode="External"/><Relationship Id="rId6" Type="http://schemas.openxmlformats.org/officeDocument/2006/relationships/hyperlink" Target="#page-11-4" TargetMode="External"/><Relationship Id="rId8" Type="http://schemas.openxmlformats.org/officeDocument/2006/relationships/hyperlink" Target="#page-11-3"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png"/><Relationship Id="rId7"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slideLayout" Target="../slideLayouts/slideLayout5.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page-11-0" TargetMode="External"/><Relationship Id="rId2" Type="http://schemas.openxmlformats.org/officeDocument/2006/relationships/hyperlink" Target="#page-11-1" TargetMode="External"/><Relationship Id="rId3" Type="http://schemas.openxmlformats.org/officeDocument/2006/relationships/hyperlink" Target="#page-11-2" TargetMode="External"/><Relationship Id="rId4" Type="http://schemas.openxmlformats.org/officeDocument/2006/relationships/hyperlink" Target="#page-11-3" TargetMode="External"/><Relationship Id="rId5" Type="http://schemas.openxmlformats.org/officeDocument/2006/relationships/hyperlink" Target="#page-11-0" TargetMode="External"/><Relationship Id="rId6" Type="http://schemas.openxmlformats.org/officeDocument/2006/relationships/hyperlink" Target="#page-12-0" TargetMode="External"/><Relationship Id="rId7" Type="http://schemas.openxmlformats.org/officeDocument/2006/relationships/hyperlink" Target="#page-11-2" TargetMode="External"/><Relationship Id="rId8" Type="http://schemas.openxmlformats.org/officeDocument/2006/relationships/hyperlink" Target="#page-12-1" TargetMode="External"/><Relationship Id="rId9" Type="http://schemas.openxmlformats.org/officeDocument/2006/relationships/hyperlink" Target="#page-12-2" TargetMode="External"/><Relationship Id="rId10" Type="http://schemas.openxmlformats.org/officeDocument/2006/relationships/hyperlink" Target="#page-12-3" TargetMode="External"/><Relationship Id="rId11" Type="http://schemas.openxmlformats.org/officeDocument/2006/relationships/hyperlink" Target="#page-12-2" TargetMode="External"/><Relationship Id="rId12" Type="http://schemas.openxmlformats.org/officeDocument/2006/relationships/hyperlink" Target="#page-12-4" TargetMode="External"/><Relationship Id="rId13" Type="http://schemas.openxmlformats.org/officeDocument/2006/relationships/hyperlink" Target="#page-12-2" TargetMode="External"/><Relationship Id="rId14" Type="http://schemas.openxmlformats.org/officeDocument/2006/relationships/hyperlink" Target="#page-12-5" TargetMode="External"/><Relationship Id="rId15" Type="http://schemas.openxmlformats.org/officeDocument/2006/relationships/hyperlink" Target="#page-11-1" TargetMode="External"/><Relationship Id="rId16" Type="http://schemas.openxmlformats.org/officeDocument/2006/relationships/hyperlink" Target="#page-12-6" TargetMode="External"/><Relationship Id="rId17" Type="http://schemas.openxmlformats.org/officeDocument/2006/relationships/slideLayout" Target="../slideLayouts/slideLayout12.xml"/><Relationship Id="rId1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page-12-8" TargetMode="External"/><Relationship Id="rId2" Type="http://schemas.openxmlformats.org/officeDocument/2006/relationships/hyperlink" Target="#page-12-9" TargetMode="External"/><Relationship Id="rId3" Type="http://schemas.openxmlformats.org/officeDocument/2006/relationships/hyperlink" Target="#page-12-7" TargetMode="External"/><Relationship Id="rId4" Type="http://schemas.openxmlformats.org/officeDocument/2006/relationships/hyperlink" Target="#page-12-9" TargetMode="External"/><Relationship Id="rId5" Type="http://schemas.openxmlformats.org/officeDocument/2006/relationships/slideLayout" Target="../slideLayouts/slideLayout1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2430780"/>
            <a:ext cx="7627382" cy="1870591"/>
          </a:xfrm>
          <a:prstGeom prst="rect">
            <a:avLst/>
          </a:prstGeom>
          <a:noFill/>
          <a:ln/>
        </p:spPr>
        <p:txBody>
          <a:bodyPr wrap="square" lIns="0" tIns="0" rIns="0" bIns="0" rtlCol="0" anchor="t"/>
          <a:lstStyle/>
          <a:p>
            <a:pPr algn="l" indent="0" marL="0">
              <a:lnSpc>
                <a:spcPts val="4900"/>
              </a:lnSpc>
              <a:buNone/>
            </a:pPr>
            <a:r>
              <a:rPr lang="en-US" sz="3900" dirty="0">
                <a:solidFill>
                  <a:srgbClr val="1F1E1E"/>
                </a:solidFill>
                <a:latin typeface="Alexandria Semi Bold" pitchFamily="34" charset="0"/>
                <a:ea typeface="Alexandria Semi Bold" pitchFamily="34" charset="-122"/>
                <a:cs typeface="Alexandria Semi Bold" pitchFamily="34" charset="-120"/>
              </a:rPr>
              <a:t>The Art of AI-Powered Media Value Chain Transformation for TKO Group Holdings</a:t>
            </a:r>
            <a:endParaRPr lang="en-US" sz="3900" dirty="0"/>
          </a:p>
        </p:txBody>
      </p:sp>
      <p:sp>
        <p:nvSpPr>
          <p:cNvPr id="4" name="Text 1"/>
          <p:cNvSpPr/>
          <p:nvPr/>
        </p:nvSpPr>
        <p:spPr>
          <a:xfrm>
            <a:off x="6244709" y="4585692"/>
            <a:ext cx="7627382" cy="1213009"/>
          </a:xfrm>
          <a:prstGeom prst="rect">
            <a:avLst/>
          </a:prstGeom>
          <a:noFill/>
          <a:ln/>
        </p:spPr>
        <p:txBody>
          <a:bodyPr wrap="square" lIns="0" tIns="0" rIns="0" bIns="0" rtlCol="0" anchor="t"/>
          <a:lstStyle/>
          <a:p>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A comprehensive exploration of how artificial intelligence can revolutionize TKO Group Holdings' entire value chain, from content creation to fan engagement, delivering unprecedented growth and competitive advantage in the sports entertainment industry.</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1713548"/>
            <a:ext cx="6475928" cy="623530"/>
          </a:xfrm>
          <a:prstGeom prst="rect">
            <a:avLst/>
          </a:prstGeom>
          <a:noFill/>
          <a:ln/>
        </p:spPr>
        <p:txBody>
          <a:bodyPr wrap="none" lIns="0" tIns="0" rIns="0" bIns="0" rtlCol="0" anchor="t"/>
          <a:lstStyle/>
          <a:p>
            <a:pPr algn="l" indent="0" marL="0">
              <a:lnSpc>
                <a:spcPts val="4900"/>
              </a:lnSpc>
              <a:buNone/>
            </a:pPr>
            <a:r>
              <a:rPr lang="en-US" sz="3900" dirty="0">
                <a:solidFill>
                  <a:srgbClr val="1F1E1E"/>
                </a:solidFill>
                <a:latin typeface="Alexandria Semi Bold" pitchFamily="34" charset="0"/>
                <a:ea typeface="Alexandria Semi Bold" pitchFamily="34" charset="-122"/>
                <a:cs typeface="Alexandria Semi Bold" pitchFamily="34" charset="-120"/>
              </a:rPr>
              <a:t>The $14.8 Billion Question</a:t>
            </a:r>
            <a:endParaRPr lang="en-US" sz="3900" dirty="0"/>
          </a:p>
        </p:txBody>
      </p:sp>
      <p:sp>
        <p:nvSpPr>
          <p:cNvPr id="3" name="Text 1"/>
          <p:cNvSpPr/>
          <p:nvPr/>
        </p:nvSpPr>
        <p:spPr>
          <a:xfrm>
            <a:off x="758309" y="2792016"/>
            <a:ext cx="6325672" cy="1213009"/>
          </a:xfrm>
          <a:prstGeom prst="rect">
            <a:avLst/>
          </a:prstGeom>
          <a:noFill/>
          <a:ln/>
        </p:spPr>
        <p:txBody>
          <a:bodyPr wrap="square" lIns="0" tIns="0" rIns="0" bIns="0" rtlCol="0" anchor="t"/>
          <a:lstStyle/>
          <a:p>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Imagine if your biggest competitor could create 300% more content than you today, personalize it for 210 countries and territories in real-time, and deliver it at 60% lower cost while increasing fan engagement by 450%.</a:t>
            </a:r>
            <a:endParaRPr lang="en-US" sz="1450" dirty="0"/>
          </a:p>
        </p:txBody>
      </p:sp>
      <p:sp>
        <p:nvSpPr>
          <p:cNvPr id="4" name="Text 2"/>
          <p:cNvSpPr/>
          <p:nvPr/>
        </p:nvSpPr>
        <p:spPr>
          <a:xfrm>
            <a:off x="758309" y="4175641"/>
            <a:ext cx="6325672" cy="1213009"/>
          </a:xfrm>
          <a:prstGeom prst="rect">
            <a:avLst/>
          </a:prstGeom>
          <a:noFill/>
          <a:ln/>
        </p:spPr>
        <p:txBody>
          <a:bodyPr wrap="square" lIns="0" tIns="0" rIns="0" bIns="0" rtlCol="0" anchor="t"/>
          <a:lstStyle/>
          <a:p>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Imagine if they could predict which UFC fight will break pay-per-view records before the match is even announced, or know exactly which WWE storyline will drive the highest merchandise sales in each of your global markets.</a:t>
            </a:r>
            <a:endParaRPr lang="en-US" sz="1450" dirty="0"/>
          </a:p>
        </p:txBody>
      </p:sp>
      <p:sp>
        <p:nvSpPr>
          <p:cNvPr id="5" name="Text 3"/>
          <p:cNvSpPr/>
          <p:nvPr/>
        </p:nvSpPr>
        <p:spPr>
          <a:xfrm>
            <a:off x="758309" y="5578197"/>
            <a:ext cx="6325672" cy="748189"/>
          </a:xfrm>
          <a:prstGeom prst="rect">
            <a:avLst/>
          </a:prstGeom>
          <a:noFill/>
          <a:ln/>
        </p:spPr>
        <p:txBody>
          <a:bodyPr wrap="square" lIns="0" tIns="0" rIns="0" bIns="0" rtlCol="0" anchor="t"/>
          <a:lstStyle/>
          <a:p>
            <a:pPr algn="l" indent="0" marL="0">
              <a:lnSpc>
                <a:spcPts val="2900"/>
              </a:lnSpc>
              <a:buNone/>
            </a:pPr>
            <a:r>
              <a:rPr lang="en-US" sz="2350" dirty="0">
                <a:solidFill>
                  <a:srgbClr val="1F1E1E"/>
                </a:solidFill>
                <a:latin typeface="Alexandria Semi Bold" pitchFamily="34" charset="0"/>
                <a:ea typeface="Alexandria Semi Bold" pitchFamily="34" charset="-122"/>
                <a:cs typeface="Alexandria Semi Bold" pitchFamily="34" charset="-120"/>
              </a:rPr>
              <a:t>This isn't science fiction. This is happening right now.</a:t>
            </a:r>
            <a:endParaRPr lang="en-US" sz="2350" dirty="0"/>
          </a:p>
        </p:txBody>
      </p:sp>
      <p:sp>
        <p:nvSpPr>
          <p:cNvPr id="6" name="Text 4"/>
          <p:cNvSpPr/>
          <p:nvPr/>
        </p:nvSpPr>
        <p:spPr>
          <a:xfrm>
            <a:off x="7554039" y="2792016"/>
            <a:ext cx="6325672" cy="1819513"/>
          </a:xfrm>
          <a:prstGeom prst="rect">
            <a:avLst/>
          </a:prstGeom>
          <a:noFill/>
          <a:ln/>
        </p:spPr>
        <p:txBody>
          <a:bodyPr wrap="square" lIns="0" tIns="0" rIns="0" bIns="0" rtlCol="0" anchor="t"/>
          <a:lstStyle/>
          <a:p>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TKO Group Holdings stands at a $14.8 billion crossroads. The generative AI content creation market is exploding from $14.8 billion in 2024 to $80.12 billion by 2030 at a 32.5% CAGR. Your competitors aren't waiting for perfect strategies—they're transforming their entire value chain from content creation to fan engagement through AI. </a:t>
            </a:r>
            <a:pPr algn="l" indent="0" marL="0">
              <a:lnSpc>
                <a:spcPts val="2350"/>
              </a:lnSpc>
              <a:buNone/>
            </a:pPr>
            <a:r>
              <a:rPr lang="en-US" sz="1450" u="sng" dirty="0">
                <a:solidFill>
                  <a:srgbClr val="1A2D7A"/>
                </a:solidFill>
                <a:latin typeface="Sora Light" pitchFamily="34" charset="0"/>
                <a:ea typeface="Sora Light" pitchFamily="34" charset="-122"/>
                <a:cs typeface="Sora Light" pitchFamily="34" charset="-120"/>
                <a:hlinkClick r:id="rId1" invalidUrl="" action="" tgtFrame="" tooltip="" history="1" highlightClick="0" endSnd="0">
                  <a:extLst>
                    <a:ext uri="{A12FA001-AC4F-418D-AE19-62706E023703}">
                      <ahyp:hlinkClr xmlns:ahyp="http://schemas.microsoft.com/office/drawing/2018/hyperlinkcolor" val="tx"/>
                    </a:ext>
                  </a:extLst>
                </a:hlinkClick>
              </a:rPr>
              <a:t>1</a:t>
            </a:r>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 </a:t>
            </a:r>
            <a:pPr algn="l" indent="0" marL="0">
              <a:lnSpc>
                <a:spcPts val="2350"/>
              </a:lnSpc>
              <a:buNone/>
            </a:pPr>
            <a:r>
              <a:rPr lang="en-US" sz="1450" u="sng" dirty="0">
                <a:solidFill>
                  <a:srgbClr val="1A2D7A"/>
                </a:solidFill>
                <a:latin typeface="Sora Light" pitchFamily="34" charset="0"/>
                <a:ea typeface="Sora Light" pitchFamily="34" charset="-122"/>
                <a:cs typeface="Sora Light"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1450" dirty="0"/>
          </a:p>
        </p:txBody>
      </p:sp>
      <p:sp>
        <p:nvSpPr>
          <p:cNvPr id="7" name="Text 5"/>
          <p:cNvSpPr/>
          <p:nvPr/>
        </p:nvSpPr>
        <p:spPr>
          <a:xfrm>
            <a:off x="7554039" y="4782145"/>
            <a:ext cx="6325672" cy="909757"/>
          </a:xfrm>
          <a:prstGeom prst="rect">
            <a:avLst/>
          </a:prstGeom>
          <a:noFill/>
          <a:ln/>
        </p:spPr>
        <p:txBody>
          <a:bodyPr wrap="square" lIns="0" tIns="0" rIns="0" bIns="0" rtlCol="0" anchor="t"/>
          <a:lstStyle/>
          <a:p>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The question isn't whether AI will transform sports entertainment. It already has. The question is whether TKO will lead this transformation or watch others redefine what's possible.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537329"/>
            <a:ext cx="4988838" cy="623530"/>
          </a:xfrm>
          <a:prstGeom prst="rect">
            <a:avLst/>
          </a:prstGeom>
          <a:noFill/>
          <a:ln/>
        </p:spPr>
        <p:txBody>
          <a:bodyPr wrap="none" lIns="0" tIns="0" rIns="0" bIns="0" rtlCol="0" anchor="t"/>
          <a:lstStyle/>
          <a:p>
            <a:pPr algn="l" indent="0" marL="0">
              <a:lnSpc>
                <a:spcPts val="4900"/>
              </a:lnSpc>
              <a:buNone/>
            </a:pPr>
            <a:r>
              <a:rPr lang="en-US" sz="3900" dirty="0">
                <a:solidFill>
                  <a:srgbClr val="1F1E1E"/>
                </a:solidFill>
                <a:latin typeface="Alexandria Semi Bold" pitchFamily="34" charset="0"/>
                <a:ea typeface="Alexandria Semi Bold" pitchFamily="34" charset="-122"/>
                <a:cs typeface="Alexandria Semi Bold" pitchFamily="34" charset="-120"/>
              </a:rPr>
              <a:t>TKO's AI Imperative</a:t>
            </a:r>
            <a:endParaRPr lang="en-US" sz="3900" dirty="0"/>
          </a:p>
        </p:txBody>
      </p:sp>
      <p:sp>
        <p:nvSpPr>
          <p:cNvPr id="3" name="Shape 1"/>
          <p:cNvSpPr/>
          <p:nvPr/>
        </p:nvSpPr>
        <p:spPr>
          <a:xfrm>
            <a:off x="758309" y="1801416"/>
            <a:ext cx="4244816" cy="91440"/>
          </a:xfrm>
          <a:prstGeom prst="roundRect">
            <a:avLst>
              <a:gd name="adj" fmla="val 87077"/>
            </a:avLst>
          </a:prstGeom>
          <a:solidFill>
            <a:srgbClr val="1A2D7A"/>
          </a:solidFill>
          <a:ln/>
        </p:spPr>
      </p:sp>
      <p:sp>
        <p:nvSpPr>
          <p:cNvPr id="4" name="Shape 2"/>
          <p:cNvSpPr/>
          <p:nvPr/>
        </p:nvSpPr>
        <p:spPr>
          <a:xfrm>
            <a:off x="2596396" y="1539954"/>
            <a:ext cx="568643" cy="568643"/>
          </a:xfrm>
          <a:prstGeom prst="roundRect">
            <a:avLst>
              <a:gd name="adj" fmla="val 160804"/>
            </a:avLst>
          </a:prstGeom>
          <a:solidFill>
            <a:srgbClr val="1A2D7A"/>
          </a:solidFill>
          <a:ln/>
        </p:spPr>
      </p:sp>
      <p:sp>
        <p:nvSpPr>
          <p:cNvPr id="5" name="Text 3"/>
          <p:cNvSpPr/>
          <p:nvPr/>
        </p:nvSpPr>
        <p:spPr>
          <a:xfrm>
            <a:off x="2767013" y="1682115"/>
            <a:ext cx="227409" cy="284321"/>
          </a:xfrm>
          <a:prstGeom prst="rect">
            <a:avLst/>
          </a:prstGeom>
          <a:noFill/>
          <a:ln/>
        </p:spPr>
        <p:txBody>
          <a:bodyPr wrap="none" lIns="0" tIns="0" rIns="0" bIns="0" rtlCol="0" anchor="t"/>
          <a:lstStyle/>
          <a:p>
            <a:pPr algn="l" indent="0" marL="0">
              <a:lnSpc>
                <a:spcPts val="2850"/>
              </a:lnSpc>
              <a:buNone/>
            </a:pPr>
            <a:r>
              <a:rPr lang="en-US" sz="1750" dirty="0">
                <a:solidFill>
                  <a:srgbClr val="FFFFFF"/>
                </a:solidFill>
                <a:latin typeface="Alexandria Semi Bold" pitchFamily="34" charset="0"/>
                <a:ea typeface="Alexandria Semi Bold" pitchFamily="34" charset="-122"/>
                <a:cs typeface="Alexandria Semi Bold" pitchFamily="34" charset="-120"/>
              </a:rPr>
              <a:t>1</a:t>
            </a:r>
            <a:endParaRPr lang="en-US" sz="1750" dirty="0"/>
          </a:p>
        </p:txBody>
      </p:sp>
      <p:sp>
        <p:nvSpPr>
          <p:cNvPr id="6" name="Text 4"/>
          <p:cNvSpPr/>
          <p:nvPr/>
        </p:nvSpPr>
        <p:spPr>
          <a:xfrm>
            <a:off x="970717" y="2298144"/>
            <a:ext cx="3820001" cy="935117"/>
          </a:xfrm>
          <a:prstGeom prst="rect">
            <a:avLst/>
          </a:prstGeom>
          <a:noFill/>
          <a:ln/>
        </p:spPr>
        <p:txBody>
          <a:bodyPr wrap="square" lIns="0" tIns="0" rIns="0" bIns="0" rtlCol="0" anchor="t"/>
          <a:lstStyle/>
          <a:p>
            <a:pPr algn="l" indent="0" marL="0">
              <a:lnSpc>
                <a:spcPts val="2450"/>
              </a:lnSpc>
              <a:buNone/>
            </a:pPr>
            <a:r>
              <a:rPr lang="en-US" sz="1950" dirty="0">
                <a:solidFill>
                  <a:srgbClr val="3B3535"/>
                </a:solidFill>
                <a:latin typeface="Alexandria Semi Bold" pitchFamily="34" charset="0"/>
                <a:ea typeface="Alexandria Semi Bold" pitchFamily="34" charset="-122"/>
                <a:cs typeface="Alexandria Semi Bold" pitchFamily="34" charset="-120"/>
              </a:rPr>
              <a:t>TKO Group Holdings: A $2.8 Billion Sports Entertainment Powerhouse</a:t>
            </a:r>
            <a:endParaRPr lang="en-US" sz="1950" dirty="0"/>
          </a:p>
        </p:txBody>
      </p:sp>
      <p:sp>
        <p:nvSpPr>
          <p:cNvPr id="7" name="Text 5"/>
          <p:cNvSpPr/>
          <p:nvPr/>
        </p:nvSpPr>
        <p:spPr>
          <a:xfrm>
            <a:off x="970717" y="3346966"/>
            <a:ext cx="3820001" cy="3032522"/>
          </a:xfrm>
          <a:prstGeom prst="rect">
            <a:avLst/>
          </a:prstGeom>
          <a:noFill/>
          <a:ln/>
        </p:spPr>
        <p:txBody>
          <a:bodyPr wrap="square" lIns="0" tIns="0" rIns="0" bIns="0" rtlCol="0" anchor="t"/>
          <a:lstStyle/>
          <a:p>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With UFC generating $1.406 billion and WWE contributing $1.398 billion in 2024 revenue, TKO reaches 1 billion+ fans across 210 countries through 500+ live events annually. But here's the critical insight: 93% of your fans are international, creating unprecedented opportunities for AI-powered personalization and content optimization. </a:t>
            </a:r>
            <a:pPr algn="l" indent="0" marL="0">
              <a:lnSpc>
                <a:spcPts val="2350"/>
              </a:lnSpc>
              <a:buNone/>
            </a:pPr>
            <a:r>
              <a:rPr lang="en-US" sz="1450" u="sng" dirty="0">
                <a:solidFill>
                  <a:srgbClr val="1A2D7A"/>
                </a:solidFill>
                <a:latin typeface="Sora Light" pitchFamily="34" charset="0"/>
                <a:ea typeface="Sora Light" pitchFamily="34" charset="-122"/>
                <a:cs typeface="Sora Light"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 </a:t>
            </a:r>
            <a:pPr algn="l" indent="0" marL="0">
              <a:lnSpc>
                <a:spcPts val="2350"/>
              </a:lnSpc>
              <a:buNone/>
            </a:pPr>
            <a:r>
              <a:rPr lang="en-US" sz="1450" u="sng" dirty="0">
                <a:solidFill>
                  <a:srgbClr val="1A2D7A"/>
                </a:solidFill>
                <a:latin typeface="Sora Light" pitchFamily="34" charset="0"/>
                <a:ea typeface="Sora Light" pitchFamily="34" charset="-122"/>
                <a:cs typeface="Sora Light" pitchFamily="34" charset="-120"/>
                <a:hlinkClick r:id="rId2" invalidUrl="" action="" tgtFrame="" tooltip="" history="1" highlightClick="0" endSnd="0">
                  <a:extLst>
                    <a:ext uri="{A12FA001-AC4F-418D-AE19-62706E023703}">
                      <ahyp:hlinkClr xmlns:ahyp="http://schemas.microsoft.com/office/drawing/2018/hyperlinkcolor" val="tx"/>
                    </a:ext>
                  </a:extLst>
                </a:hlinkClick>
              </a:rPr>
              <a:t>3</a:t>
            </a:r>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 </a:t>
            </a:r>
            <a:pPr algn="l" indent="0" marL="0">
              <a:lnSpc>
                <a:spcPts val="2350"/>
              </a:lnSpc>
              <a:buNone/>
            </a:pPr>
            <a:r>
              <a:rPr lang="en-US" sz="1450" u="sng" dirty="0">
                <a:solidFill>
                  <a:srgbClr val="1A2D7A"/>
                </a:solidFill>
                <a:latin typeface="Sora Light" pitchFamily="34" charset="0"/>
                <a:ea typeface="Sora Light" pitchFamily="34" charset="-122"/>
                <a:cs typeface="Sora Light" pitchFamily="34" charset="-120"/>
                <a:hlinkClick r:id="rId3" invalidUrl="" action="" tgtFrame="" tooltip="" history="1" highlightClick="0" endSnd="0">
                  <a:extLst>
                    <a:ext uri="{A12FA001-AC4F-418D-AE19-62706E023703}">
                      <ahyp:hlinkClr xmlns:ahyp="http://schemas.microsoft.com/office/drawing/2018/hyperlinkcolor" val="tx"/>
                    </a:ext>
                  </a:extLst>
                </a:hlinkClick>
              </a:rPr>
              <a:t>4</a:t>
            </a:r>
            <a:endParaRPr lang="en-US" sz="1450" dirty="0"/>
          </a:p>
        </p:txBody>
      </p:sp>
      <p:sp>
        <p:nvSpPr>
          <p:cNvPr id="8" name="Shape 6"/>
          <p:cNvSpPr/>
          <p:nvPr/>
        </p:nvSpPr>
        <p:spPr>
          <a:xfrm>
            <a:off x="5192673" y="1801416"/>
            <a:ext cx="4244935" cy="91440"/>
          </a:xfrm>
          <a:prstGeom prst="roundRect">
            <a:avLst>
              <a:gd name="adj" fmla="val 87077"/>
            </a:avLst>
          </a:prstGeom>
          <a:solidFill>
            <a:srgbClr val="1A2D7A"/>
          </a:solidFill>
          <a:ln/>
        </p:spPr>
      </p:sp>
      <p:sp>
        <p:nvSpPr>
          <p:cNvPr id="9" name="Shape 7"/>
          <p:cNvSpPr/>
          <p:nvPr/>
        </p:nvSpPr>
        <p:spPr>
          <a:xfrm>
            <a:off x="7030760" y="1539954"/>
            <a:ext cx="568643" cy="568643"/>
          </a:xfrm>
          <a:prstGeom prst="roundRect">
            <a:avLst>
              <a:gd name="adj" fmla="val 160804"/>
            </a:avLst>
          </a:prstGeom>
          <a:solidFill>
            <a:srgbClr val="1A2D7A"/>
          </a:solidFill>
          <a:ln/>
        </p:spPr>
      </p:sp>
      <p:sp>
        <p:nvSpPr>
          <p:cNvPr id="10" name="Text 8"/>
          <p:cNvSpPr/>
          <p:nvPr/>
        </p:nvSpPr>
        <p:spPr>
          <a:xfrm>
            <a:off x="7201376" y="1682115"/>
            <a:ext cx="227409" cy="284321"/>
          </a:xfrm>
          <a:prstGeom prst="rect">
            <a:avLst/>
          </a:prstGeom>
          <a:noFill/>
          <a:ln/>
        </p:spPr>
        <p:txBody>
          <a:bodyPr wrap="none" lIns="0" tIns="0" rIns="0" bIns="0" rtlCol="0" anchor="t"/>
          <a:lstStyle/>
          <a:p>
            <a:pPr algn="l" indent="0" marL="0">
              <a:lnSpc>
                <a:spcPts val="2850"/>
              </a:lnSpc>
              <a:buNone/>
            </a:pPr>
            <a:r>
              <a:rPr lang="en-US" sz="1750" dirty="0">
                <a:solidFill>
                  <a:srgbClr val="FFFFFF"/>
                </a:solidFill>
                <a:latin typeface="Alexandria Semi Bold" pitchFamily="34" charset="0"/>
                <a:ea typeface="Alexandria Semi Bold" pitchFamily="34" charset="-122"/>
                <a:cs typeface="Alexandria Semi Bold" pitchFamily="34" charset="-120"/>
              </a:rPr>
              <a:t>2</a:t>
            </a:r>
            <a:endParaRPr lang="en-US" sz="1750" dirty="0"/>
          </a:p>
        </p:txBody>
      </p:sp>
      <p:sp>
        <p:nvSpPr>
          <p:cNvPr id="11" name="Text 9"/>
          <p:cNvSpPr/>
          <p:nvPr/>
        </p:nvSpPr>
        <p:spPr>
          <a:xfrm>
            <a:off x="5405080" y="2298144"/>
            <a:ext cx="3820120" cy="623411"/>
          </a:xfrm>
          <a:prstGeom prst="rect">
            <a:avLst/>
          </a:prstGeom>
          <a:noFill/>
          <a:ln/>
        </p:spPr>
        <p:txBody>
          <a:bodyPr wrap="square" lIns="0" tIns="0" rIns="0" bIns="0" rtlCol="0" anchor="t"/>
          <a:lstStyle/>
          <a:p>
            <a:pPr algn="l" indent="0" marL="0">
              <a:lnSpc>
                <a:spcPts val="2450"/>
              </a:lnSpc>
              <a:buNone/>
            </a:pPr>
            <a:r>
              <a:rPr lang="en-US" sz="1950" dirty="0">
                <a:solidFill>
                  <a:srgbClr val="3B3535"/>
                </a:solidFill>
                <a:latin typeface="Alexandria Semi Bold" pitchFamily="34" charset="0"/>
                <a:ea typeface="Alexandria Semi Bold" pitchFamily="34" charset="-122"/>
                <a:cs typeface="Alexandria Semi Bold" pitchFamily="34" charset="-120"/>
              </a:rPr>
              <a:t>The AI Transformation Imperative</a:t>
            </a:r>
            <a:endParaRPr lang="en-US" sz="1950" dirty="0"/>
          </a:p>
        </p:txBody>
      </p:sp>
      <p:sp>
        <p:nvSpPr>
          <p:cNvPr id="12" name="Text 10"/>
          <p:cNvSpPr/>
          <p:nvPr/>
        </p:nvSpPr>
        <p:spPr>
          <a:xfrm>
            <a:off x="5405080" y="3035260"/>
            <a:ext cx="3820120" cy="12130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Revenue Opportunity: AI can increase media company revenues by 10-15% while reducing costs by 15%</a:t>
            </a:r>
            <a:endParaRPr lang="en-US" sz="1450" dirty="0"/>
          </a:p>
        </p:txBody>
      </p:sp>
      <p:sp>
        <p:nvSpPr>
          <p:cNvPr id="13" name="Text 11"/>
          <p:cNvSpPr/>
          <p:nvPr/>
        </p:nvSpPr>
        <p:spPr>
          <a:xfrm>
            <a:off x="5405080" y="4314587"/>
            <a:ext cx="3820120" cy="909757"/>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Content Velocity: AI enables 300-500% faster content creation across the media value chain</a:t>
            </a:r>
            <a:endParaRPr lang="en-US" sz="1450" dirty="0"/>
          </a:p>
        </p:txBody>
      </p:sp>
      <p:sp>
        <p:nvSpPr>
          <p:cNvPr id="14" name="Text 12"/>
          <p:cNvSpPr/>
          <p:nvPr/>
        </p:nvSpPr>
        <p:spPr>
          <a:xfrm>
            <a:off x="5405080" y="5290661"/>
            <a:ext cx="3820120" cy="12130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Fan Engagement: AI-powered personalization drives 180% improvement in audience engagement</a:t>
            </a:r>
            <a:endParaRPr lang="en-US" sz="1450" dirty="0"/>
          </a:p>
        </p:txBody>
      </p:sp>
      <p:sp>
        <p:nvSpPr>
          <p:cNvPr id="15" name="Text 13"/>
          <p:cNvSpPr/>
          <p:nvPr/>
        </p:nvSpPr>
        <p:spPr>
          <a:xfrm>
            <a:off x="5405080" y="6569988"/>
            <a:ext cx="3820120" cy="909757"/>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Global Reach: AI content localization can expand your international monetization by 450%</a:t>
            </a:r>
            <a:endParaRPr lang="en-US" sz="1450" dirty="0"/>
          </a:p>
        </p:txBody>
      </p:sp>
      <p:sp>
        <p:nvSpPr>
          <p:cNvPr id="16" name="Shape 14"/>
          <p:cNvSpPr/>
          <p:nvPr/>
        </p:nvSpPr>
        <p:spPr>
          <a:xfrm>
            <a:off x="9627156" y="1801416"/>
            <a:ext cx="4244816" cy="91440"/>
          </a:xfrm>
          <a:prstGeom prst="roundRect">
            <a:avLst>
              <a:gd name="adj" fmla="val 87077"/>
            </a:avLst>
          </a:prstGeom>
          <a:solidFill>
            <a:srgbClr val="1A2D7A"/>
          </a:solidFill>
          <a:ln/>
        </p:spPr>
      </p:sp>
      <p:sp>
        <p:nvSpPr>
          <p:cNvPr id="17" name="Shape 15"/>
          <p:cNvSpPr/>
          <p:nvPr/>
        </p:nvSpPr>
        <p:spPr>
          <a:xfrm>
            <a:off x="11465243" y="1539954"/>
            <a:ext cx="568643" cy="568643"/>
          </a:xfrm>
          <a:prstGeom prst="roundRect">
            <a:avLst>
              <a:gd name="adj" fmla="val 160804"/>
            </a:avLst>
          </a:prstGeom>
          <a:solidFill>
            <a:srgbClr val="1A2D7A"/>
          </a:solidFill>
          <a:ln/>
        </p:spPr>
      </p:sp>
      <p:sp>
        <p:nvSpPr>
          <p:cNvPr id="18" name="Text 16"/>
          <p:cNvSpPr/>
          <p:nvPr/>
        </p:nvSpPr>
        <p:spPr>
          <a:xfrm>
            <a:off x="11635859" y="1682115"/>
            <a:ext cx="227409" cy="284321"/>
          </a:xfrm>
          <a:prstGeom prst="rect">
            <a:avLst/>
          </a:prstGeom>
          <a:noFill/>
          <a:ln/>
        </p:spPr>
        <p:txBody>
          <a:bodyPr wrap="none" lIns="0" tIns="0" rIns="0" bIns="0" rtlCol="0" anchor="t"/>
          <a:lstStyle/>
          <a:p>
            <a:pPr algn="l" indent="0" marL="0">
              <a:lnSpc>
                <a:spcPts val="2850"/>
              </a:lnSpc>
              <a:buNone/>
            </a:pPr>
            <a:r>
              <a:rPr lang="en-US" sz="1750" dirty="0">
                <a:solidFill>
                  <a:srgbClr val="FFFFFF"/>
                </a:solidFill>
                <a:latin typeface="Alexandria Semi Bold" pitchFamily="34" charset="0"/>
                <a:ea typeface="Alexandria Semi Bold" pitchFamily="34" charset="-122"/>
                <a:cs typeface="Alexandria Semi Bold" pitchFamily="34" charset="-120"/>
              </a:rPr>
              <a:t>3</a:t>
            </a:r>
            <a:endParaRPr lang="en-US" sz="1750" dirty="0"/>
          </a:p>
        </p:txBody>
      </p:sp>
      <p:sp>
        <p:nvSpPr>
          <p:cNvPr id="19" name="Text 17"/>
          <p:cNvSpPr/>
          <p:nvPr/>
        </p:nvSpPr>
        <p:spPr>
          <a:xfrm>
            <a:off x="9839563" y="2298144"/>
            <a:ext cx="2794397" cy="311706"/>
          </a:xfrm>
          <a:prstGeom prst="rect">
            <a:avLst/>
          </a:prstGeom>
          <a:noFill/>
          <a:ln/>
        </p:spPr>
        <p:txBody>
          <a:bodyPr wrap="none" lIns="0" tIns="0" rIns="0" bIns="0" rtlCol="0" anchor="t"/>
          <a:lstStyle/>
          <a:p>
            <a:pPr algn="l" indent="0" marL="0">
              <a:lnSpc>
                <a:spcPts val="2450"/>
              </a:lnSpc>
              <a:buNone/>
            </a:pPr>
            <a:r>
              <a:rPr lang="en-US" sz="1950" dirty="0">
                <a:solidFill>
                  <a:srgbClr val="3B3535"/>
                </a:solidFill>
                <a:latin typeface="Alexandria Semi Bold" pitchFamily="34" charset="0"/>
                <a:ea typeface="Alexandria Semi Bold" pitchFamily="34" charset="-122"/>
                <a:cs typeface="Alexandria Semi Bold" pitchFamily="34" charset="-120"/>
              </a:rPr>
              <a:t>TKO's Unique Position</a:t>
            </a:r>
            <a:endParaRPr lang="en-US" sz="1950" dirty="0"/>
          </a:p>
        </p:txBody>
      </p:sp>
      <p:sp>
        <p:nvSpPr>
          <p:cNvPr id="20" name="Text 18"/>
          <p:cNvSpPr/>
          <p:nvPr/>
        </p:nvSpPr>
        <p:spPr>
          <a:xfrm>
            <a:off x="9839563" y="2723555"/>
            <a:ext cx="3820001" cy="2426018"/>
          </a:xfrm>
          <a:prstGeom prst="rect">
            <a:avLst/>
          </a:prstGeom>
          <a:noFill/>
          <a:ln/>
        </p:spPr>
        <p:txBody>
          <a:bodyPr wrap="square" lIns="0" tIns="0" rIns="0" bIns="0" rtlCol="0" anchor="t"/>
          <a:lstStyle/>
          <a:p>
            <a:pPr algn="l" indent="0" marL="0">
              <a:lnSpc>
                <a:spcPts val="2350"/>
              </a:lnSpc>
              <a:buNone/>
            </a:pPr>
            <a:r>
              <a:rPr lang="en-US" sz="1450" dirty="0">
                <a:solidFill>
                  <a:srgbClr val="3B3535"/>
                </a:solidFill>
                <a:latin typeface="Sora Light" pitchFamily="34" charset="0"/>
                <a:ea typeface="Sora Light" pitchFamily="34" charset="-122"/>
                <a:cs typeface="Sora Light" pitchFamily="34" charset="-120"/>
              </a:rPr>
              <a:t>Unlike traditional media companies, TKO owns the entire sports entertainment ecosystem—from athlete development to global distribution. This vertical integration creates unprecedented AI transformation opportunities that pure content companies cannot match.</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75417" y="327779"/>
            <a:ext cx="6389608" cy="390882"/>
          </a:xfrm>
          <a:prstGeom prst="rect">
            <a:avLst/>
          </a:prstGeom>
          <a:noFill/>
          <a:ln/>
        </p:spPr>
        <p:txBody>
          <a:bodyPr wrap="none" lIns="0" tIns="0" rIns="0" bIns="0" rtlCol="0" anchor="t"/>
          <a:lstStyle/>
          <a:p>
            <a:pPr algn="l" indent="0" marL="0">
              <a:lnSpc>
                <a:spcPts val="3050"/>
              </a:lnSpc>
              <a:buNone/>
            </a:pPr>
            <a:r>
              <a:rPr lang="en-US" sz="2450" dirty="0">
                <a:solidFill>
                  <a:srgbClr val="1F1E1E"/>
                </a:solidFill>
                <a:latin typeface="Alexandria Semi Bold" pitchFamily="34" charset="0"/>
                <a:ea typeface="Alexandria Semi Bold" pitchFamily="34" charset="-122"/>
                <a:cs typeface="Alexandria Semi Bold" pitchFamily="34" charset="-120"/>
              </a:rPr>
              <a:t>Understanding TKO's Media Value Chain</a:t>
            </a:r>
            <a:endParaRPr lang="en-US" sz="2450" dirty="0"/>
          </a:p>
        </p:txBody>
      </p:sp>
      <p:pic>
        <p:nvPicPr>
          <p:cNvPr id="3" name="Image 0" descr="preencoded.png">    </p:cNvPr>
          <p:cNvPicPr>
            <a:picLocks noChangeAspect="1"/>
          </p:cNvPicPr>
          <p:nvPr/>
        </p:nvPicPr>
        <p:blipFill>
          <a:blip r:embed="rId1"/>
          <a:stretch>
            <a:fillRect/>
          </a:stretch>
        </p:blipFill>
        <p:spPr>
          <a:xfrm>
            <a:off x="475417" y="956310"/>
            <a:ext cx="594241" cy="1389102"/>
          </a:xfrm>
          <a:prstGeom prst="rect">
            <a:avLst/>
          </a:prstGeom>
        </p:spPr>
      </p:pic>
      <p:sp>
        <p:nvSpPr>
          <p:cNvPr id="4" name="Text 1"/>
          <p:cNvSpPr/>
          <p:nvPr/>
        </p:nvSpPr>
        <p:spPr>
          <a:xfrm>
            <a:off x="1188482" y="1075134"/>
            <a:ext cx="3682841" cy="195501"/>
          </a:xfrm>
          <a:prstGeom prst="rect">
            <a:avLst/>
          </a:prstGeom>
          <a:noFill/>
          <a:ln/>
        </p:spPr>
        <p:txBody>
          <a:bodyPr wrap="none" lIns="0" tIns="0" rIns="0" bIns="0" rtlCol="0" anchor="t"/>
          <a:lstStyle/>
          <a:p>
            <a:pPr algn="l" indent="0" marL="0">
              <a:lnSpc>
                <a:spcPts val="1500"/>
              </a:lnSpc>
              <a:buNone/>
            </a:pPr>
            <a:r>
              <a:rPr lang="en-US" sz="1200" dirty="0">
                <a:solidFill>
                  <a:srgbClr val="3B3535"/>
                </a:solidFill>
                <a:latin typeface="Alexandria Semi Bold" pitchFamily="34" charset="0"/>
                <a:ea typeface="Alexandria Semi Bold" pitchFamily="34" charset="-122"/>
                <a:cs typeface="Alexandria Semi Bold" pitchFamily="34" charset="-120"/>
              </a:rPr>
              <a:t>1. Content Development &amp; Talent Management</a:t>
            </a:r>
            <a:endParaRPr lang="en-US" sz="1200" dirty="0"/>
          </a:p>
        </p:txBody>
      </p:sp>
      <p:sp>
        <p:nvSpPr>
          <p:cNvPr id="5" name="Text 2"/>
          <p:cNvSpPr/>
          <p:nvPr/>
        </p:nvSpPr>
        <p:spPr>
          <a:xfrm>
            <a:off x="1188482" y="1341834"/>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UFC fighter scouting and development</a:t>
            </a:r>
            <a:endParaRPr lang="en-US" sz="900" dirty="0"/>
          </a:p>
        </p:txBody>
      </p:sp>
      <p:sp>
        <p:nvSpPr>
          <p:cNvPr id="6" name="Text 3"/>
          <p:cNvSpPr/>
          <p:nvPr/>
        </p:nvSpPr>
        <p:spPr>
          <a:xfrm>
            <a:off x="1188482" y="1573411"/>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WWE storyline creation and character development</a:t>
            </a:r>
            <a:endParaRPr lang="en-US" sz="900" dirty="0"/>
          </a:p>
        </p:txBody>
      </p:sp>
      <p:sp>
        <p:nvSpPr>
          <p:cNvPr id="7" name="Text 4"/>
          <p:cNvSpPr/>
          <p:nvPr/>
        </p:nvSpPr>
        <p:spPr>
          <a:xfrm>
            <a:off x="1188482" y="1804988"/>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PBR athlete partnerships and event planning</a:t>
            </a:r>
            <a:endParaRPr lang="en-US" sz="900" dirty="0"/>
          </a:p>
        </p:txBody>
      </p:sp>
      <p:sp>
        <p:nvSpPr>
          <p:cNvPr id="8" name="Text 5"/>
          <p:cNvSpPr/>
          <p:nvPr/>
        </p:nvSpPr>
        <p:spPr>
          <a:xfrm>
            <a:off x="1188482" y="2036564"/>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IMG talent representation and brand building</a:t>
            </a:r>
            <a:endParaRPr lang="en-US" sz="900" dirty="0"/>
          </a:p>
        </p:txBody>
      </p:sp>
      <p:pic>
        <p:nvPicPr>
          <p:cNvPr id="9" name="Image 1" descr="preencoded.png">    </p:cNvPr>
          <p:cNvPicPr>
            <a:picLocks noChangeAspect="1"/>
          </p:cNvPicPr>
          <p:nvPr/>
        </p:nvPicPr>
        <p:blipFill>
          <a:blip r:embed="rId2"/>
          <a:stretch>
            <a:fillRect/>
          </a:stretch>
        </p:blipFill>
        <p:spPr>
          <a:xfrm>
            <a:off x="475417" y="2345412"/>
            <a:ext cx="594241" cy="1389102"/>
          </a:xfrm>
          <a:prstGeom prst="rect">
            <a:avLst/>
          </a:prstGeom>
        </p:spPr>
      </p:pic>
      <p:sp>
        <p:nvSpPr>
          <p:cNvPr id="10" name="Text 6"/>
          <p:cNvSpPr/>
          <p:nvPr/>
        </p:nvSpPr>
        <p:spPr>
          <a:xfrm>
            <a:off x="1188482" y="2464237"/>
            <a:ext cx="2815828" cy="195501"/>
          </a:xfrm>
          <a:prstGeom prst="rect">
            <a:avLst/>
          </a:prstGeom>
          <a:noFill/>
          <a:ln/>
        </p:spPr>
        <p:txBody>
          <a:bodyPr wrap="none" lIns="0" tIns="0" rIns="0" bIns="0" rtlCol="0" anchor="t"/>
          <a:lstStyle/>
          <a:p>
            <a:pPr algn="l" indent="0" marL="0">
              <a:lnSpc>
                <a:spcPts val="1500"/>
              </a:lnSpc>
              <a:buNone/>
            </a:pPr>
            <a:r>
              <a:rPr lang="en-US" sz="1200" dirty="0">
                <a:solidFill>
                  <a:srgbClr val="3B3535"/>
                </a:solidFill>
                <a:latin typeface="Alexandria Semi Bold" pitchFamily="34" charset="0"/>
                <a:ea typeface="Alexandria Semi Bold" pitchFamily="34" charset="-122"/>
                <a:cs typeface="Alexandria Semi Bold" pitchFamily="34" charset="-120"/>
              </a:rPr>
              <a:t>2. Content Production &amp; Live Events</a:t>
            </a:r>
            <a:endParaRPr lang="en-US" sz="1200" dirty="0"/>
          </a:p>
        </p:txBody>
      </p:sp>
      <p:sp>
        <p:nvSpPr>
          <p:cNvPr id="11" name="Text 7"/>
          <p:cNvSpPr/>
          <p:nvPr/>
        </p:nvSpPr>
        <p:spPr>
          <a:xfrm>
            <a:off x="1188482" y="2730937"/>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500+ live events annually across UFC, WWE, and PBR</a:t>
            </a:r>
            <a:endParaRPr lang="en-US" sz="900" dirty="0"/>
          </a:p>
        </p:txBody>
      </p:sp>
      <p:sp>
        <p:nvSpPr>
          <p:cNvPr id="12" name="Text 8"/>
          <p:cNvSpPr/>
          <p:nvPr/>
        </p:nvSpPr>
        <p:spPr>
          <a:xfrm>
            <a:off x="1188482" y="2962513"/>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Real-time broadcast production for global audiences</a:t>
            </a:r>
            <a:endParaRPr lang="en-US" sz="900" dirty="0"/>
          </a:p>
        </p:txBody>
      </p:sp>
      <p:sp>
        <p:nvSpPr>
          <p:cNvPr id="13" name="Text 9"/>
          <p:cNvSpPr/>
          <p:nvPr/>
        </p:nvSpPr>
        <p:spPr>
          <a:xfrm>
            <a:off x="1188482" y="3194090"/>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Behind-the-scenes content creation for social media</a:t>
            </a:r>
            <a:endParaRPr lang="en-US" sz="900" dirty="0"/>
          </a:p>
        </p:txBody>
      </p:sp>
      <p:sp>
        <p:nvSpPr>
          <p:cNvPr id="14" name="Text 10"/>
          <p:cNvSpPr/>
          <p:nvPr/>
        </p:nvSpPr>
        <p:spPr>
          <a:xfrm>
            <a:off x="1188482" y="3425666"/>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$200 million economic impact from events like WrestleMania </a:t>
            </a:r>
            <a:pPr algn="l" indent="0" marL="0">
              <a:lnSpc>
                <a:spcPts val="1450"/>
              </a:lnSpc>
              <a:buNone/>
            </a:pPr>
            <a:r>
              <a:rPr lang="en-US" sz="900" u="sng" dirty="0">
                <a:solidFill>
                  <a:srgbClr val="1A2D7A"/>
                </a:solidFill>
                <a:latin typeface="Sora Light" pitchFamily="34" charset="0"/>
                <a:ea typeface="Sora Light" pitchFamily="34" charset="-122"/>
                <a:cs typeface="Sora Light" pitchFamily="34" charset="-120"/>
                <a:hlinkClick r:id="rId3" invalidUrl="" action="" tgtFrame="" tooltip="" history="1" highlightClick="0" endSnd="0">
                  <a:extLst>
                    <a:ext uri="{A12FA001-AC4F-418D-AE19-62706E023703}">
                      <ahyp:hlinkClr xmlns:ahyp="http://schemas.microsoft.com/office/drawing/2018/hyperlinkcolor" val="tx"/>
                    </a:ext>
                  </a:extLst>
                </a:hlinkClick>
              </a:rPr>
              <a:t>4</a:t>
            </a:r>
            <a:endParaRPr lang="en-US" sz="900" dirty="0"/>
          </a:p>
        </p:txBody>
      </p:sp>
      <p:pic>
        <p:nvPicPr>
          <p:cNvPr id="15" name="Image 2" descr="preencoded.png">    </p:cNvPr>
          <p:cNvPicPr>
            <a:picLocks noChangeAspect="1"/>
          </p:cNvPicPr>
          <p:nvPr/>
        </p:nvPicPr>
        <p:blipFill>
          <a:blip r:embed="rId4"/>
          <a:stretch>
            <a:fillRect/>
          </a:stretch>
        </p:blipFill>
        <p:spPr>
          <a:xfrm>
            <a:off x="475417" y="3734514"/>
            <a:ext cx="594241" cy="1389102"/>
          </a:xfrm>
          <a:prstGeom prst="rect">
            <a:avLst/>
          </a:prstGeom>
        </p:spPr>
      </p:pic>
      <p:sp>
        <p:nvSpPr>
          <p:cNvPr id="16" name="Text 11"/>
          <p:cNvSpPr/>
          <p:nvPr/>
        </p:nvSpPr>
        <p:spPr>
          <a:xfrm>
            <a:off x="1188482" y="3853339"/>
            <a:ext cx="3039070" cy="195501"/>
          </a:xfrm>
          <a:prstGeom prst="rect">
            <a:avLst/>
          </a:prstGeom>
          <a:noFill/>
          <a:ln/>
        </p:spPr>
        <p:txBody>
          <a:bodyPr wrap="none" lIns="0" tIns="0" rIns="0" bIns="0" rtlCol="0" anchor="t"/>
          <a:lstStyle/>
          <a:p>
            <a:pPr algn="l" indent="0" marL="0">
              <a:lnSpc>
                <a:spcPts val="1500"/>
              </a:lnSpc>
              <a:buNone/>
            </a:pPr>
            <a:r>
              <a:rPr lang="en-US" sz="1200" dirty="0">
                <a:solidFill>
                  <a:srgbClr val="3B3535"/>
                </a:solidFill>
                <a:latin typeface="Alexandria Semi Bold" pitchFamily="34" charset="0"/>
                <a:ea typeface="Alexandria Semi Bold" pitchFamily="34" charset="-122"/>
                <a:cs typeface="Alexandria Semi Bold" pitchFamily="34" charset="-120"/>
              </a:rPr>
              <a:t>3. Content Distribution &amp; Media Rights</a:t>
            </a:r>
            <a:endParaRPr lang="en-US" sz="1200" dirty="0"/>
          </a:p>
        </p:txBody>
      </p:sp>
      <p:sp>
        <p:nvSpPr>
          <p:cNvPr id="17" name="Text 12"/>
          <p:cNvSpPr/>
          <p:nvPr/>
        </p:nvSpPr>
        <p:spPr>
          <a:xfrm>
            <a:off x="1188482" y="4120039"/>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$5 billion Netflix deal for WWE Raw </a:t>
            </a:r>
            <a:pPr algn="l" indent="0" marL="0">
              <a:lnSpc>
                <a:spcPts val="1450"/>
              </a:lnSpc>
              <a:buNone/>
            </a:pPr>
            <a:r>
              <a:rPr lang="en-US" sz="900" u="sng" dirty="0">
                <a:solidFill>
                  <a:srgbClr val="1A2D7A"/>
                </a:solidFill>
                <a:latin typeface="Sora Light" pitchFamily="34" charset="0"/>
                <a:ea typeface="Sora Light" pitchFamily="34" charset="-122"/>
                <a:cs typeface="Sora Light" pitchFamily="34" charset="-120"/>
                <a:hlinkClick r:id="rId5" invalidUrl="" action="" tgtFrame="" tooltip="" history="1" highlightClick="0" endSnd="0">
                  <a:extLst>
                    <a:ext uri="{A12FA001-AC4F-418D-AE19-62706E023703}">
                      <ahyp:hlinkClr xmlns:ahyp="http://schemas.microsoft.com/office/drawing/2018/hyperlinkcolor" val="tx"/>
                    </a:ext>
                  </a:extLst>
                </a:hlinkClick>
              </a:rPr>
              <a:t>2</a:t>
            </a:r>
            <a:endParaRPr lang="en-US" sz="900" dirty="0"/>
          </a:p>
        </p:txBody>
      </p:sp>
      <p:sp>
        <p:nvSpPr>
          <p:cNvPr id="18" name="Text 13"/>
          <p:cNvSpPr/>
          <p:nvPr/>
        </p:nvSpPr>
        <p:spPr>
          <a:xfrm>
            <a:off x="1188482" y="4351615"/>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UFC media rights renewal targeting $1 billion annually </a:t>
            </a:r>
            <a:pPr algn="l" indent="0" marL="0">
              <a:lnSpc>
                <a:spcPts val="1450"/>
              </a:lnSpc>
              <a:buNone/>
            </a:pPr>
            <a:r>
              <a:rPr lang="en-US" sz="900" u="sng" dirty="0">
                <a:solidFill>
                  <a:srgbClr val="1A2D7A"/>
                </a:solidFill>
                <a:latin typeface="Sora Light" pitchFamily="34" charset="0"/>
                <a:ea typeface="Sora Light" pitchFamily="34" charset="-122"/>
                <a:cs typeface="Sora Light" pitchFamily="34" charset="-120"/>
                <a:hlinkClick r:id="rId6" invalidUrl="" action="" tgtFrame="" tooltip="" history="1" highlightClick="0" endSnd="0">
                  <a:extLst>
                    <a:ext uri="{A12FA001-AC4F-418D-AE19-62706E023703}">
                      <ahyp:hlinkClr xmlns:ahyp="http://schemas.microsoft.com/office/drawing/2018/hyperlinkcolor" val="tx"/>
                    </a:ext>
                  </a:extLst>
                </a:hlinkClick>
              </a:rPr>
              <a:t>5</a:t>
            </a:r>
            <a:endParaRPr lang="en-US" sz="900" dirty="0"/>
          </a:p>
        </p:txBody>
      </p:sp>
      <p:sp>
        <p:nvSpPr>
          <p:cNvPr id="19" name="Text 14"/>
          <p:cNvSpPr/>
          <p:nvPr/>
        </p:nvSpPr>
        <p:spPr>
          <a:xfrm>
            <a:off x="1188482" y="4583192"/>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Multi-platform distribution across 210 countries</a:t>
            </a:r>
            <a:endParaRPr lang="en-US" sz="900" dirty="0"/>
          </a:p>
        </p:txBody>
      </p:sp>
      <p:sp>
        <p:nvSpPr>
          <p:cNvPr id="20" name="Text 15"/>
          <p:cNvSpPr/>
          <p:nvPr/>
        </p:nvSpPr>
        <p:spPr>
          <a:xfrm>
            <a:off x="1188482" y="4814768"/>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Direct-to-consumer streaming via UFC Fight Pass</a:t>
            </a:r>
            <a:endParaRPr lang="en-US" sz="900" dirty="0"/>
          </a:p>
        </p:txBody>
      </p:sp>
      <p:pic>
        <p:nvPicPr>
          <p:cNvPr id="21" name="Image 3" descr="preencoded.png">    </p:cNvPr>
          <p:cNvPicPr>
            <a:picLocks noChangeAspect="1"/>
          </p:cNvPicPr>
          <p:nvPr/>
        </p:nvPicPr>
        <p:blipFill>
          <a:blip r:embed="rId7"/>
          <a:stretch>
            <a:fillRect/>
          </a:stretch>
        </p:blipFill>
        <p:spPr>
          <a:xfrm>
            <a:off x="475417" y="5123617"/>
            <a:ext cx="594241" cy="1389102"/>
          </a:xfrm>
          <a:prstGeom prst="rect">
            <a:avLst/>
          </a:prstGeom>
        </p:spPr>
      </p:pic>
      <p:sp>
        <p:nvSpPr>
          <p:cNvPr id="22" name="Text 16"/>
          <p:cNvSpPr/>
          <p:nvPr/>
        </p:nvSpPr>
        <p:spPr>
          <a:xfrm>
            <a:off x="1188482" y="5242441"/>
            <a:ext cx="2774394" cy="195501"/>
          </a:xfrm>
          <a:prstGeom prst="rect">
            <a:avLst/>
          </a:prstGeom>
          <a:noFill/>
          <a:ln/>
        </p:spPr>
        <p:txBody>
          <a:bodyPr wrap="none" lIns="0" tIns="0" rIns="0" bIns="0" rtlCol="0" anchor="t"/>
          <a:lstStyle/>
          <a:p>
            <a:pPr algn="l" indent="0" marL="0">
              <a:lnSpc>
                <a:spcPts val="1500"/>
              </a:lnSpc>
              <a:buNone/>
            </a:pPr>
            <a:r>
              <a:rPr lang="en-US" sz="1200" dirty="0">
                <a:solidFill>
                  <a:srgbClr val="3B3535"/>
                </a:solidFill>
                <a:latin typeface="Alexandria Semi Bold" pitchFamily="34" charset="0"/>
                <a:ea typeface="Alexandria Semi Bold" pitchFamily="34" charset="-122"/>
                <a:cs typeface="Alexandria Semi Bold" pitchFamily="34" charset="-120"/>
              </a:rPr>
              <a:t>4. Fan Engagement &amp; Monetization</a:t>
            </a:r>
            <a:endParaRPr lang="en-US" sz="1200" dirty="0"/>
          </a:p>
        </p:txBody>
      </p:sp>
      <p:sp>
        <p:nvSpPr>
          <p:cNvPr id="23" name="Text 17"/>
          <p:cNvSpPr/>
          <p:nvPr/>
        </p:nvSpPr>
        <p:spPr>
          <a:xfrm>
            <a:off x="1188482" y="5509141"/>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680 million social media followers combined across properties </a:t>
            </a:r>
            <a:pPr algn="l" indent="0" marL="0">
              <a:lnSpc>
                <a:spcPts val="1450"/>
              </a:lnSpc>
              <a:buNone/>
            </a:pPr>
            <a:r>
              <a:rPr lang="en-US" sz="900" u="sng" dirty="0">
                <a:solidFill>
                  <a:srgbClr val="1A2D7A"/>
                </a:solidFill>
                <a:latin typeface="Sora Light" pitchFamily="34" charset="0"/>
                <a:ea typeface="Sora Light" pitchFamily="34" charset="-122"/>
                <a:cs typeface="Sora Light" pitchFamily="34" charset="-120"/>
                <a:hlinkClick r:id="rId8" invalidUrl="" action="" tgtFrame="" tooltip="" history="1" highlightClick="0" endSnd="0">
                  <a:extLst>
                    <a:ext uri="{A12FA001-AC4F-418D-AE19-62706E023703}">
                      <ahyp:hlinkClr xmlns:ahyp="http://schemas.microsoft.com/office/drawing/2018/hyperlinkcolor" val="tx"/>
                    </a:ext>
                  </a:extLst>
                </a:hlinkClick>
              </a:rPr>
              <a:t>4</a:t>
            </a:r>
            <a:endParaRPr lang="en-US" sz="900" dirty="0"/>
          </a:p>
        </p:txBody>
      </p:sp>
      <p:sp>
        <p:nvSpPr>
          <p:cNvPr id="24" name="Text 18"/>
          <p:cNvSpPr/>
          <p:nvPr/>
        </p:nvSpPr>
        <p:spPr>
          <a:xfrm>
            <a:off x="1188482" y="5740718"/>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Consumer products licensing and merchandising</a:t>
            </a:r>
            <a:endParaRPr lang="en-US" sz="900" dirty="0"/>
          </a:p>
        </p:txBody>
      </p:sp>
      <p:sp>
        <p:nvSpPr>
          <p:cNvPr id="25" name="Text 19"/>
          <p:cNvSpPr/>
          <p:nvPr/>
        </p:nvSpPr>
        <p:spPr>
          <a:xfrm>
            <a:off x="1188482" y="5972294"/>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On Location premium hospitality experiences</a:t>
            </a:r>
            <a:endParaRPr lang="en-US" sz="900" dirty="0"/>
          </a:p>
        </p:txBody>
      </p:sp>
      <p:sp>
        <p:nvSpPr>
          <p:cNvPr id="26" name="Text 20"/>
          <p:cNvSpPr/>
          <p:nvPr/>
        </p:nvSpPr>
        <p:spPr>
          <a:xfrm>
            <a:off x="1188482" y="6203871"/>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Sponsorship and advertising partnerships</a:t>
            </a:r>
            <a:endParaRPr lang="en-US" sz="900" dirty="0"/>
          </a:p>
        </p:txBody>
      </p:sp>
      <p:pic>
        <p:nvPicPr>
          <p:cNvPr id="27" name="Image 4" descr="preencoded.png">    </p:cNvPr>
          <p:cNvPicPr>
            <a:picLocks noChangeAspect="1"/>
          </p:cNvPicPr>
          <p:nvPr/>
        </p:nvPicPr>
        <p:blipFill>
          <a:blip r:embed="rId9"/>
          <a:stretch>
            <a:fillRect/>
          </a:stretch>
        </p:blipFill>
        <p:spPr>
          <a:xfrm>
            <a:off x="475417" y="6512719"/>
            <a:ext cx="594241" cy="1389102"/>
          </a:xfrm>
          <a:prstGeom prst="rect">
            <a:avLst/>
          </a:prstGeom>
        </p:spPr>
      </p:pic>
      <p:sp>
        <p:nvSpPr>
          <p:cNvPr id="28" name="Text 21"/>
          <p:cNvSpPr/>
          <p:nvPr/>
        </p:nvSpPr>
        <p:spPr>
          <a:xfrm>
            <a:off x="1188482" y="6631543"/>
            <a:ext cx="1563886" cy="195501"/>
          </a:xfrm>
          <a:prstGeom prst="rect">
            <a:avLst/>
          </a:prstGeom>
          <a:noFill/>
          <a:ln/>
        </p:spPr>
        <p:txBody>
          <a:bodyPr wrap="none" lIns="0" tIns="0" rIns="0" bIns="0" rtlCol="0" anchor="t"/>
          <a:lstStyle/>
          <a:p>
            <a:pPr algn="l" indent="0" marL="0">
              <a:lnSpc>
                <a:spcPts val="1500"/>
              </a:lnSpc>
              <a:buNone/>
            </a:pPr>
            <a:r>
              <a:rPr lang="en-US" sz="1200" dirty="0">
                <a:solidFill>
                  <a:srgbClr val="3B3535"/>
                </a:solidFill>
                <a:latin typeface="Alexandria Semi Bold" pitchFamily="34" charset="0"/>
                <a:ea typeface="Alexandria Semi Bold" pitchFamily="34" charset="-122"/>
                <a:cs typeface="Alexandria Semi Bold" pitchFamily="34" charset="-120"/>
              </a:rPr>
              <a:t>5. Data &amp; Analytics</a:t>
            </a:r>
            <a:endParaRPr lang="en-US" sz="1200" dirty="0"/>
          </a:p>
        </p:txBody>
      </p:sp>
      <p:sp>
        <p:nvSpPr>
          <p:cNvPr id="29" name="Text 22"/>
          <p:cNvSpPr/>
          <p:nvPr/>
        </p:nvSpPr>
        <p:spPr>
          <a:xfrm>
            <a:off x="1188482" y="6898243"/>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Fan behavior analysis across digital touchpoints</a:t>
            </a:r>
            <a:endParaRPr lang="en-US" sz="900" dirty="0"/>
          </a:p>
        </p:txBody>
      </p:sp>
      <p:sp>
        <p:nvSpPr>
          <p:cNvPr id="30" name="Text 23"/>
          <p:cNvSpPr/>
          <p:nvPr/>
        </p:nvSpPr>
        <p:spPr>
          <a:xfrm>
            <a:off x="1188482" y="7129820"/>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Performance metrics and athlete analytics</a:t>
            </a:r>
            <a:endParaRPr lang="en-US" sz="900" dirty="0"/>
          </a:p>
        </p:txBody>
      </p:sp>
      <p:sp>
        <p:nvSpPr>
          <p:cNvPr id="31" name="Text 24"/>
          <p:cNvSpPr/>
          <p:nvPr/>
        </p:nvSpPr>
        <p:spPr>
          <a:xfrm>
            <a:off x="1188482" y="7361396"/>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Social media sentiment and engagement tracking</a:t>
            </a:r>
            <a:endParaRPr lang="en-US" sz="900" dirty="0"/>
          </a:p>
        </p:txBody>
      </p:sp>
      <p:sp>
        <p:nvSpPr>
          <p:cNvPr id="32" name="Text 25"/>
          <p:cNvSpPr/>
          <p:nvPr/>
        </p:nvSpPr>
        <p:spPr>
          <a:xfrm>
            <a:off x="1188482" y="7592973"/>
            <a:ext cx="12966502"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3B3535"/>
                </a:solidFill>
                <a:latin typeface="Sora Light" pitchFamily="34" charset="0"/>
                <a:ea typeface="Sora Light" pitchFamily="34" charset="-122"/>
                <a:cs typeface="Sora Light" pitchFamily="34" charset="-120"/>
              </a:rPr>
              <a:t>Revenue optimization across all channels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8063" y="480774"/>
            <a:ext cx="11044833" cy="574000"/>
          </a:xfrm>
          <a:prstGeom prst="rect">
            <a:avLst/>
          </a:prstGeom>
          <a:noFill/>
          <a:ln/>
        </p:spPr>
        <p:txBody>
          <a:bodyPr wrap="none" lIns="0" tIns="0" rIns="0" bIns="0" rtlCol="0" anchor="t"/>
          <a:lstStyle/>
          <a:p>
            <a:pPr algn="l" indent="0" marL="0">
              <a:lnSpc>
                <a:spcPts val="4500"/>
              </a:lnSpc>
              <a:buNone/>
            </a:pPr>
            <a:r>
              <a:rPr lang="en-US" sz="3600" dirty="0">
                <a:solidFill>
                  <a:srgbClr val="1F1E1E"/>
                </a:solidFill>
                <a:latin typeface="Alexandria Semi Bold" pitchFamily="34" charset="0"/>
                <a:ea typeface="Alexandria Semi Bold" pitchFamily="34" charset="-122"/>
                <a:cs typeface="Alexandria Semi Bold" pitchFamily="34" charset="-120"/>
              </a:rPr>
              <a:t>AI's Revolutionary Impact on TKO's Value Chain</a:t>
            </a:r>
            <a:endParaRPr lang="en-US" sz="3600" dirty="0"/>
          </a:p>
        </p:txBody>
      </p:sp>
      <p:sp>
        <p:nvSpPr>
          <p:cNvPr id="3" name="Shape 1"/>
          <p:cNvSpPr/>
          <p:nvPr/>
        </p:nvSpPr>
        <p:spPr>
          <a:xfrm>
            <a:off x="698063" y="1512808"/>
            <a:ext cx="6404253" cy="3211830"/>
          </a:xfrm>
          <a:prstGeom prst="roundRect">
            <a:avLst>
              <a:gd name="adj" fmla="val 2282"/>
            </a:avLst>
          </a:prstGeom>
          <a:noFill/>
          <a:ln w="22860">
            <a:solidFill>
              <a:srgbClr val="BBC2DC"/>
            </a:solidFill>
            <a:prstDash val="solid"/>
          </a:ln>
        </p:spPr>
      </p:sp>
      <p:sp>
        <p:nvSpPr>
          <p:cNvPr id="4" name="Text 2"/>
          <p:cNvSpPr/>
          <p:nvPr/>
        </p:nvSpPr>
        <p:spPr>
          <a:xfrm>
            <a:off x="895350" y="1710095"/>
            <a:ext cx="3893701" cy="287060"/>
          </a:xfrm>
          <a:prstGeom prst="rect">
            <a:avLst/>
          </a:prstGeom>
          <a:noFill/>
          <a:ln/>
        </p:spPr>
        <p:txBody>
          <a:bodyPr wrap="none" lIns="0" tIns="0" rIns="0" bIns="0" rtlCol="0" anchor="t"/>
          <a:lstStyle/>
          <a:p>
            <a:pPr algn="l" indent="0" marL="0">
              <a:lnSpc>
                <a:spcPts val="2250"/>
              </a:lnSpc>
              <a:buNone/>
            </a:pPr>
            <a:r>
              <a:rPr lang="en-US" sz="1800" dirty="0">
                <a:solidFill>
                  <a:srgbClr val="3B3535"/>
                </a:solidFill>
                <a:latin typeface="Alexandria Semi Bold" pitchFamily="34" charset="0"/>
                <a:ea typeface="Alexandria Semi Bold" pitchFamily="34" charset="-122"/>
                <a:cs typeface="Alexandria Semi Bold" pitchFamily="34" charset="-120"/>
              </a:rPr>
              <a:t>Content Development Revolution</a:t>
            </a:r>
            <a:endParaRPr lang="en-US" sz="1800" dirty="0"/>
          </a:p>
        </p:txBody>
      </p:sp>
      <p:sp>
        <p:nvSpPr>
          <p:cNvPr id="5" name="Text 3"/>
          <p:cNvSpPr/>
          <p:nvPr/>
        </p:nvSpPr>
        <p:spPr>
          <a:xfrm>
            <a:off x="895350" y="2171581"/>
            <a:ext cx="6009680" cy="83760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AI-Powered Storyline Generation: Create compelling WWE narratives using fan sentiment analysis and historical engagement data</a:t>
            </a:r>
            <a:endParaRPr lang="en-US" sz="1350" dirty="0"/>
          </a:p>
        </p:txBody>
      </p:sp>
      <p:sp>
        <p:nvSpPr>
          <p:cNvPr id="6" name="Text 4"/>
          <p:cNvSpPr/>
          <p:nvPr/>
        </p:nvSpPr>
        <p:spPr>
          <a:xfrm>
            <a:off x="895350" y="3070265"/>
            <a:ext cx="6009680" cy="83760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Talent Scouting Enhancement: Use computer vision to identify promising fighters and wrestlers from global social media content</a:t>
            </a:r>
            <a:endParaRPr lang="en-US" sz="1350" dirty="0"/>
          </a:p>
        </p:txBody>
      </p:sp>
      <p:sp>
        <p:nvSpPr>
          <p:cNvPr id="7" name="Text 5"/>
          <p:cNvSpPr/>
          <p:nvPr/>
        </p:nvSpPr>
        <p:spPr>
          <a:xfrm>
            <a:off x="895350" y="3968948"/>
            <a:ext cx="6009680" cy="558403"/>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Personalized Content Creation: Generate localized storylines for your 93% international fanbase</a:t>
            </a:r>
            <a:endParaRPr lang="en-US" sz="1350" dirty="0"/>
          </a:p>
        </p:txBody>
      </p:sp>
      <p:sp>
        <p:nvSpPr>
          <p:cNvPr id="8" name="Shape 6"/>
          <p:cNvSpPr/>
          <p:nvPr/>
        </p:nvSpPr>
        <p:spPr>
          <a:xfrm>
            <a:off x="698063" y="4899065"/>
            <a:ext cx="6404253" cy="2653427"/>
          </a:xfrm>
          <a:prstGeom prst="roundRect">
            <a:avLst>
              <a:gd name="adj" fmla="val 2762"/>
            </a:avLst>
          </a:prstGeom>
          <a:noFill/>
          <a:ln w="22860">
            <a:solidFill>
              <a:srgbClr val="BBC2DC"/>
            </a:solidFill>
            <a:prstDash val="solid"/>
          </a:ln>
        </p:spPr>
      </p:sp>
      <p:sp>
        <p:nvSpPr>
          <p:cNvPr id="9" name="Text 7"/>
          <p:cNvSpPr/>
          <p:nvPr/>
        </p:nvSpPr>
        <p:spPr>
          <a:xfrm>
            <a:off x="895350" y="5096351"/>
            <a:ext cx="4737140" cy="287060"/>
          </a:xfrm>
          <a:prstGeom prst="rect">
            <a:avLst/>
          </a:prstGeom>
          <a:noFill/>
          <a:ln/>
        </p:spPr>
        <p:txBody>
          <a:bodyPr wrap="none" lIns="0" tIns="0" rIns="0" bIns="0" rtlCol="0" anchor="t"/>
          <a:lstStyle/>
          <a:p>
            <a:pPr algn="l" indent="0" marL="0">
              <a:lnSpc>
                <a:spcPts val="2250"/>
              </a:lnSpc>
              <a:buNone/>
            </a:pPr>
            <a:r>
              <a:rPr lang="en-US" sz="1800" dirty="0">
                <a:solidFill>
                  <a:srgbClr val="3B3535"/>
                </a:solidFill>
                <a:latin typeface="Alexandria Semi Bold" pitchFamily="34" charset="0"/>
                <a:ea typeface="Alexandria Semi Bold" pitchFamily="34" charset="-122"/>
                <a:cs typeface="Alexandria Semi Bold" pitchFamily="34" charset="-120"/>
              </a:rPr>
              <a:t>Production &amp; Live Events Transformation</a:t>
            </a:r>
            <a:endParaRPr lang="en-US" sz="1800" dirty="0"/>
          </a:p>
        </p:txBody>
      </p:sp>
      <p:sp>
        <p:nvSpPr>
          <p:cNvPr id="10" name="Text 8"/>
          <p:cNvSpPr/>
          <p:nvPr/>
        </p:nvSpPr>
        <p:spPr>
          <a:xfrm>
            <a:off x="895350" y="5557838"/>
            <a:ext cx="6009680" cy="558403"/>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Real-Time Production Intelligence: AI cameras automatically capture the best angles during UFC fights</a:t>
            </a:r>
            <a:endParaRPr lang="en-US" sz="1350" dirty="0"/>
          </a:p>
        </p:txBody>
      </p:sp>
      <p:sp>
        <p:nvSpPr>
          <p:cNvPr id="11" name="Text 9"/>
          <p:cNvSpPr/>
          <p:nvPr/>
        </p:nvSpPr>
        <p:spPr>
          <a:xfrm>
            <a:off x="895350" y="6177320"/>
            <a:ext cx="6009680" cy="558403"/>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Automated Highlight Creation: Generate personalized fight highlights for different markets within minutes</a:t>
            </a:r>
            <a:endParaRPr lang="en-US" sz="1350" dirty="0"/>
          </a:p>
        </p:txBody>
      </p:sp>
      <p:sp>
        <p:nvSpPr>
          <p:cNvPr id="12" name="Text 10"/>
          <p:cNvSpPr/>
          <p:nvPr/>
        </p:nvSpPr>
        <p:spPr>
          <a:xfrm>
            <a:off x="895350" y="6796802"/>
            <a:ext cx="6009680" cy="558403"/>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Predictive Event Planning: AI forecasts optimal venues, pricing, and promotional strategies for maximum attendance</a:t>
            </a:r>
            <a:endParaRPr lang="en-US" sz="1350" dirty="0"/>
          </a:p>
        </p:txBody>
      </p:sp>
      <p:sp>
        <p:nvSpPr>
          <p:cNvPr id="13" name="Shape 11"/>
          <p:cNvSpPr/>
          <p:nvPr/>
        </p:nvSpPr>
        <p:spPr>
          <a:xfrm>
            <a:off x="7535704" y="1512808"/>
            <a:ext cx="6404253" cy="2653427"/>
          </a:xfrm>
          <a:prstGeom prst="roundRect">
            <a:avLst>
              <a:gd name="adj" fmla="val 2762"/>
            </a:avLst>
          </a:prstGeom>
          <a:noFill/>
          <a:ln w="22860">
            <a:solidFill>
              <a:srgbClr val="BBC2DC"/>
            </a:solidFill>
            <a:prstDash val="solid"/>
          </a:ln>
        </p:spPr>
      </p:sp>
      <p:sp>
        <p:nvSpPr>
          <p:cNvPr id="14" name="Text 12"/>
          <p:cNvSpPr/>
          <p:nvPr/>
        </p:nvSpPr>
        <p:spPr>
          <a:xfrm>
            <a:off x="7732990" y="1710095"/>
            <a:ext cx="4812863" cy="287060"/>
          </a:xfrm>
          <a:prstGeom prst="rect">
            <a:avLst/>
          </a:prstGeom>
          <a:noFill/>
          <a:ln/>
        </p:spPr>
        <p:txBody>
          <a:bodyPr wrap="none" lIns="0" tIns="0" rIns="0" bIns="0" rtlCol="0" anchor="t"/>
          <a:lstStyle/>
          <a:p>
            <a:pPr algn="l" indent="0" marL="0">
              <a:lnSpc>
                <a:spcPts val="2250"/>
              </a:lnSpc>
              <a:buNone/>
            </a:pPr>
            <a:r>
              <a:rPr lang="en-US" sz="1800" dirty="0">
                <a:solidFill>
                  <a:srgbClr val="3B3535"/>
                </a:solidFill>
                <a:latin typeface="Alexandria Semi Bold" pitchFamily="34" charset="0"/>
                <a:ea typeface="Alexandria Semi Bold" pitchFamily="34" charset="-122"/>
                <a:cs typeface="Alexandria Semi Bold" pitchFamily="34" charset="-120"/>
              </a:rPr>
              <a:t>Distribution &amp; Media Rights Optimization</a:t>
            </a:r>
            <a:endParaRPr lang="en-US" sz="1800" dirty="0"/>
          </a:p>
        </p:txBody>
      </p:sp>
      <p:sp>
        <p:nvSpPr>
          <p:cNvPr id="15" name="Text 13"/>
          <p:cNvSpPr/>
          <p:nvPr/>
        </p:nvSpPr>
        <p:spPr>
          <a:xfrm>
            <a:off x="7732990" y="2171581"/>
            <a:ext cx="6009680" cy="558403"/>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Dynamic Content Adaptation: Automatically create multiple versions of content for different platforms and audiences</a:t>
            </a:r>
            <a:endParaRPr lang="en-US" sz="1350" dirty="0"/>
          </a:p>
        </p:txBody>
      </p:sp>
      <p:sp>
        <p:nvSpPr>
          <p:cNvPr id="16" name="Text 14"/>
          <p:cNvSpPr/>
          <p:nvPr/>
        </p:nvSpPr>
        <p:spPr>
          <a:xfrm>
            <a:off x="7732990" y="2791063"/>
            <a:ext cx="6009680" cy="558403"/>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Personalized Streaming Experiences: Deliver customized UFC Fight Pass content based on individual fan preferences</a:t>
            </a:r>
            <a:endParaRPr lang="en-US" sz="1350" dirty="0"/>
          </a:p>
        </p:txBody>
      </p:sp>
      <p:sp>
        <p:nvSpPr>
          <p:cNvPr id="17" name="Text 15"/>
          <p:cNvSpPr/>
          <p:nvPr/>
        </p:nvSpPr>
        <p:spPr>
          <a:xfrm>
            <a:off x="7732990" y="3410545"/>
            <a:ext cx="6009680" cy="558403"/>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Revenue Maximization: AI-powered pricing optimization for pay-per-view events across global markets</a:t>
            </a:r>
            <a:endParaRPr lang="en-US" sz="1350" dirty="0"/>
          </a:p>
        </p:txBody>
      </p:sp>
      <p:sp>
        <p:nvSpPr>
          <p:cNvPr id="18" name="Shape 16"/>
          <p:cNvSpPr/>
          <p:nvPr/>
        </p:nvSpPr>
        <p:spPr>
          <a:xfrm>
            <a:off x="7535704" y="4340662"/>
            <a:ext cx="6404253" cy="2653427"/>
          </a:xfrm>
          <a:prstGeom prst="roundRect">
            <a:avLst>
              <a:gd name="adj" fmla="val 2762"/>
            </a:avLst>
          </a:prstGeom>
          <a:noFill/>
          <a:ln w="22860">
            <a:solidFill>
              <a:srgbClr val="BBC2DC"/>
            </a:solidFill>
            <a:prstDash val="solid"/>
          </a:ln>
        </p:spPr>
      </p:sp>
      <p:sp>
        <p:nvSpPr>
          <p:cNvPr id="19" name="Text 17"/>
          <p:cNvSpPr/>
          <p:nvPr/>
        </p:nvSpPr>
        <p:spPr>
          <a:xfrm>
            <a:off x="7732990" y="4537948"/>
            <a:ext cx="3652004" cy="287060"/>
          </a:xfrm>
          <a:prstGeom prst="rect">
            <a:avLst/>
          </a:prstGeom>
          <a:noFill/>
          <a:ln/>
        </p:spPr>
        <p:txBody>
          <a:bodyPr wrap="none" lIns="0" tIns="0" rIns="0" bIns="0" rtlCol="0" anchor="t"/>
          <a:lstStyle/>
          <a:p>
            <a:pPr algn="l" indent="0" marL="0">
              <a:lnSpc>
                <a:spcPts val="2250"/>
              </a:lnSpc>
              <a:buNone/>
            </a:pPr>
            <a:r>
              <a:rPr lang="en-US" sz="1800" dirty="0">
                <a:solidFill>
                  <a:srgbClr val="3B3535"/>
                </a:solidFill>
                <a:latin typeface="Alexandria Semi Bold" pitchFamily="34" charset="0"/>
                <a:ea typeface="Alexandria Semi Bold" pitchFamily="34" charset="-122"/>
                <a:cs typeface="Alexandria Semi Bold" pitchFamily="34" charset="-120"/>
              </a:rPr>
              <a:t>Fan Engagement Amplification</a:t>
            </a:r>
            <a:endParaRPr lang="en-US" sz="1800" dirty="0"/>
          </a:p>
        </p:txBody>
      </p:sp>
      <p:sp>
        <p:nvSpPr>
          <p:cNvPr id="20" name="Text 18"/>
          <p:cNvSpPr/>
          <p:nvPr/>
        </p:nvSpPr>
        <p:spPr>
          <a:xfrm>
            <a:off x="7732990" y="4999434"/>
            <a:ext cx="6009680" cy="558403"/>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Hyper-Personalized Marketing: Create individual fan journeys across your 680 million social media followers</a:t>
            </a:r>
            <a:endParaRPr lang="en-US" sz="1350" dirty="0"/>
          </a:p>
        </p:txBody>
      </p:sp>
      <p:sp>
        <p:nvSpPr>
          <p:cNvPr id="21" name="Text 19"/>
          <p:cNvSpPr/>
          <p:nvPr/>
        </p:nvSpPr>
        <p:spPr>
          <a:xfrm>
            <a:off x="7732990" y="5618917"/>
            <a:ext cx="6009680" cy="558403"/>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Predictive Merchandising: Forecast which WWE or UFC merchandise will sell best in specific markets</a:t>
            </a:r>
            <a:endParaRPr lang="en-US" sz="1350" dirty="0"/>
          </a:p>
        </p:txBody>
      </p:sp>
      <p:sp>
        <p:nvSpPr>
          <p:cNvPr id="22" name="Text 20"/>
          <p:cNvSpPr/>
          <p:nvPr/>
        </p:nvSpPr>
        <p:spPr>
          <a:xfrm>
            <a:off x="7732990" y="6238399"/>
            <a:ext cx="6009680" cy="558403"/>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Interactive Fan Experiences: AI-powered chatbots and virtual meet-and-greets with talent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5786" y="607338"/>
            <a:ext cx="10136267" cy="473512"/>
          </a:xfrm>
          <a:prstGeom prst="rect">
            <a:avLst/>
          </a:prstGeom>
          <a:noFill/>
          <a:ln/>
        </p:spPr>
        <p:txBody>
          <a:bodyPr wrap="none" lIns="0" tIns="0" rIns="0" bIns="0" rtlCol="0" anchor="t"/>
          <a:lstStyle/>
          <a:p>
            <a:pPr algn="l" indent="0" marL="0">
              <a:lnSpc>
                <a:spcPts val="3700"/>
              </a:lnSpc>
              <a:buNone/>
            </a:pPr>
            <a:r>
              <a:rPr lang="en-US" sz="2950" dirty="0">
                <a:solidFill>
                  <a:srgbClr val="1F1E1E"/>
                </a:solidFill>
                <a:latin typeface="Alexandria Semi Bold" pitchFamily="34" charset="0"/>
                <a:ea typeface="Alexandria Semi Bold" pitchFamily="34" charset="-122"/>
                <a:cs typeface="Alexandria Semi Bold" pitchFamily="34" charset="-120"/>
              </a:rPr>
              <a:t>Day in the Life Transformation - TKO Content Creator</a:t>
            </a:r>
            <a:endParaRPr lang="en-US" sz="2950" dirty="0"/>
          </a:p>
        </p:txBody>
      </p:sp>
      <p:sp>
        <p:nvSpPr>
          <p:cNvPr id="3" name="Text 1"/>
          <p:cNvSpPr/>
          <p:nvPr/>
        </p:nvSpPr>
        <p:spPr>
          <a:xfrm>
            <a:off x="575786" y="1440656"/>
            <a:ext cx="5715953" cy="284083"/>
          </a:xfrm>
          <a:prstGeom prst="rect">
            <a:avLst/>
          </a:prstGeom>
          <a:noFill/>
          <a:ln/>
        </p:spPr>
        <p:txBody>
          <a:bodyPr wrap="none" lIns="0" tIns="0" rIns="0" bIns="0" rtlCol="0" anchor="t"/>
          <a:lstStyle/>
          <a:p>
            <a:pPr algn="l" indent="0" marL="0">
              <a:lnSpc>
                <a:spcPts val="2200"/>
              </a:lnSpc>
              <a:buNone/>
            </a:pPr>
            <a:r>
              <a:rPr lang="en-US" sz="1750" dirty="0">
                <a:solidFill>
                  <a:srgbClr val="1F1E1E"/>
                </a:solidFill>
                <a:latin typeface="Alexandria Semi Bold" pitchFamily="34" charset="0"/>
                <a:ea typeface="Alexandria Semi Bold" pitchFamily="34" charset="-122"/>
                <a:cs typeface="Alexandria Semi Bold" pitchFamily="34" charset="-120"/>
              </a:rPr>
              <a:t>Pre-AI Reality: The Overwhelmed Content Creator</a:t>
            </a:r>
            <a:endParaRPr lang="en-US" sz="1750" dirty="0"/>
          </a:p>
        </p:txBody>
      </p:sp>
      <p:sp>
        <p:nvSpPr>
          <p:cNvPr id="4" name="Shape 2"/>
          <p:cNvSpPr/>
          <p:nvPr/>
        </p:nvSpPr>
        <p:spPr>
          <a:xfrm>
            <a:off x="3850005" y="1886664"/>
            <a:ext cx="15240" cy="4005024"/>
          </a:xfrm>
          <a:prstGeom prst="roundRect">
            <a:avLst>
              <a:gd name="adj" fmla="val 396742"/>
            </a:avLst>
          </a:prstGeom>
          <a:solidFill>
            <a:srgbClr val="BBC2DC"/>
          </a:solidFill>
          <a:ln/>
        </p:spPr>
      </p:sp>
      <p:sp>
        <p:nvSpPr>
          <p:cNvPr id="5" name="Shape 3"/>
          <p:cNvSpPr/>
          <p:nvPr/>
        </p:nvSpPr>
        <p:spPr>
          <a:xfrm>
            <a:off x="3279100" y="2040969"/>
            <a:ext cx="431840" cy="15240"/>
          </a:xfrm>
          <a:prstGeom prst="roundRect">
            <a:avLst>
              <a:gd name="adj" fmla="val 396742"/>
            </a:avLst>
          </a:prstGeom>
          <a:solidFill>
            <a:srgbClr val="BBC2DC"/>
          </a:solidFill>
          <a:ln/>
        </p:spPr>
      </p:sp>
      <p:sp>
        <p:nvSpPr>
          <p:cNvPr id="6" name="Shape 4"/>
          <p:cNvSpPr/>
          <p:nvPr/>
        </p:nvSpPr>
        <p:spPr>
          <a:xfrm>
            <a:off x="3695700" y="1886664"/>
            <a:ext cx="323850" cy="323850"/>
          </a:xfrm>
          <a:prstGeom prst="roundRect">
            <a:avLst>
              <a:gd name="adj" fmla="val 18670"/>
            </a:avLst>
          </a:prstGeom>
          <a:solidFill>
            <a:srgbClr val="D5DCF6"/>
          </a:solidFill>
          <a:ln w="7620">
            <a:solidFill>
              <a:srgbClr val="BBC2DC"/>
            </a:solidFill>
            <a:prstDash val="solid"/>
          </a:ln>
        </p:spPr>
      </p:sp>
      <p:sp>
        <p:nvSpPr>
          <p:cNvPr id="7" name="Text 5"/>
          <p:cNvSpPr/>
          <p:nvPr/>
        </p:nvSpPr>
        <p:spPr>
          <a:xfrm>
            <a:off x="3743980" y="1906548"/>
            <a:ext cx="227290" cy="284083"/>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1</a:t>
            </a:r>
            <a:endParaRPr lang="en-US" sz="1750" dirty="0"/>
          </a:p>
        </p:txBody>
      </p:sp>
      <p:sp>
        <p:nvSpPr>
          <p:cNvPr id="8" name="Text 6"/>
          <p:cNvSpPr/>
          <p:nvPr/>
        </p:nvSpPr>
        <p:spPr>
          <a:xfrm>
            <a:off x="1243727" y="1936075"/>
            <a:ext cx="1894165" cy="236696"/>
          </a:xfrm>
          <a:prstGeom prst="rect">
            <a:avLst/>
          </a:prstGeom>
          <a:noFill/>
          <a:ln/>
        </p:spPr>
        <p:txBody>
          <a:bodyPr wrap="none" lIns="0" tIns="0" rIns="0" bIns="0" rtlCol="0" anchor="t"/>
          <a:lstStyle/>
          <a:p>
            <a:pPr algn="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8:00 AM</a:t>
            </a:r>
            <a:endParaRPr lang="en-US" sz="1450" dirty="0"/>
          </a:p>
        </p:txBody>
      </p:sp>
      <p:sp>
        <p:nvSpPr>
          <p:cNvPr id="9" name="Text 7"/>
          <p:cNvSpPr/>
          <p:nvPr/>
        </p:nvSpPr>
        <p:spPr>
          <a:xfrm>
            <a:off x="575786" y="2316718"/>
            <a:ext cx="2562106" cy="1151334"/>
          </a:xfrm>
          <a:prstGeom prst="rect">
            <a:avLst/>
          </a:prstGeom>
          <a:noFill/>
          <a:ln/>
        </p:spPr>
        <p:txBody>
          <a:bodyPr wrap="square" lIns="0" tIns="0" rIns="0" bIns="0" rtlCol="0" anchor="t"/>
          <a:lstStyle/>
          <a:p>
            <a:pPr algn="r" indent="0" marL="0">
              <a:lnSpc>
                <a:spcPts val="1800"/>
              </a:lnSpc>
              <a:buNone/>
            </a:pPr>
            <a:r>
              <a:rPr lang="en-US" sz="1100" dirty="0">
                <a:solidFill>
                  <a:srgbClr val="3B3535"/>
                </a:solidFill>
                <a:latin typeface="Sora Light" pitchFamily="34" charset="0"/>
                <a:ea typeface="Sora Light" pitchFamily="34" charset="-122"/>
                <a:cs typeface="Sora Light" pitchFamily="34" charset="-120"/>
              </a:rPr>
              <a:t>Sarah, TKO's WWE storyline writer, arrives to find 47 unread emails from different international markets requesting localized content variations.</a:t>
            </a:r>
            <a:endParaRPr lang="en-US" sz="1100" dirty="0"/>
          </a:p>
        </p:txBody>
      </p:sp>
      <p:sp>
        <p:nvSpPr>
          <p:cNvPr id="10" name="Shape 8"/>
          <p:cNvSpPr/>
          <p:nvPr/>
        </p:nvSpPr>
        <p:spPr>
          <a:xfrm>
            <a:off x="4004310" y="2904649"/>
            <a:ext cx="431840" cy="15240"/>
          </a:xfrm>
          <a:prstGeom prst="roundRect">
            <a:avLst>
              <a:gd name="adj" fmla="val 396742"/>
            </a:avLst>
          </a:prstGeom>
          <a:solidFill>
            <a:srgbClr val="BBC2DC"/>
          </a:solidFill>
          <a:ln/>
        </p:spPr>
      </p:sp>
      <p:sp>
        <p:nvSpPr>
          <p:cNvPr id="11" name="Shape 9"/>
          <p:cNvSpPr/>
          <p:nvPr/>
        </p:nvSpPr>
        <p:spPr>
          <a:xfrm>
            <a:off x="3695700" y="2750344"/>
            <a:ext cx="323850" cy="323850"/>
          </a:xfrm>
          <a:prstGeom prst="roundRect">
            <a:avLst>
              <a:gd name="adj" fmla="val 18670"/>
            </a:avLst>
          </a:prstGeom>
          <a:solidFill>
            <a:srgbClr val="D5DCF6"/>
          </a:solidFill>
          <a:ln w="7620">
            <a:solidFill>
              <a:srgbClr val="BBC2DC"/>
            </a:solidFill>
            <a:prstDash val="solid"/>
          </a:ln>
        </p:spPr>
      </p:sp>
      <p:sp>
        <p:nvSpPr>
          <p:cNvPr id="12" name="Text 10"/>
          <p:cNvSpPr/>
          <p:nvPr/>
        </p:nvSpPr>
        <p:spPr>
          <a:xfrm>
            <a:off x="3743980" y="2770227"/>
            <a:ext cx="227290" cy="284083"/>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2</a:t>
            </a:r>
            <a:endParaRPr lang="en-US" sz="1750" dirty="0"/>
          </a:p>
        </p:txBody>
      </p:sp>
      <p:sp>
        <p:nvSpPr>
          <p:cNvPr id="13" name="Text 11"/>
          <p:cNvSpPr/>
          <p:nvPr/>
        </p:nvSpPr>
        <p:spPr>
          <a:xfrm>
            <a:off x="4577358" y="2799755"/>
            <a:ext cx="1894165" cy="236696"/>
          </a:xfrm>
          <a:prstGeom prst="rect">
            <a:avLst/>
          </a:prstGeom>
          <a:noFill/>
          <a:ln/>
        </p:spPr>
        <p:txBody>
          <a:bodyPr wrap="none" lIns="0" tIns="0" rIns="0" bIns="0" rtlCol="0" anchor="t"/>
          <a:lstStyle/>
          <a:p>
            <a:pPr algn="l"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10:00 AM</a:t>
            </a:r>
            <a:endParaRPr lang="en-US" sz="1450" dirty="0"/>
          </a:p>
        </p:txBody>
      </p:sp>
      <p:sp>
        <p:nvSpPr>
          <p:cNvPr id="14" name="Text 12"/>
          <p:cNvSpPr/>
          <p:nvPr/>
        </p:nvSpPr>
        <p:spPr>
          <a:xfrm>
            <a:off x="4577358" y="3180398"/>
            <a:ext cx="2562225" cy="1151334"/>
          </a:xfrm>
          <a:prstGeom prst="rect">
            <a:avLst/>
          </a:prstGeom>
          <a:noFill/>
          <a:ln/>
        </p:spPr>
        <p:txBody>
          <a:bodyPr wrap="square" lIns="0" tIns="0" rIns="0" bIns="0" rtlCol="0" anchor="t"/>
          <a:lstStyle/>
          <a:p>
            <a:pPr algn="l" indent="0" marL="0">
              <a:lnSpc>
                <a:spcPts val="1800"/>
              </a:lnSpc>
              <a:buNone/>
            </a:pPr>
            <a:r>
              <a:rPr lang="en-US" sz="1100" dirty="0">
                <a:solidFill>
                  <a:srgbClr val="3B3535"/>
                </a:solidFill>
                <a:latin typeface="Sora Light" pitchFamily="34" charset="0"/>
                <a:ea typeface="Sora Light" pitchFamily="34" charset="-122"/>
                <a:cs typeface="Sora Light" pitchFamily="34" charset="-120"/>
              </a:rPr>
              <a:t>She spends 3 hours researching fan sentiment across multiple social media platforms to understand what resonates with audiences in Japan versus the UK.</a:t>
            </a:r>
            <a:endParaRPr lang="en-US" sz="1100" dirty="0"/>
          </a:p>
        </p:txBody>
      </p:sp>
      <p:sp>
        <p:nvSpPr>
          <p:cNvPr id="15" name="Shape 13"/>
          <p:cNvSpPr/>
          <p:nvPr/>
        </p:nvSpPr>
        <p:spPr>
          <a:xfrm>
            <a:off x="3279100" y="3910251"/>
            <a:ext cx="431840" cy="15240"/>
          </a:xfrm>
          <a:prstGeom prst="roundRect">
            <a:avLst>
              <a:gd name="adj" fmla="val 396742"/>
            </a:avLst>
          </a:prstGeom>
          <a:solidFill>
            <a:srgbClr val="BBC2DC"/>
          </a:solidFill>
          <a:ln/>
        </p:spPr>
      </p:sp>
      <p:sp>
        <p:nvSpPr>
          <p:cNvPr id="16" name="Shape 14"/>
          <p:cNvSpPr/>
          <p:nvPr/>
        </p:nvSpPr>
        <p:spPr>
          <a:xfrm>
            <a:off x="3695700" y="3755946"/>
            <a:ext cx="323850" cy="323850"/>
          </a:xfrm>
          <a:prstGeom prst="roundRect">
            <a:avLst>
              <a:gd name="adj" fmla="val 18670"/>
            </a:avLst>
          </a:prstGeom>
          <a:solidFill>
            <a:srgbClr val="D5DCF6"/>
          </a:solidFill>
          <a:ln w="7620">
            <a:solidFill>
              <a:srgbClr val="BBC2DC"/>
            </a:solidFill>
            <a:prstDash val="solid"/>
          </a:ln>
        </p:spPr>
      </p:sp>
      <p:sp>
        <p:nvSpPr>
          <p:cNvPr id="17" name="Text 15"/>
          <p:cNvSpPr/>
          <p:nvPr/>
        </p:nvSpPr>
        <p:spPr>
          <a:xfrm>
            <a:off x="3743980" y="3775829"/>
            <a:ext cx="227290" cy="284083"/>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3</a:t>
            </a:r>
            <a:endParaRPr lang="en-US" sz="1750" dirty="0"/>
          </a:p>
        </p:txBody>
      </p:sp>
      <p:sp>
        <p:nvSpPr>
          <p:cNvPr id="18" name="Text 16"/>
          <p:cNvSpPr/>
          <p:nvPr/>
        </p:nvSpPr>
        <p:spPr>
          <a:xfrm>
            <a:off x="1243727" y="3805357"/>
            <a:ext cx="1894165" cy="236696"/>
          </a:xfrm>
          <a:prstGeom prst="rect">
            <a:avLst/>
          </a:prstGeom>
          <a:noFill/>
          <a:ln/>
        </p:spPr>
        <p:txBody>
          <a:bodyPr wrap="none" lIns="0" tIns="0" rIns="0" bIns="0" rtlCol="0" anchor="t"/>
          <a:lstStyle/>
          <a:p>
            <a:pPr algn="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2:00 PM</a:t>
            </a:r>
            <a:endParaRPr lang="en-US" sz="1450" dirty="0"/>
          </a:p>
        </p:txBody>
      </p:sp>
      <p:sp>
        <p:nvSpPr>
          <p:cNvPr id="19" name="Text 17"/>
          <p:cNvSpPr/>
          <p:nvPr/>
        </p:nvSpPr>
        <p:spPr>
          <a:xfrm>
            <a:off x="575786" y="4185999"/>
            <a:ext cx="2562106" cy="690801"/>
          </a:xfrm>
          <a:prstGeom prst="rect">
            <a:avLst/>
          </a:prstGeom>
          <a:noFill/>
          <a:ln/>
        </p:spPr>
        <p:txBody>
          <a:bodyPr wrap="square" lIns="0" tIns="0" rIns="0" bIns="0" rtlCol="0" anchor="t"/>
          <a:lstStyle/>
          <a:p>
            <a:pPr algn="r" indent="0" marL="0">
              <a:lnSpc>
                <a:spcPts val="1800"/>
              </a:lnSpc>
              <a:buNone/>
            </a:pPr>
            <a:r>
              <a:rPr lang="en-US" sz="1100" dirty="0">
                <a:solidFill>
                  <a:srgbClr val="3B3535"/>
                </a:solidFill>
                <a:latin typeface="Sora Light" pitchFamily="34" charset="0"/>
                <a:ea typeface="Sora Light" pitchFamily="34" charset="-122"/>
                <a:cs typeface="Sora Light" pitchFamily="34" charset="-120"/>
              </a:rPr>
              <a:t>Manual creation of single storyline that may or may not connect with diverse global audiences.</a:t>
            </a:r>
            <a:endParaRPr lang="en-US" sz="1100" dirty="0"/>
          </a:p>
        </p:txBody>
      </p:sp>
      <p:sp>
        <p:nvSpPr>
          <p:cNvPr id="20" name="Shape 18"/>
          <p:cNvSpPr/>
          <p:nvPr/>
        </p:nvSpPr>
        <p:spPr>
          <a:xfrm>
            <a:off x="4004310" y="4844891"/>
            <a:ext cx="431840" cy="15240"/>
          </a:xfrm>
          <a:prstGeom prst="roundRect">
            <a:avLst>
              <a:gd name="adj" fmla="val 396742"/>
            </a:avLst>
          </a:prstGeom>
          <a:solidFill>
            <a:srgbClr val="BBC2DC"/>
          </a:solidFill>
          <a:ln/>
        </p:spPr>
      </p:sp>
      <p:sp>
        <p:nvSpPr>
          <p:cNvPr id="21" name="Shape 19"/>
          <p:cNvSpPr/>
          <p:nvPr/>
        </p:nvSpPr>
        <p:spPr>
          <a:xfrm>
            <a:off x="3695700" y="4690586"/>
            <a:ext cx="323850" cy="323850"/>
          </a:xfrm>
          <a:prstGeom prst="roundRect">
            <a:avLst>
              <a:gd name="adj" fmla="val 18670"/>
            </a:avLst>
          </a:prstGeom>
          <a:solidFill>
            <a:srgbClr val="D5DCF6"/>
          </a:solidFill>
          <a:ln w="7620">
            <a:solidFill>
              <a:srgbClr val="BBC2DC"/>
            </a:solidFill>
            <a:prstDash val="solid"/>
          </a:ln>
        </p:spPr>
      </p:sp>
      <p:sp>
        <p:nvSpPr>
          <p:cNvPr id="22" name="Text 20"/>
          <p:cNvSpPr/>
          <p:nvPr/>
        </p:nvSpPr>
        <p:spPr>
          <a:xfrm>
            <a:off x="3743980" y="4710470"/>
            <a:ext cx="227290" cy="284083"/>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4</a:t>
            </a:r>
            <a:endParaRPr lang="en-US" sz="1750" dirty="0"/>
          </a:p>
        </p:txBody>
      </p:sp>
      <p:sp>
        <p:nvSpPr>
          <p:cNvPr id="23" name="Text 21"/>
          <p:cNvSpPr/>
          <p:nvPr/>
        </p:nvSpPr>
        <p:spPr>
          <a:xfrm>
            <a:off x="4577358" y="4739997"/>
            <a:ext cx="1894165" cy="236696"/>
          </a:xfrm>
          <a:prstGeom prst="rect">
            <a:avLst/>
          </a:prstGeom>
          <a:noFill/>
          <a:ln/>
        </p:spPr>
        <p:txBody>
          <a:bodyPr wrap="none" lIns="0" tIns="0" rIns="0" bIns="0" rtlCol="0" anchor="t"/>
          <a:lstStyle/>
          <a:p>
            <a:pPr algn="l"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6:00 PM</a:t>
            </a:r>
            <a:endParaRPr lang="en-US" sz="1450" dirty="0"/>
          </a:p>
        </p:txBody>
      </p:sp>
      <p:sp>
        <p:nvSpPr>
          <p:cNvPr id="24" name="Text 22"/>
          <p:cNvSpPr/>
          <p:nvPr/>
        </p:nvSpPr>
        <p:spPr>
          <a:xfrm>
            <a:off x="4577358" y="5120640"/>
            <a:ext cx="2562225" cy="690801"/>
          </a:xfrm>
          <a:prstGeom prst="rect">
            <a:avLst/>
          </a:prstGeom>
          <a:noFill/>
          <a:ln/>
        </p:spPr>
        <p:txBody>
          <a:bodyPr wrap="square" lIns="0" tIns="0" rIns="0" bIns="0" rtlCol="0" anchor="t"/>
          <a:lstStyle/>
          <a:p>
            <a:pPr algn="l" indent="0" marL="0">
              <a:lnSpc>
                <a:spcPts val="1800"/>
              </a:lnSpc>
              <a:buNone/>
            </a:pPr>
            <a:r>
              <a:rPr lang="en-US" sz="1100" dirty="0">
                <a:solidFill>
                  <a:srgbClr val="3B3535"/>
                </a:solidFill>
                <a:latin typeface="Sora Light" pitchFamily="34" charset="0"/>
                <a:ea typeface="Sora Light" pitchFamily="34" charset="-122"/>
                <a:cs typeface="Sora Light" pitchFamily="34" charset="-120"/>
              </a:rPr>
              <a:t>Overtime work trying to create variations for different markets, often missing cultural nuances.</a:t>
            </a:r>
            <a:endParaRPr lang="en-US" sz="1100" dirty="0"/>
          </a:p>
        </p:txBody>
      </p:sp>
      <p:sp>
        <p:nvSpPr>
          <p:cNvPr id="25" name="Text 23"/>
          <p:cNvSpPr/>
          <p:nvPr/>
        </p:nvSpPr>
        <p:spPr>
          <a:xfrm>
            <a:off x="7498437" y="1440656"/>
            <a:ext cx="5322689" cy="284083"/>
          </a:xfrm>
          <a:prstGeom prst="rect">
            <a:avLst/>
          </a:prstGeom>
          <a:noFill/>
          <a:ln/>
        </p:spPr>
        <p:txBody>
          <a:bodyPr wrap="none" lIns="0" tIns="0" rIns="0" bIns="0" rtlCol="0" anchor="t"/>
          <a:lstStyle/>
          <a:p>
            <a:pPr algn="l" indent="0" marL="0">
              <a:lnSpc>
                <a:spcPts val="2200"/>
              </a:lnSpc>
              <a:buNone/>
            </a:pPr>
            <a:r>
              <a:rPr lang="en-US" sz="1750" dirty="0">
                <a:solidFill>
                  <a:srgbClr val="1F1E1E"/>
                </a:solidFill>
                <a:latin typeface="Alexandria Semi Bold" pitchFamily="34" charset="0"/>
                <a:ea typeface="Alexandria Semi Bold" pitchFamily="34" charset="-122"/>
                <a:cs typeface="Alexandria Semi Bold" pitchFamily="34" charset="-120"/>
              </a:rPr>
              <a:t>Post-AI Reality: The Strategic Content Director</a:t>
            </a:r>
            <a:endParaRPr lang="en-US" sz="1750" dirty="0"/>
          </a:p>
        </p:txBody>
      </p:sp>
      <p:sp>
        <p:nvSpPr>
          <p:cNvPr id="26" name="Shape 24"/>
          <p:cNvSpPr/>
          <p:nvPr/>
        </p:nvSpPr>
        <p:spPr>
          <a:xfrm>
            <a:off x="10772656" y="1886664"/>
            <a:ext cx="15240" cy="4448294"/>
          </a:xfrm>
          <a:prstGeom prst="roundRect">
            <a:avLst>
              <a:gd name="adj" fmla="val 396742"/>
            </a:avLst>
          </a:prstGeom>
          <a:solidFill>
            <a:srgbClr val="BBC2DC"/>
          </a:solidFill>
          <a:ln/>
        </p:spPr>
      </p:sp>
      <p:sp>
        <p:nvSpPr>
          <p:cNvPr id="27" name="Shape 25"/>
          <p:cNvSpPr/>
          <p:nvPr/>
        </p:nvSpPr>
        <p:spPr>
          <a:xfrm>
            <a:off x="10201751" y="2040969"/>
            <a:ext cx="431840" cy="15240"/>
          </a:xfrm>
          <a:prstGeom prst="roundRect">
            <a:avLst>
              <a:gd name="adj" fmla="val 396742"/>
            </a:avLst>
          </a:prstGeom>
          <a:solidFill>
            <a:srgbClr val="BBC2DC"/>
          </a:solidFill>
          <a:ln/>
        </p:spPr>
      </p:sp>
      <p:sp>
        <p:nvSpPr>
          <p:cNvPr id="28" name="Shape 26"/>
          <p:cNvSpPr/>
          <p:nvPr/>
        </p:nvSpPr>
        <p:spPr>
          <a:xfrm>
            <a:off x="10618351" y="1886664"/>
            <a:ext cx="323850" cy="323850"/>
          </a:xfrm>
          <a:prstGeom prst="roundRect">
            <a:avLst>
              <a:gd name="adj" fmla="val 18670"/>
            </a:avLst>
          </a:prstGeom>
          <a:solidFill>
            <a:srgbClr val="D5DCF6"/>
          </a:solidFill>
          <a:ln w="7620">
            <a:solidFill>
              <a:srgbClr val="BBC2DC"/>
            </a:solidFill>
            <a:prstDash val="solid"/>
          </a:ln>
        </p:spPr>
      </p:sp>
      <p:sp>
        <p:nvSpPr>
          <p:cNvPr id="29" name="Text 27"/>
          <p:cNvSpPr/>
          <p:nvPr/>
        </p:nvSpPr>
        <p:spPr>
          <a:xfrm>
            <a:off x="10666631" y="1906548"/>
            <a:ext cx="227290" cy="284083"/>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1</a:t>
            </a:r>
            <a:endParaRPr lang="en-US" sz="1750" dirty="0"/>
          </a:p>
        </p:txBody>
      </p:sp>
      <p:sp>
        <p:nvSpPr>
          <p:cNvPr id="30" name="Text 28"/>
          <p:cNvSpPr/>
          <p:nvPr/>
        </p:nvSpPr>
        <p:spPr>
          <a:xfrm>
            <a:off x="8166378" y="1936075"/>
            <a:ext cx="1894165" cy="236696"/>
          </a:xfrm>
          <a:prstGeom prst="rect">
            <a:avLst/>
          </a:prstGeom>
          <a:noFill/>
          <a:ln/>
        </p:spPr>
        <p:txBody>
          <a:bodyPr wrap="none" lIns="0" tIns="0" rIns="0" bIns="0" rtlCol="0" anchor="t"/>
          <a:lstStyle/>
          <a:p>
            <a:pPr algn="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8:00 AM</a:t>
            </a:r>
            <a:endParaRPr lang="en-US" sz="1450" dirty="0"/>
          </a:p>
        </p:txBody>
      </p:sp>
      <p:sp>
        <p:nvSpPr>
          <p:cNvPr id="31" name="Text 29"/>
          <p:cNvSpPr/>
          <p:nvPr/>
        </p:nvSpPr>
        <p:spPr>
          <a:xfrm>
            <a:off x="7498437" y="2316718"/>
            <a:ext cx="2562106" cy="921068"/>
          </a:xfrm>
          <a:prstGeom prst="rect">
            <a:avLst/>
          </a:prstGeom>
          <a:noFill/>
          <a:ln/>
        </p:spPr>
        <p:txBody>
          <a:bodyPr wrap="square" lIns="0" tIns="0" rIns="0" bIns="0" rtlCol="0" anchor="t"/>
          <a:lstStyle/>
          <a:p>
            <a:pPr algn="r" indent="0" marL="0">
              <a:lnSpc>
                <a:spcPts val="1800"/>
              </a:lnSpc>
              <a:buNone/>
            </a:pPr>
            <a:r>
              <a:rPr lang="en-US" sz="1100" dirty="0">
                <a:solidFill>
                  <a:srgbClr val="3B3535"/>
                </a:solidFill>
                <a:latin typeface="Sora Light" pitchFamily="34" charset="0"/>
                <a:ea typeface="Sora Light" pitchFamily="34" charset="-122"/>
                <a:cs typeface="Sora Light" pitchFamily="34" charset="-120"/>
              </a:rPr>
              <a:t>Sarah reviews AI-generated global fan sentiment analysis showing trending themes across all 210 countries.</a:t>
            </a:r>
            <a:endParaRPr lang="en-US" sz="1100" dirty="0"/>
          </a:p>
        </p:txBody>
      </p:sp>
      <p:sp>
        <p:nvSpPr>
          <p:cNvPr id="32" name="Shape 30"/>
          <p:cNvSpPr/>
          <p:nvPr/>
        </p:nvSpPr>
        <p:spPr>
          <a:xfrm>
            <a:off x="10926961" y="2904649"/>
            <a:ext cx="431840" cy="15240"/>
          </a:xfrm>
          <a:prstGeom prst="roundRect">
            <a:avLst>
              <a:gd name="adj" fmla="val 396742"/>
            </a:avLst>
          </a:prstGeom>
          <a:solidFill>
            <a:srgbClr val="BBC2DC"/>
          </a:solidFill>
          <a:ln/>
        </p:spPr>
      </p:sp>
      <p:sp>
        <p:nvSpPr>
          <p:cNvPr id="33" name="Shape 31"/>
          <p:cNvSpPr/>
          <p:nvPr/>
        </p:nvSpPr>
        <p:spPr>
          <a:xfrm>
            <a:off x="10618351" y="2750344"/>
            <a:ext cx="323850" cy="323850"/>
          </a:xfrm>
          <a:prstGeom prst="roundRect">
            <a:avLst>
              <a:gd name="adj" fmla="val 18670"/>
            </a:avLst>
          </a:prstGeom>
          <a:solidFill>
            <a:srgbClr val="D5DCF6"/>
          </a:solidFill>
          <a:ln w="7620">
            <a:solidFill>
              <a:srgbClr val="BBC2DC"/>
            </a:solidFill>
            <a:prstDash val="solid"/>
          </a:ln>
        </p:spPr>
      </p:sp>
      <p:sp>
        <p:nvSpPr>
          <p:cNvPr id="34" name="Text 32"/>
          <p:cNvSpPr/>
          <p:nvPr/>
        </p:nvSpPr>
        <p:spPr>
          <a:xfrm>
            <a:off x="10666631" y="2770227"/>
            <a:ext cx="227290" cy="284083"/>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2</a:t>
            </a:r>
            <a:endParaRPr lang="en-US" sz="1750" dirty="0"/>
          </a:p>
        </p:txBody>
      </p:sp>
      <p:sp>
        <p:nvSpPr>
          <p:cNvPr id="35" name="Text 33"/>
          <p:cNvSpPr/>
          <p:nvPr/>
        </p:nvSpPr>
        <p:spPr>
          <a:xfrm>
            <a:off x="11500009" y="2799755"/>
            <a:ext cx="1894165" cy="236696"/>
          </a:xfrm>
          <a:prstGeom prst="rect">
            <a:avLst/>
          </a:prstGeom>
          <a:noFill/>
          <a:ln/>
        </p:spPr>
        <p:txBody>
          <a:bodyPr wrap="none" lIns="0" tIns="0" rIns="0" bIns="0" rtlCol="0" anchor="t"/>
          <a:lstStyle/>
          <a:p>
            <a:pPr algn="l"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8:30 AM</a:t>
            </a:r>
            <a:endParaRPr lang="en-US" sz="1450" dirty="0"/>
          </a:p>
        </p:txBody>
      </p:sp>
      <p:sp>
        <p:nvSpPr>
          <p:cNvPr id="36" name="Text 34"/>
          <p:cNvSpPr/>
          <p:nvPr/>
        </p:nvSpPr>
        <p:spPr>
          <a:xfrm>
            <a:off x="11500009" y="3180398"/>
            <a:ext cx="2562225" cy="921068"/>
          </a:xfrm>
          <a:prstGeom prst="rect">
            <a:avLst/>
          </a:prstGeom>
          <a:noFill/>
          <a:ln/>
        </p:spPr>
        <p:txBody>
          <a:bodyPr wrap="square" lIns="0" tIns="0" rIns="0" bIns="0" rtlCol="0" anchor="t"/>
          <a:lstStyle/>
          <a:p>
            <a:pPr algn="l" indent="0" marL="0">
              <a:lnSpc>
                <a:spcPts val="1800"/>
              </a:lnSpc>
              <a:buNone/>
            </a:pPr>
            <a:r>
              <a:rPr lang="en-US" sz="1100" dirty="0">
                <a:solidFill>
                  <a:srgbClr val="3B3535"/>
                </a:solidFill>
                <a:latin typeface="Sora Light" pitchFamily="34" charset="0"/>
                <a:ea typeface="Sora Light" pitchFamily="34" charset="-122"/>
                <a:cs typeface="Sora Light" pitchFamily="34" charset="-120"/>
              </a:rPr>
              <a:t>AI provides culturally-adapted storyline suggestions for top 10 international markets based on historical engagement patterns.</a:t>
            </a:r>
            <a:endParaRPr lang="en-US" sz="1100" dirty="0"/>
          </a:p>
        </p:txBody>
      </p:sp>
      <p:sp>
        <p:nvSpPr>
          <p:cNvPr id="37" name="Shape 35"/>
          <p:cNvSpPr/>
          <p:nvPr/>
        </p:nvSpPr>
        <p:spPr>
          <a:xfrm>
            <a:off x="10201751" y="3724156"/>
            <a:ext cx="431840" cy="15240"/>
          </a:xfrm>
          <a:prstGeom prst="roundRect">
            <a:avLst>
              <a:gd name="adj" fmla="val 396742"/>
            </a:avLst>
          </a:prstGeom>
          <a:solidFill>
            <a:srgbClr val="BBC2DC"/>
          </a:solidFill>
          <a:ln/>
        </p:spPr>
      </p:sp>
      <p:sp>
        <p:nvSpPr>
          <p:cNvPr id="38" name="Shape 36"/>
          <p:cNvSpPr/>
          <p:nvPr/>
        </p:nvSpPr>
        <p:spPr>
          <a:xfrm>
            <a:off x="10618351" y="3569851"/>
            <a:ext cx="323850" cy="323850"/>
          </a:xfrm>
          <a:prstGeom prst="roundRect">
            <a:avLst>
              <a:gd name="adj" fmla="val 18670"/>
            </a:avLst>
          </a:prstGeom>
          <a:solidFill>
            <a:srgbClr val="D5DCF6"/>
          </a:solidFill>
          <a:ln w="7620">
            <a:solidFill>
              <a:srgbClr val="BBC2DC"/>
            </a:solidFill>
            <a:prstDash val="solid"/>
          </a:ln>
        </p:spPr>
      </p:sp>
      <p:sp>
        <p:nvSpPr>
          <p:cNvPr id="39" name="Text 37"/>
          <p:cNvSpPr/>
          <p:nvPr/>
        </p:nvSpPr>
        <p:spPr>
          <a:xfrm>
            <a:off x="10666631" y="3589734"/>
            <a:ext cx="227290" cy="284083"/>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3</a:t>
            </a:r>
            <a:endParaRPr lang="en-US" sz="1750" dirty="0"/>
          </a:p>
        </p:txBody>
      </p:sp>
      <p:sp>
        <p:nvSpPr>
          <p:cNvPr id="40" name="Text 38"/>
          <p:cNvSpPr/>
          <p:nvPr/>
        </p:nvSpPr>
        <p:spPr>
          <a:xfrm>
            <a:off x="8166378" y="3619262"/>
            <a:ext cx="1894165" cy="236696"/>
          </a:xfrm>
          <a:prstGeom prst="rect">
            <a:avLst/>
          </a:prstGeom>
          <a:noFill/>
          <a:ln/>
        </p:spPr>
        <p:txBody>
          <a:bodyPr wrap="none" lIns="0" tIns="0" rIns="0" bIns="0" rtlCol="0" anchor="t"/>
          <a:lstStyle/>
          <a:p>
            <a:pPr algn="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10:00 AM</a:t>
            </a:r>
            <a:endParaRPr lang="en-US" sz="1450" dirty="0"/>
          </a:p>
        </p:txBody>
      </p:sp>
      <p:sp>
        <p:nvSpPr>
          <p:cNvPr id="41" name="Text 39"/>
          <p:cNvSpPr/>
          <p:nvPr/>
        </p:nvSpPr>
        <p:spPr>
          <a:xfrm>
            <a:off x="7498437" y="3999905"/>
            <a:ext cx="2562106" cy="690801"/>
          </a:xfrm>
          <a:prstGeom prst="rect">
            <a:avLst/>
          </a:prstGeom>
          <a:noFill/>
          <a:ln/>
        </p:spPr>
        <p:txBody>
          <a:bodyPr wrap="square" lIns="0" tIns="0" rIns="0" bIns="0" rtlCol="0" anchor="t"/>
          <a:lstStyle/>
          <a:p>
            <a:pPr algn="r" indent="0" marL="0">
              <a:lnSpc>
                <a:spcPts val="1800"/>
              </a:lnSpc>
              <a:buNone/>
            </a:pPr>
            <a:r>
              <a:rPr lang="en-US" sz="1100" dirty="0">
                <a:solidFill>
                  <a:srgbClr val="3B3535"/>
                </a:solidFill>
                <a:latin typeface="Sora Light" pitchFamily="34" charset="0"/>
                <a:ea typeface="Sora Light" pitchFamily="34" charset="-122"/>
                <a:cs typeface="Sora Light" pitchFamily="34" charset="-120"/>
              </a:rPr>
              <a:t>Creates strategic narrative direction while AI generates localized variations in realtime.</a:t>
            </a:r>
            <a:endParaRPr lang="en-US" sz="1100" dirty="0"/>
          </a:p>
        </p:txBody>
      </p:sp>
      <p:sp>
        <p:nvSpPr>
          <p:cNvPr id="42" name="Shape 40"/>
          <p:cNvSpPr/>
          <p:nvPr/>
        </p:nvSpPr>
        <p:spPr>
          <a:xfrm>
            <a:off x="10926961" y="4543663"/>
            <a:ext cx="431840" cy="15240"/>
          </a:xfrm>
          <a:prstGeom prst="roundRect">
            <a:avLst>
              <a:gd name="adj" fmla="val 396742"/>
            </a:avLst>
          </a:prstGeom>
          <a:solidFill>
            <a:srgbClr val="BBC2DC"/>
          </a:solidFill>
          <a:ln/>
        </p:spPr>
      </p:sp>
      <p:sp>
        <p:nvSpPr>
          <p:cNvPr id="43" name="Shape 41"/>
          <p:cNvSpPr/>
          <p:nvPr/>
        </p:nvSpPr>
        <p:spPr>
          <a:xfrm>
            <a:off x="10618351" y="4389358"/>
            <a:ext cx="323850" cy="323850"/>
          </a:xfrm>
          <a:prstGeom prst="roundRect">
            <a:avLst>
              <a:gd name="adj" fmla="val 18670"/>
            </a:avLst>
          </a:prstGeom>
          <a:solidFill>
            <a:srgbClr val="D5DCF6"/>
          </a:solidFill>
          <a:ln w="7620">
            <a:solidFill>
              <a:srgbClr val="BBC2DC"/>
            </a:solidFill>
            <a:prstDash val="solid"/>
          </a:ln>
        </p:spPr>
      </p:sp>
      <p:sp>
        <p:nvSpPr>
          <p:cNvPr id="44" name="Text 42"/>
          <p:cNvSpPr/>
          <p:nvPr/>
        </p:nvSpPr>
        <p:spPr>
          <a:xfrm>
            <a:off x="10666631" y="4409242"/>
            <a:ext cx="227290" cy="284083"/>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4</a:t>
            </a:r>
            <a:endParaRPr lang="en-US" sz="1750" dirty="0"/>
          </a:p>
        </p:txBody>
      </p:sp>
      <p:sp>
        <p:nvSpPr>
          <p:cNvPr id="45" name="Text 43"/>
          <p:cNvSpPr/>
          <p:nvPr/>
        </p:nvSpPr>
        <p:spPr>
          <a:xfrm>
            <a:off x="11500009" y="4438769"/>
            <a:ext cx="1894165" cy="236696"/>
          </a:xfrm>
          <a:prstGeom prst="rect">
            <a:avLst/>
          </a:prstGeom>
          <a:noFill/>
          <a:ln/>
        </p:spPr>
        <p:txBody>
          <a:bodyPr wrap="none" lIns="0" tIns="0" rIns="0" bIns="0" rtlCol="0" anchor="t"/>
          <a:lstStyle/>
          <a:p>
            <a:pPr algn="l"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12:00 PM</a:t>
            </a:r>
            <a:endParaRPr lang="en-US" sz="1450" dirty="0"/>
          </a:p>
        </p:txBody>
      </p:sp>
      <p:sp>
        <p:nvSpPr>
          <p:cNvPr id="46" name="Text 44"/>
          <p:cNvSpPr/>
          <p:nvPr/>
        </p:nvSpPr>
        <p:spPr>
          <a:xfrm>
            <a:off x="11500009" y="4819412"/>
            <a:ext cx="2562225" cy="690801"/>
          </a:xfrm>
          <a:prstGeom prst="rect">
            <a:avLst/>
          </a:prstGeom>
          <a:noFill/>
          <a:ln/>
        </p:spPr>
        <p:txBody>
          <a:bodyPr wrap="square" lIns="0" tIns="0" rIns="0" bIns="0" rtlCol="0" anchor="t"/>
          <a:lstStyle/>
          <a:p>
            <a:pPr algn="l" indent="0" marL="0">
              <a:lnSpc>
                <a:spcPts val="1800"/>
              </a:lnSpc>
              <a:buNone/>
            </a:pPr>
            <a:r>
              <a:rPr lang="en-US" sz="1100" dirty="0">
                <a:solidFill>
                  <a:srgbClr val="3B3535"/>
                </a:solidFill>
                <a:latin typeface="Sora Light" pitchFamily="34" charset="0"/>
                <a:ea typeface="Sora Light" pitchFamily="34" charset="-122"/>
                <a:cs typeface="Sora Light" pitchFamily="34" charset="-120"/>
              </a:rPr>
              <a:t>Reviews AI-generated content performance predictions for different storylines across markets.</a:t>
            </a:r>
            <a:endParaRPr lang="en-US" sz="1100" dirty="0"/>
          </a:p>
        </p:txBody>
      </p:sp>
      <p:sp>
        <p:nvSpPr>
          <p:cNvPr id="47" name="Shape 45"/>
          <p:cNvSpPr/>
          <p:nvPr/>
        </p:nvSpPr>
        <p:spPr>
          <a:xfrm>
            <a:off x="10201751" y="5288161"/>
            <a:ext cx="431840" cy="15240"/>
          </a:xfrm>
          <a:prstGeom prst="roundRect">
            <a:avLst>
              <a:gd name="adj" fmla="val 396742"/>
            </a:avLst>
          </a:prstGeom>
          <a:solidFill>
            <a:srgbClr val="BBC2DC"/>
          </a:solidFill>
          <a:ln/>
        </p:spPr>
      </p:sp>
      <p:sp>
        <p:nvSpPr>
          <p:cNvPr id="48" name="Shape 46"/>
          <p:cNvSpPr/>
          <p:nvPr/>
        </p:nvSpPr>
        <p:spPr>
          <a:xfrm>
            <a:off x="10618351" y="5133856"/>
            <a:ext cx="323850" cy="323850"/>
          </a:xfrm>
          <a:prstGeom prst="roundRect">
            <a:avLst>
              <a:gd name="adj" fmla="val 18670"/>
            </a:avLst>
          </a:prstGeom>
          <a:solidFill>
            <a:srgbClr val="D5DCF6"/>
          </a:solidFill>
          <a:ln w="7620">
            <a:solidFill>
              <a:srgbClr val="BBC2DC"/>
            </a:solidFill>
            <a:prstDash val="solid"/>
          </a:ln>
        </p:spPr>
      </p:sp>
      <p:sp>
        <p:nvSpPr>
          <p:cNvPr id="49" name="Text 47"/>
          <p:cNvSpPr/>
          <p:nvPr/>
        </p:nvSpPr>
        <p:spPr>
          <a:xfrm>
            <a:off x="10666631" y="5153739"/>
            <a:ext cx="227290" cy="284083"/>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5</a:t>
            </a:r>
            <a:endParaRPr lang="en-US" sz="1750" dirty="0"/>
          </a:p>
        </p:txBody>
      </p:sp>
      <p:sp>
        <p:nvSpPr>
          <p:cNvPr id="50" name="Text 48"/>
          <p:cNvSpPr/>
          <p:nvPr/>
        </p:nvSpPr>
        <p:spPr>
          <a:xfrm>
            <a:off x="8166378" y="5183267"/>
            <a:ext cx="1894165" cy="236696"/>
          </a:xfrm>
          <a:prstGeom prst="rect">
            <a:avLst/>
          </a:prstGeom>
          <a:noFill/>
          <a:ln/>
        </p:spPr>
        <p:txBody>
          <a:bodyPr wrap="none" lIns="0" tIns="0" rIns="0" bIns="0" rtlCol="0" anchor="t"/>
          <a:lstStyle/>
          <a:p>
            <a:pPr algn="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4:00 PM</a:t>
            </a:r>
            <a:endParaRPr lang="en-US" sz="1450" dirty="0"/>
          </a:p>
        </p:txBody>
      </p:sp>
      <p:sp>
        <p:nvSpPr>
          <p:cNvPr id="51" name="Text 49"/>
          <p:cNvSpPr/>
          <p:nvPr/>
        </p:nvSpPr>
        <p:spPr>
          <a:xfrm>
            <a:off x="7498437" y="5563910"/>
            <a:ext cx="2562106" cy="690801"/>
          </a:xfrm>
          <a:prstGeom prst="rect">
            <a:avLst/>
          </a:prstGeom>
          <a:noFill/>
          <a:ln/>
        </p:spPr>
        <p:txBody>
          <a:bodyPr wrap="square" lIns="0" tIns="0" rIns="0" bIns="0" rtlCol="0" anchor="t"/>
          <a:lstStyle/>
          <a:p>
            <a:pPr algn="r" indent="0" marL="0">
              <a:lnSpc>
                <a:spcPts val="1800"/>
              </a:lnSpc>
              <a:buNone/>
            </a:pPr>
            <a:r>
              <a:rPr lang="en-US" sz="1100" dirty="0">
                <a:solidFill>
                  <a:srgbClr val="3B3535"/>
                </a:solidFill>
                <a:latin typeface="Sora Light" pitchFamily="34" charset="0"/>
                <a:ea typeface="Sora Light" pitchFamily="34" charset="-122"/>
                <a:cs typeface="Sora Light" pitchFamily="34" charset="-120"/>
              </a:rPr>
              <a:t>Focuses on creative strategy and talent development instead of manual content creation.</a:t>
            </a:r>
            <a:endParaRPr lang="en-US" sz="1100" dirty="0"/>
          </a:p>
        </p:txBody>
      </p:sp>
      <p:sp>
        <p:nvSpPr>
          <p:cNvPr id="52" name="Text 50"/>
          <p:cNvSpPr/>
          <p:nvPr/>
        </p:nvSpPr>
        <p:spPr>
          <a:xfrm>
            <a:off x="575786" y="6730722"/>
            <a:ext cx="4372928" cy="475059"/>
          </a:xfrm>
          <a:prstGeom prst="rect">
            <a:avLst/>
          </a:prstGeom>
          <a:noFill/>
          <a:ln/>
        </p:spPr>
        <p:txBody>
          <a:bodyPr wrap="none" lIns="0" tIns="0" rIns="0" bIns="0" rtlCol="0" anchor="t"/>
          <a:lstStyle/>
          <a:p>
            <a:pPr algn="ctr" indent="0" marL="0">
              <a:lnSpc>
                <a:spcPts val="3700"/>
              </a:lnSpc>
              <a:buNone/>
            </a:pPr>
            <a:r>
              <a:rPr lang="en-US" sz="3700" dirty="0">
                <a:solidFill>
                  <a:srgbClr val="3B3535"/>
                </a:solidFill>
                <a:latin typeface="Alexandria Semi Bold" pitchFamily="34" charset="0"/>
                <a:ea typeface="Alexandria Semi Bold" pitchFamily="34" charset="-122"/>
                <a:cs typeface="Alexandria Semi Bold" pitchFamily="34" charset="-120"/>
              </a:rPr>
              <a:t>300%</a:t>
            </a:r>
            <a:endParaRPr lang="en-US" sz="3700" dirty="0"/>
          </a:p>
        </p:txBody>
      </p:sp>
      <p:sp>
        <p:nvSpPr>
          <p:cNvPr id="53" name="Text 51"/>
          <p:cNvSpPr/>
          <p:nvPr/>
        </p:nvSpPr>
        <p:spPr>
          <a:xfrm>
            <a:off x="1815108" y="7385566"/>
            <a:ext cx="1894165" cy="236696"/>
          </a:xfrm>
          <a:prstGeom prst="rect">
            <a:avLst/>
          </a:prstGeom>
          <a:noFill/>
          <a:ln/>
        </p:spPr>
        <p:txBody>
          <a:bodyPr wrap="none" lIns="0" tIns="0" rIns="0" bIns="0" rtlCol="0" anchor="t"/>
          <a:lstStyle/>
          <a:p>
            <a:pPr algn="ct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More Storylines</a:t>
            </a:r>
            <a:endParaRPr lang="en-US" sz="1450" dirty="0"/>
          </a:p>
        </p:txBody>
      </p:sp>
      <p:sp>
        <p:nvSpPr>
          <p:cNvPr id="54" name="Text 52"/>
          <p:cNvSpPr/>
          <p:nvPr/>
        </p:nvSpPr>
        <p:spPr>
          <a:xfrm>
            <a:off x="5128617" y="6730722"/>
            <a:ext cx="4373047" cy="475059"/>
          </a:xfrm>
          <a:prstGeom prst="rect">
            <a:avLst/>
          </a:prstGeom>
          <a:noFill/>
          <a:ln/>
        </p:spPr>
        <p:txBody>
          <a:bodyPr wrap="none" lIns="0" tIns="0" rIns="0" bIns="0" rtlCol="0" anchor="t"/>
          <a:lstStyle/>
          <a:p>
            <a:pPr algn="ctr" indent="0" marL="0">
              <a:lnSpc>
                <a:spcPts val="3700"/>
              </a:lnSpc>
              <a:buNone/>
            </a:pPr>
            <a:r>
              <a:rPr lang="en-US" sz="3700" dirty="0">
                <a:solidFill>
                  <a:srgbClr val="3B3535"/>
                </a:solidFill>
                <a:latin typeface="Alexandria Semi Bold" pitchFamily="34" charset="0"/>
                <a:ea typeface="Alexandria Semi Bold" pitchFamily="34" charset="-122"/>
                <a:cs typeface="Alexandria Semi Bold" pitchFamily="34" charset="-120"/>
              </a:rPr>
              <a:t>450%</a:t>
            </a:r>
            <a:endParaRPr lang="en-US" sz="3700" dirty="0"/>
          </a:p>
        </p:txBody>
      </p:sp>
      <p:sp>
        <p:nvSpPr>
          <p:cNvPr id="55" name="Text 53"/>
          <p:cNvSpPr/>
          <p:nvPr/>
        </p:nvSpPr>
        <p:spPr>
          <a:xfrm>
            <a:off x="5716667" y="7385566"/>
            <a:ext cx="3196947" cy="236696"/>
          </a:xfrm>
          <a:prstGeom prst="rect">
            <a:avLst/>
          </a:prstGeom>
          <a:noFill/>
          <a:ln/>
        </p:spPr>
        <p:txBody>
          <a:bodyPr wrap="none" lIns="0" tIns="0" rIns="0" bIns="0" rtlCol="0" anchor="t"/>
          <a:lstStyle/>
          <a:p>
            <a:pPr algn="ct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Better International Engagement</a:t>
            </a:r>
            <a:endParaRPr lang="en-US" sz="1450" dirty="0"/>
          </a:p>
        </p:txBody>
      </p:sp>
      <p:sp>
        <p:nvSpPr>
          <p:cNvPr id="56" name="Text 54"/>
          <p:cNvSpPr/>
          <p:nvPr/>
        </p:nvSpPr>
        <p:spPr>
          <a:xfrm>
            <a:off x="9681567" y="6730722"/>
            <a:ext cx="4373047" cy="475059"/>
          </a:xfrm>
          <a:prstGeom prst="rect">
            <a:avLst/>
          </a:prstGeom>
          <a:noFill/>
          <a:ln/>
        </p:spPr>
        <p:txBody>
          <a:bodyPr wrap="none" lIns="0" tIns="0" rIns="0" bIns="0" rtlCol="0" anchor="t"/>
          <a:lstStyle/>
          <a:p>
            <a:pPr algn="ctr" indent="0" marL="0">
              <a:lnSpc>
                <a:spcPts val="3700"/>
              </a:lnSpc>
              <a:buNone/>
            </a:pPr>
            <a:r>
              <a:rPr lang="en-US" sz="3700" dirty="0">
                <a:solidFill>
                  <a:srgbClr val="3B3535"/>
                </a:solidFill>
                <a:latin typeface="Alexandria Semi Bold" pitchFamily="34" charset="0"/>
                <a:ea typeface="Alexandria Semi Bold" pitchFamily="34" charset="-122"/>
                <a:cs typeface="Alexandria Semi Bold" pitchFamily="34" charset="-120"/>
              </a:rPr>
              <a:t>85%</a:t>
            </a:r>
            <a:endParaRPr lang="en-US" sz="3700" dirty="0"/>
          </a:p>
        </p:txBody>
      </p:sp>
      <p:sp>
        <p:nvSpPr>
          <p:cNvPr id="57" name="Text 55"/>
          <p:cNvSpPr/>
          <p:nvPr/>
        </p:nvSpPr>
        <p:spPr>
          <a:xfrm>
            <a:off x="10748605" y="7385566"/>
            <a:ext cx="2238851" cy="236696"/>
          </a:xfrm>
          <a:prstGeom prst="rect">
            <a:avLst/>
          </a:prstGeom>
          <a:noFill/>
          <a:ln/>
        </p:spPr>
        <p:txBody>
          <a:bodyPr wrap="none" lIns="0" tIns="0" rIns="0" bIns="0" rtlCol="0" anchor="t"/>
          <a:lstStyle/>
          <a:p>
            <a:pPr algn="ct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Higher Fan Satisfaction</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3520" y="373618"/>
            <a:ext cx="5590937" cy="446842"/>
          </a:xfrm>
          <a:prstGeom prst="rect">
            <a:avLst/>
          </a:prstGeom>
          <a:noFill/>
          <a:ln/>
        </p:spPr>
        <p:txBody>
          <a:bodyPr wrap="none" lIns="0" tIns="0" rIns="0" bIns="0" rtlCol="0" anchor="t"/>
          <a:lstStyle/>
          <a:p>
            <a:pPr algn="l" indent="0" marL="0">
              <a:lnSpc>
                <a:spcPts val="3500"/>
              </a:lnSpc>
              <a:buNone/>
            </a:pPr>
            <a:r>
              <a:rPr lang="en-US" sz="2800" dirty="0">
                <a:solidFill>
                  <a:srgbClr val="1F1E1E"/>
                </a:solidFill>
                <a:latin typeface="Alexandria Semi Bold" pitchFamily="34" charset="0"/>
                <a:ea typeface="Alexandria Semi Bold" pitchFamily="34" charset="-122"/>
                <a:cs typeface="Alexandria Semi Bold" pitchFamily="34" charset="-120"/>
              </a:rPr>
              <a:t>The TKO AI Opportunity Matrix</a:t>
            </a:r>
            <a:endParaRPr lang="en-US" sz="2800" dirty="0"/>
          </a:p>
        </p:txBody>
      </p:sp>
      <p:sp>
        <p:nvSpPr>
          <p:cNvPr id="3" name="Shape 1"/>
          <p:cNvSpPr/>
          <p:nvPr/>
        </p:nvSpPr>
        <p:spPr>
          <a:xfrm>
            <a:off x="543520" y="1092160"/>
            <a:ext cx="6703695" cy="2046684"/>
          </a:xfrm>
          <a:prstGeom prst="roundRect">
            <a:avLst>
              <a:gd name="adj" fmla="val 2788"/>
            </a:avLst>
          </a:prstGeom>
          <a:noFill/>
          <a:ln w="15240">
            <a:solidFill>
              <a:srgbClr val="BBC2DC"/>
            </a:solidFill>
            <a:prstDash val="solid"/>
          </a:ln>
        </p:spPr>
      </p:sp>
      <p:sp>
        <p:nvSpPr>
          <p:cNvPr id="4" name="Shape 2"/>
          <p:cNvSpPr/>
          <p:nvPr/>
        </p:nvSpPr>
        <p:spPr>
          <a:xfrm>
            <a:off x="558760" y="1107400"/>
            <a:ext cx="6673215" cy="407551"/>
          </a:xfrm>
          <a:prstGeom prst="roundRect">
            <a:avLst>
              <a:gd name="adj" fmla="val 9516"/>
            </a:avLst>
          </a:prstGeom>
          <a:solidFill>
            <a:srgbClr val="D5DCF6"/>
          </a:solidFill>
          <a:ln/>
        </p:spPr>
      </p:sp>
      <p:sp>
        <p:nvSpPr>
          <p:cNvPr id="5" name="Text 3"/>
          <p:cNvSpPr/>
          <p:nvPr/>
        </p:nvSpPr>
        <p:spPr>
          <a:xfrm>
            <a:off x="3793450" y="1180028"/>
            <a:ext cx="203716" cy="254675"/>
          </a:xfrm>
          <a:prstGeom prst="rect">
            <a:avLst/>
          </a:prstGeom>
          <a:noFill/>
          <a:ln/>
        </p:spPr>
        <p:txBody>
          <a:bodyPr wrap="none" lIns="0" tIns="0" rIns="0" bIns="0" rtlCol="0" anchor="t"/>
          <a:lstStyle/>
          <a:p>
            <a:pPr algn="l" indent="0" marL="0">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1</a:t>
            </a:r>
            <a:endParaRPr lang="en-US" sz="1600" dirty="0"/>
          </a:p>
        </p:txBody>
      </p:sp>
      <p:sp>
        <p:nvSpPr>
          <p:cNvPr id="6" name="Text 4"/>
          <p:cNvSpPr/>
          <p:nvPr/>
        </p:nvSpPr>
        <p:spPr>
          <a:xfrm>
            <a:off x="694611" y="1650802"/>
            <a:ext cx="2870954" cy="223480"/>
          </a:xfrm>
          <a:prstGeom prst="rect">
            <a:avLst/>
          </a:prstGeom>
          <a:noFill/>
          <a:ln/>
        </p:spPr>
        <p:txBody>
          <a:bodyPr wrap="none" lIns="0" tIns="0" rIns="0" bIns="0" rtlCol="0" anchor="t"/>
          <a:lstStyle/>
          <a:p>
            <a:pPr algn="l" indent="0" marL="0">
              <a:lnSpc>
                <a:spcPts val="1750"/>
              </a:lnSpc>
              <a:buNone/>
            </a:pPr>
            <a:r>
              <a:rPr lang="en-US" sz="1400" dirty="0">
                <a:solidFill>
                  <a:srgbClr val="3B3535"/>
                </a:solidFill>
                <a:latin typeface="Alexandria Semi Bold" pitchFamily="34" charset="0"/>
                <a:ea typeface="Alexandria Semi Bold" pitchFamily="34" charset="-122"/>
                <a:cs typeface="Alexandria Semi Bold" pitchFamily="34" charset="-120"/>
              </a:rPr>
              <a:t>Content Personalization Engine</a:t>
            </a:r>
            <a:endParaRPr lang="en-US" sz="1400" dirty="0"/>
          </a:p>
        </p:txBody>
      </p:sp>
      <p:sp>
        <p:nvSpPr>
          <p:cNvPr id="7" name="Text 5"/>
          <p:cNvSpPr/>
          <p:nvPr/>
        </p:nvSpPr>
        <p:spPr>
          <a:xfrm>
            <a:off x="694611" y="1955721"/>
            <a:ext cx="6401514"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Challenge:</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Creating content for 93% international fanbase across 210 countries</a:t>
            </a:r>
            <a:endParaRPr lang="en-US" sz="1050" dirty="0"/>
          </a:p>
        </p:txBody>
      </p:sp>
      <p:sp>
        <p:nvSpPr>
          <p:cNvPr id="8" name="Text 6"/>
          <p:cNvSpPr/>
          <p:nvPr/>
        </p:nvSpPr>
        <p:spPr>
          <a:xfrm>
            <a:off x="694611" y="2254448"/>
            <a:ext cx="6401514" cy="434578"/>
          </a:xfrm>
          <a:prstGeom prst="rect">
            <a:avLst/>
          </a:prstGeom>
          <a:noFill/>
          <a:ln/>
        </p:spPr>
        <p:txBody>
          <a:bodyPr wrap="squar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AI Solution:</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Real-time content adaptation based on cultural preferences and engagement patterns</a:t>
            </a:r>
            <a:endParaRPr lang="en-US" sz="1050" dirty="0"/>
          </a:p>
        </p:txBody>
      </p:sp>
      <p:sp>
        <p:nvSpPr>
          <p:cNvPr id="9" name="Text 7"/>
          <p:cNvSpPr/>
          <p:nvPr/>
        </p:nvSpPr>
        <p:spPr>
          <a:xfrm>
            <a:off x="694611" y="2770465"/>
            <a:ext cx="6401514"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Impact:</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300% increase in content velocity, 180% improvement in fan engagement</a:t>
            </a:r>
            <a:endParaRPr lang="en-US" sz="1050" dirty="0"/>
          </a:p>
        </p:txBody>
      </p:sp>
      <p:sp>
        <p:nvSpPr>
          <p:cNvPr id="10" name="Shape 8"/>
          <p:cNvSpPr/>
          <p:nvPr/>
        </p:nvSpPr>
        <p:spPr>
          <a:xfrm>
            <a:off x="7383066" y="1092160"/>
            <a:ext cx="6703814" cy="2046684"/>
          </a:xfrm>
          <a:prstGeom prst="roundRect">
            <a:avLst>
              <a:gd name="adj" fmla="val 2788"/>
            </a:avLst>
          </a:prstGeom>
          <a:noFill/>
          <a:ln w="15240">
            <a:solidFill>
              <a:srgbClr val="BBC2DC"/>
            </a:solidFill>
            <a:prstDash val="solid"/>
          </a:ln>
        </p:spPr>
      </p:sp>
      <p:sp>
        <p:nvSpPr>
          <p:cNvPr id="11" name="Shape 9"/>
          <p:cNvSpPr/>
          <p:nvPr/>
        </p:nvSpPr>
        <p:spPr>
          <a:xfrm>
            <a:off x="7398306" y="1107400"/>
            <a:ext cx="6673334" cy="407551"/>
          </a:xfrm>
          <a:prstGeom prst="roundRect">
            <a:avLst>
              <a:gd name="adj" fmla="val 9516"/>
            </a:avLst>
          </a:prstGeom>
          <a:solidFill>
            <a:srgbClr val="D5DCF6"/>
          </a:solidFill>
          <a:ln/>
        </p:spPr>
      </p:sp>
      <p:sp>
        <p:nvSpPr>
          <p:cNvPr id="12" name="Text 10"/>
          <p:cNvSpPr/>
          <p:nvPr/>
        </p:nvSpPr>
        <p:spPr>
          <a:xfrm>
            <a:off x="10633115" y="1180028"/>
            <a:ext cx="203716" cy="254675"/>
          </a:xfrm>
          <a:prstGeom prst="rect">
            <a:avLst/>
          </a:prstGeom>
          <a:noFill/>
          <a:ln/>
        </p:spPr>
        <p:txBody>
          <a:bodyPr wrap="none" lIns="0" tIns="0" rIns="0" bIns="0" rtlCol="0" anchor="t"/>
          <a:lstStyle/>
          <a:p>
            <a:pPr algn="l" indent="0" marL="0">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2</a:t>
            </a:r>
            <a:endParaRPr lang="en-US" sz="1600" dirty="0"/>
          </a:p>
        </p:txBody>
      </p:sp>
      <p:sp>
        <p:nvSpPr>
          <p:cNvPr id="13" name="Text 11"/>
          <p:cNvSpPr/>
          <p:nvPr/>
        </p:nvSpPr>
        <p:spPr>
          <a:xfrm>
            <a:off x="7534156" y="1650802"/>
            <a:ext cx="3086100" cy="223480"/>
          </a:xfrm>
          <a:prstGeom prst="rect">
            <a:avLst/>
          </a:prstGeom>
          <a:noFill/>
          <a:ln/>
        </p:spPr>
        <p:txBody>
          <a:bodyPr wrap="none" lIns="0" tIns="0" rIns="0" bIns="0" rtlCol="0" anchor="t"/>
          <a:lstStyle/>
          <a:p>
            <a:pPr algn="l" indent="0" marL="0">
              <a:lnSpc>
                <a:spcPts val="1750"/>
              </a:lnSpc>
              <a:buNone/>
            </a:pPr>
            <a:r>
              <a:rPr lang="en-US" sz="1400" dirty="0">
                <a:solidFill>
                  <a:srgbClr val="3B3535"/>
                </a:solidFill>
                <a:latin typeface="Alexandria Semi Bold" pitchFamily="34" charset="0"/>
                <a:ea typeface="Alexandria Semi Bold" pitchFamily="34" charset="-122"/>
                <a:cs typeface="Alexandria Semi Bold" pitchFamily="34" charset="-120"/>
              </a:rPr>
              <a:t>Predictive Event Success Platform</a:t>
            </a:r>
            <a:endParaRPr lang="en-US" sz="1400" dirty="0"/>
          </a:p>
        </p:txBody>
      </p:sp>
      <p:sp>
        <p:nvSpPr>
          <p:cNvPr id="14" name="Text 12"/>
          <p:cNvSpPr/>
          <p:nvPr/>
        </p:nvSpPr>
        <p:spPr>
          <a:xfrm>
            <a:off x="7534156" y="1955721"/>
            <a:ext cx="6401633"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Challenge:</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Optimizing 500+ annual events for maximum attendance and revenue</a:t>
            </a:r>
            <a:endParaRPr lang="en-US" sz="1050" dirty="0"/>
          </a:p>
        </p:txBody>
      </p:sp>
      <p:sp>
        <p:nvSpPr>
          <p:cNvPr id="15" name="Text 13"/>
          <p:cNvSpPr/>
          <p:nvPr/>
        </p:nvSpPr>
        <p:spPr>
          <a:xfrm>
            <a:off x="7534156" y="2254448"/>
            <a:ext cx="6401633" cy="434578"/>
          </a:xfrm>
          <a:prstGeom prst="rect">
            <a:avLst/>
          </a:prstGeom>
          <a:noFill/>
          <a:ln/>
        </p:spPr>
        <p:txBody>
          <a:bodyPr wrap="squar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AI Solution:</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Machine learning models predicting optimal pricing, venues, and promotional strategies</a:t>
            </a:r>
            <a:endParaRPr lang="en-US" sz="1050" dirty="0"/>
          </a:p>
        </p:txBody>
      </p:sp>
      <p:sp>
        <p:nvSpPr>
          <p:cNvPr id="16" name="Text 14"/>
          <p:cNvSpPr/>
          <p:nvPr/>
        </p:nvSpPr>
        <p:spPr>
          <a:xfrm>
            <a:off x="7534156" y="2770465"/>
            <a:ext cx="6401633"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Impact:</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25% increase in event revenue, 40% improvement in attendance rates</a:t>
            </a:r>
            <a:endParaRPr lang="en-US" sz="1050" dirty="0"/>
          </a:p>
        </p:txBody>
      </p:sp>
      <p:sp>
        <p:nvSpPr>
          <p:cNvPr id="17" name="Shape 15"/>
          <p:cNvSpPr/>
          <p:nvPr/>
        </p:nvSpPr>
        <p:spPr>
          <a:xfrm>
            <a:off x="543520" y="3274695"/>
            <a:ext cx="6703695" cy="1829395"/>
          </a:xfrm>
          <a:prstGeom prst="roundRect">
            <a:avLst>
              <a:gd name="adj" fmla="val 3120"/>
            </a:avLst>
          </a:prstGeom>
          <a:noFill/>
          <a:ln w="15240">
            <a:solidFill>
              <a:srgbClr val="BBC2DC"/>
            </a:solidFill>
            <a:prstDash val="solid"/>
          </a:ln>
        </p:spPr>
      </p:sp>
      <p:sp>
        <p:nvSpPr>
          <p:cNvPr id="18" name="Shape 16"/>
          <p:cNvSpPr/>
          <p:nvPr/>
        </p:nvSpPr>
        <p:spPr>
          <a:xfrm>
            <a:off x="558760" y="3289935"/>
            <a:ext cx="6673215" cy="407551"/>
          </a:xfrm>
          <a:prstGeom prst="roundRect">
            <a:avLst>
              <a:gd name="adj" fmla="val 9516"/>
            </a:avLst>
          </a:prstGeom>
          <a:solidFill>
            <a:srgbClr val="D5DCF6"/>
          </a:solidFill>
          <a:ln/>
        </p:spPr>
      </p:sp>
      <p:sp>
        <p:nvSpPr>
          <p:cNvPr id="19" name="Text 17"/>
          <p:cNvSpPr/>
          <p:nvPr/>
        </p:nvSpPr>
        <p:spPr>
          <a:xfrm>
            <a:off x="3793450" y="3362563"/>
            <a:ext cx="203716" cy="254675"/>
          </a:xfrm>
          <a:prstGeom prst="rect">
            <a:avLst/>
          </a:prstGeom>
          <a:noFill/>
          <a:ln/>
        </p:spPr>
        <p:txBody>
          <a:bodyPr wrap="none" lIns="0" tIns="0" rIns="0" bIns="0" rtlCol="0" anchor="t"/>
          <a:lstStyle/>
          <a:p>
            <a:pPr algn="l" indent="0" marL="0">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3</a:t>
            </a:r>
            <a:endParaRPr lang="en-US" sz="1600" dirty="0"/>
          </a:p>
        </p:txBody>
      </p:sp>
      <p:sp>
        <p:nvSpPr>
          <p:cNvPr id="20" name="Text 18"/>
          <p:cNvSpPr/>
          <p:nvPr/>
        </p:nvSpPr>
        <p:spPr>
          <a:xfrm>
            <a:off x="694611" y="3833336"/>
            <a:ext cx="3483412" cy="223480"/>
          </a:xfrm>
          <a:prstGeom prst="rect">
            <a:avLst/>
          </a:prstGeom>
          <a:noFill/>
          <a:ln/>
        </p:spPr>
        <p:txBody>
          <a:bodyPr wrap="none" lIns="0" tIns="0" rIns="0" bIns="0" rtlCol="0" anchor="t"/>
          <a:lstStyle/>
          <a:p>
            <a:pPr algn="l" indent="0" marL="0">
              <a:lnSpc>
                <a:spcPts val="1750"/>
              </a:lnSpc>
              <a:buNone/>
            </a:pPr>
            <a:r>
              <a:rPr lang="en-US" sz="1400" dirty="0">
                <a:solidFill>
                  <a:srgbClr val="3B3535"/>
                </a:solidFill>
                <a:latin typeface="Alexandria Semi Bold" pitchFamily="34" charset="0"/>
                <a:ea typeface="Alexandria Semi Bold" pitchFamily="34" charset="-122"/>
                <a:cs typeface="Alexandria Semi Bold" pitchFamily="34" charset="-120"/>
              </a:rPr>
              <a:t>Automated Social Media Optimization</a:t>
            </a:r>
            <a:endParaRPr lang="en-US" sz="1400" dirty="0"/>
          </a:p>
        </p:txBody>
      </p:sp>
      <p:sp>
        <p:nvSpPr>
          <p:cNvPr id="21" name="Text 19"/>
          <p:cNvSpPr/>
          <p:nvPr/>
        </p:nvSpPr>
        <p:spPr>
          <a:xfrm>
            <a:off x="694611" y="4138255"/>
            <a:ext cx="6401514"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Challenge:</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Managing 680 million social media followers across multiple platforms</a:t>
            </a:r>
            <a:endParaRPr lang="en-US" sz="1050" dirty="0"/>
          </a:p>
        </p:txBody>
      </p:sp>
      <p:sp>
        <p:nvSpPr>
          <p:cNvPr id="22" name="Text 20"/>
          <p:cNvSpPr/>
          <p:nvPr/>
        </p:nvSpPr>
        <p:spPr>
          <a:xfrm>
            <a:off x="694611" y="4436983"/>
            <a:ext cx="6401514"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AI Solution:</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AI-powered content creation and posting optimization</a:t>
            </a:r>
            <a:endParaRPr lang="en-US" sz="1050" dirty="0"/>
          </a:p>
        </p:txBody>
      </p:sp>
      <p:sp>
        <p:nvSpPr>
          <p:cNvPr id="23" name="Text 21"/>
          <p:cNvSpPr/>
          <p:nvPr/>
        </p:nvSpPr>
        <p:spPr>
          <a:xfrm>
            <a:off x="694611" y="4735711"/>
            <a:ext cx="6401514"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Impact:</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500% increase in social media content, 320% improvement in engagement rates</a:t>
            </a:r>
            <a:endParaRPr lang="en-US" sz="1050" dirty="0"/>
          </a:p>
        </p:txBody>
      </p:sp>
      <p:sp>
        <p:nvSpPr>
          <p:cNvPr id="24" name="Shape 22"/>
          <p:cNvSpPr/>
          <p:nvPr/>
        </p:nvSpPr>
        <p:spPr>
          <a:xfrm>
            <a:off x="7383066" y="3274695"/>
            <a:ext cx="6703814" cy="1829395"/>
          </a:xfrm>
          <a:prstGeom prst="roundRect">
            <a:avLst>
              <a:gd name="adj" fmla="val 3120"/>
            </a:avLst>
          </a:prstGeom>
          <a:noFill/>
          <a:ln w="15240">
            <a:solidFill>
              <a:srgbClr val="BBC2DC"/>
            </a:solidFill>
            <a:prstDash val="solid"/>
          </a:ln>
        </p:spPr>
      </p:sp>
      <p:sp>
        <p:nvSpPr>
          <p:cNvPr id="25" name="Shape 23"/>
          <p:cNvSpPr/>
          <p:nvPr/>
        </p:nvSpPr>
        <p:spPr>
          <a:xfrm>
            <a:off x="7398306" y="3289935"/>
            <a:ext cx="6673334" cy="407551"/>
          </a:xfrm>
          <a:prstGeom prst="roundRect">
            <a:avLst>
              <a:gd name="adj" fmla="val 9516"/>
            </a:avLst>
          </a:prstGeom>
          <a:solidFill>
            <a:srgbClr val="D5DCF6"/>
          </a:solidFill>
          <a:ln/>
        </p:spPr>
      </p:sp>
      <p:sp>
        <p:nvSpPr>
          <p:cNvPr id="26" name="Text 24"/>
          <p:cNvSpPr/>
          <p:nvPr/>
        </p:nvSpPr>
        <p:spPr>
          <a:xfrm>
            <a:off x="10633115" y="3362563"/>
            <a:ext cx="203716" cy="254675"/>
          </a:xfrm>
          <a:prstGeom prst="rect">
            <a:avLst/>
          </a:prstGeom>
          <a:noFill/>
          <a:ln/>
        </p:spPr>
        <p:txBody>
          <a:bodyPr wrap="none" lIns="0" tIns="0" rIns="0" bIns="0" rtlCol="0" anchor="t"/>
          <a:lstStyle/>
          <a:p>
            <a:pPr algn="l" indent="0" marL="0">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4</a:t>
            </a:r>
            <a:endParaRPr lang="en-US" sz="1600" dirty="0"/>
          </a:p>
        </p:txBody>
      </p:sp>
      <p:sp>
        <p:nvSpPr>
          <p:cNvPr id="27" name="Text 25"/>
          <p:cNvSpPr/>
          <p:nvPr/>
        </p:nvSpPr>
        <p:spPr>
          <a:xfrm>
            <a:off x="7534156" y="3833336"/>
            <a:ext cx="2340888" cy="223480"/>
          </a:xfrm>
          <a:prstGeom prst="rect">
            <a:avLst/>
          </a:prstGeom>
          <a:noFill/>
          <a:ln/>
        </p:spPr>
        <p:txBody>
          <a:bodyPr wrap="none" lIns="0" tIns="0" rIns="0" bIns="0" rtlCol="0" anchor="t"/>
          <a:lstStyle/>
          <a:p>
            <a:pPr algn="l" indent="0" marL="0">
              <a:lnSpc>
                <a:spcPts val="1750"/>
              </a:lnSpc>
              <a:buNone/>
            </a:pPr>
            <a:r>
              <a:rPr lang="en-US" sz="1400" dirty="0">
                <a:solidFill>
                  <a:srgbClr val="3B3535"/>
                </a:solidFill>
                <a:latin typeface="Alexandria Semi Bold" pitchFamily="34" charset="0"/>
                <a:ea typeface="Alexandria Semi Bold" pitchFamily="34" charset="-122"/>
                <a:cs typeface="Alexandria Semi Bold" pitchFamily="34" charset="-120"/>
              </a:rPr>
              <a:t>Intelligent Merchandising</a:t>
            </a:r>
            <a:endParaRPr lang="en-US" sz="1400" dirty="0"/>
          </a:p>
        </p:txBody>
      </p:sp>
      <p:sp>
        <p:nvSpPr>
          <p:cNvPr id="28" name="Text 26"/>
          <p:cNvSpPr/>
          <p:nvPr/>
        </p:nvSpPr>
        <p:spPr>
          <a:xfrm>
            <a:off x="7534156" y="4138255"/>
            <a:ext cx="6401633"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Challenge:</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Forecasting merchandise demand across global markets</a:t>
            </a:r>
            <a:endParaRPr lang="en-US" sz="1050" dirty="0"/>
          </a:p>
        </p:txBody>
      </p:sp>
      <p:sp>
        <p:nvSpPr>
          <p:cNvPr id="29" name="Text 27"/>
          <p:cNvSpPr/>
          <p:nvPr/>
        </p:nvSpPr>
        <p:spPr>
          <a:xfrm>
            <a:off x="7534156" y="4436983"/>
            <a:ext cx="6401633"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AI Solution:</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Predictive analytics for inventory optimization and product development</a:t>
            </a:r>
            <a:endParaRPr lang="en-US" sz="1050" dirty="0"/>
          </a:p>
        </p:txBody>
      </p:sp>
      <p:sp>
        <p:nvSpPr>
          <p:cNvPr id="30" name="Text 28"/>
          <p:cNvSpPr/>
          <p:nvPr/>
        </p:nvSpPr>
        <p:spPr>
          <a:xfrm>
            <a:off x="7534156" y="4735711"/>
            <a:ext cx="6401633"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Impact:</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280% increase in merchandise ROI, 60% reduction in inventory waste</a:t>
            </a:r>
            <a:endParaRPr lang="en-US" sz="1050" dirty="0"/>
          </a:p>
        </p:txBody>
      </p:sp>
      <p:sp>
        <p:nvSpPr>
          <p:cNvPr id="31" name="Text 29"/>
          <p:cNvSpPr/>
          <p:nvPr/>
        </p:nvSpPr>
        <p:spPr>
          <a:xfrm>
            <a:off x="543520" y="5307806"/>
            <a:ext cx="4857393" cy="268129"/>
          </a:xfrm>
          <a:prstGeom prst="rect">
            <a:avLst/>
          </a:prstGeom>
          <a:noFill/>
          <a:ln/>
        </p:spPr>
        <p:txBody>
          <a:bodyPr wrap="none" lIns="0" tIns="0" rIns="0" bIns="0" rtlCol="0" anchor="t"/>
          <a:lstStyle/>
          <a:p>
            <a:pPr algn="l" indent="0" marL="0">
              <a:lnSpc>
                <a:spcPts val="2100"/>
              </a:lnSpc>
              <a:buNone/>
            </a:pPr>
            <a:r>
              <a:rPr lang="en-US" sz="1650" dirty="0">
                <a:solidFill>
                  <a:srgbClr val="1F1E1E"/>
                </a:solidFill>
                <a:latin typeface="Alexandria Semi Bold" pitchFamily="34" charset="0"/>
                <a:ea typeface="Alexandria Semi Bold" pitchFamily="34" charset="-122"/>
                <a:cs typeface="Alexandria Semi Bold" pitchFamily="34" charset="-120"/>
              </a:rPr>
              <a:t>Medium-Term Transformation Opportunities</a:t>
            </a:r>
            <a:endParaRPr lang="en-US" sz="1650" dirty="0"/>
          </a:p>
        </p:txBody>
      </p:sp>
      <p:sp>
        <p:nvSpPr>
          <p:cNvPr id="32" name="Shape 30"/>
          <p:cNvSpPr/>
          <p:nvPr/>
        </p:nvSpPr>
        <p:spPr>
          <a:xfrm>
            <a:off x="543520" y="5932408"/>
            <a:ext cx="6605945" cy="1775222"/>
          </a:xfrm>
          <a:prstGeom prst="roundRect">
            <a:avLst>
              <a:gd name="adj" fmla="val 4121"/>
            </a:avLst>
          </a:prstGeom>
          <a:noFill/>
          <a:ln w="15240">
            <a:solidFill>
              <a:srgbClr val="BBC2DC"/>
            </a:solidFill>
            <a:prstDash val="solid"/>
          </a:ln>
        </p:spPr>
      </p:sp>
      <p:sp>
        <p:nvSpPr>
          <p:cNvPr id="33" name="Shape 31"/>
          <p:cNvSpPr/>
          <p:nvPr/>
        </p:nvSpPr>
        <p:spPr>
          <a:xfrm>
            <a:off x="528280" y="5932408"/>
            <a:ext cx="60960" cy="1775222"/>
          </a:xfrm>
          <a:prstGeom prst="roundRect">
            <a:avLst>
              <a:gd name="adj" fmla="val 93622"/>
            </a:avLst>
          </a:prstGeom>
          <a:solidFill>
            <a:srgbClr val="1A2D7A"/>
          </a:solidFill>
          <a:ln/>
        </p:spPr>
      </p:sp>
      <p:sp>
        <p:nvSpPr>
          <p:cNvPr id="34" name="Text 32"/>
          <p:cNvSpPr/>
          <p:nvPr/>
        </p:nvSpPr>
        <p:spPr>
          <a:xfrm>
            <a:off x="740331" y="6083498"/>
            <a:ext cx="2635329" cy="223480"/>
          </a:xfrm>
          <a:prstGeom prst="rect">
            <a:avLst/>
          </a:prstGeom>
          <a:noFill/>
          <a:ln/>
        </p:spPr>
        <p:txBody>
          <a:bodyPr wrap="none" lIns="0" tIns="0" rIns="0" bIns="0" rtlCol="0" anchor="t"/>
          <a:lstStyle/>
          <a:p>
            <a:pPr algn="l" indent="0" marL="0">
              <a:lnSpc>
                <a:spcPts val="1750"/>
              </a:lnSpc>
              <a:buNone/>
            </a:pPr>
            <a:r>
              <a:rPr lang="en-US" sz="1400" dirty="0">
                <a:solidFill>
                  <a:srgbClr val="3B3535"/>
                </a:solidFill>
                <a:latin typeface="Alexandria Semi Bold" pitchFamily="34" charset="0"/>
                <a:ea typeface="Alexandria Semi Bold" pitchFamily="34" charset="-122"/>
                <a:cs typeface="Alexandria Semi Bold" pitchFamily="34" charset="-120"/>
              </a:rPr>
              <a:t>AI-Enhanced Live Production</a:t>
            </a:r>
            <a:endParaRPr lang="en-US" sz="1400" dirty="0"/>
          </a:p>
        </p:txBody>
      </p:sp>
      <p:sp>
        <p:nvSpPr>
          <p:cNvPr id="35" name="Text 33"/>
          <p:cNvSpPr/>
          <p:nvPr/>
        </p:nvSpPr>
        <p:spPr>
          <a:xfrm>
            <a:off x="740331" y="6442829"/>
            <a:ext cx="6258044"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Challenge:</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Capturing and distributing compelling content from 500+ live events</a:t>
            </a:r>
            <a:endParaRPr lang="en-US" sz="1050" dirty="0"/>
          </a:p>
        </p:txBody>
      </p:sp>
      <p:sp>
        <p:nvSpPr>
          <p:cNvPr id="36" name="Text 34"/>
          <p:cNvSpPr/>
          <p:nvPr/>
        </p:nvSpPr>
        <p:spPr>
          <a:xfrm>
            <a:off x="740331" y="6782395"/>
            <a:ext cx="6258044" cy="434578"/>
          </a:xfrm>
          <a:prstGeom prst="rect">
            <a:avLst/>
          </a:prstGeom>
          <a:noFill/>
          <a:ln/>
        </p:spPr>
        <p:txBody>
          <a:bodyPr wrap="squar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AI Solution:</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Computer vision for automated camera control and real-time highlight generation</a:t>
            </a:r>
            <a:endParaRPr lang="en-US" sz="1050" dirty="0"/>
          </a:p>
        </p:txBody>
      </p:sp>
      <p:sp>
        <p:nvSpPr>
          <p:cNvPr id="37" name="Text 35"/>
          <p:cNvSpPr/>
          <p:nvPr/>
        </p:nvSpPr>
        <p:spPr>
          <a:xfrm>
            <a:off x="740331" y="7339251"/>
            <a:ext cx="6258044"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Impact:</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70% reduction in production costs, 400% faster content delivery</a:t>
            </a:r>
            <a:endParaRPr lang="en-US" sz="1050" dirty="0"/>
          </a:p>
        </p:txBody>
      </p:sp>
      <p:sp>
        <p:nvSpPr>
          <p:cNvPr id="38" name="Shape 36"/>
          <p:cNvSpPr/>
          <p:nvPr/>
        </p:nvSpPr>
        <p:spPr>
          <a:xfrm>
            <a:off x="7488555" y="5932408"/>
            <a:ext cx="6605945" cy="1557933"/>
          </a:xfrm>
          <a:prstGeom prst="roundRect">
            <a:avLst>
              <a:gd name="adj" fmla="val 4695"/>
            </a:avLst>
          </a:prstGeom>
          <a:noFill/>
          <a:ln w="15240">
            <a:solidFill>
              <a:srgbClr val="BBC2DC"/>
            </a:solidFill>
            <a:prstDash val="solid"/>
          </a:ln>
        </p:spPr>
      </p:sp>
      <p:sp>
        <p:nvSpPr>
          <p:cNvPr id="39" name="Shape 37"/>
          <p:cNvSpPr/>
          <p:nvPr/>
        </p:nvSpPr>
        <p:spPr>
          <a:xfrm>
            <a:off x="7473315" y="5932408"/>
            <a:ext cx="60960" cy="1557933"/>
          </a:xfrm>
          <a:prstGeom prst="roundRect">
            <a:avLst>
              <a:gd name="adj" fmla="val 93622"/>
            </a:avLst>
          </a:prstGeom>
          <a:solidFill>
            <a:srgbClr val="1A2D7A"/>
          </a:solidFill>
          <a:ln/>
        </p:spPr>
      </p:sp>
      <p:sp>
        <p:nvSpPr>
          <p:cNvPr id="40" name="Text 38"/>
          <p:cNvSpPr/>
          <p:nvPr/>
        </p:nvSpPr>
        <p:spPr>
          <a:xfrm>
            <a:off x="7685365" y="6083498"/>
            <a:ext cx="2354580" cy="223480"/>
          </a:xfrm>
          <a:prstGeom prst="rect">
            <a:avLst/>
          </a:prstGeom>
          <a:noFill/>
          <a:ln/>
        </p:spPr>
        <p:txBody>
          <a:bodyPr wrap="none" lIns="0" tIns="0" rIns="0" bIns="0" rtlCol="0" anchor="t"/>
          <a:lstStyle/>
          <a:p>
            <a:pPr algn="l" indent="0" marL="0">
              <a:lnSpc>
                <a:spcPts val="1750"/>
              </a:lnSpc>
              <a:buNone/>
            </a:pPr>
            <a:r>
              <a:rPr lang="en-US" sz="1400" dirty="0">
                <a:solidFill>
                  <a:srgbClr val="3B3535"/>
                </a:solidFill>
                <a:latin typeface="Alexandria Semi Bold" pitchFamily="34" charset="0"/>
                <a:ea typeface="Alexandria Semi Bold" pitchFamily="34" charset="-122"/>
                <a:cs typeface="Alexandria Semi Bold" pitchFamily="34" charset="-120"/>
              </a:rPr>
              <a:t>Fan Journey Optimization</a:t>
            </a:r>
            <a:endParaRPr lang="en-US" sz="1400" dirty="0"/>
          </a:p>
        </p:txBody>
      </p:sp>
      <p:sp>
        <p:nvSpPr>
          <p:cNvPr id="41" name="Text 39"/>
          <p:cNvSpPr/>
          <p:nvPr/>
        </p:nvSpPr>
        <p:spPr>
          <a:xfrm>
            <a:off x="7685365" y="6442829"/>
            <a:ext cx="6258044"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Challenge:</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Converting casual viewers into premium subscribers and merchandise buyers</a:t>
            </a:r>
            <a:endParaRPr lang="en-US" sz="1050" dirty="0"/>
          </a:p>
        </p:txBody>
      </p:sp>
      <p:sp>
        <p:nvSpPr>
          <p:cNvPr id="42" name="Text 40"/>
          <p:cNvSpPr/>
          <p:nvPr/>
        </p:nvSpPr>
        <p:spPr>
          <a:xfrm>
            <a:off x="7685365" y="6782395"/>
            <a:ext cx="6258044"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AI Solution:</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Predictive analytics for personalized fan experiences and targeted offers</a:t>
            </a:r>
            <a:endParaRPr lang="en-US" sz="1050" dirty="0"/>
          </a:p>
        </p:txBody>
      </p:sp>
      <p:sp>
        <p:nvSpPr>
          <p:cNvPr id="43" name="Text 41"/>
          <p:cNvSpPr/>
          <p:nvPr/>
        </p:nvSpPr>
        <p:spPr>
          <a:xfrm>
            <a:off x="7685365" y="7121962"/>
            <a:ext cx="6258044" cy="217289"/>
          </a:xfrm>
          <a:prstGeom prst="rect">
            <a:avLst/>
          </a:prstGeom>
          <a:noFill/>
          <a:ln/>
        </p:spPr>
        <p:txBody>
          <a:bodyPr wrap="none" lIns="0" tIns="0" rIns="0" bIns="0" rtlCol="0" anchor="t"/>
          <a:lstStyle/>
          <a:p>
            <a:pPr algn="l" indent="0" marL="0">
              <a:lnSpc>
                <a:spcPts val="1700"/>
              </a:lnSpc>
              <a:buNone/>
            </a:pPr>
            <a:r>
              <a:rPr lang="en-US" sz="1050" b="1" dirty="0">
                <a:solidFill>
                  <a:srgbClr val="3B3535"/>
                </a:solidFill>
                <a:latin typeface="Sora Light" pitchFamily="34" charset="0"/>
                <a:ea typeface="Sora Light" pitchFamily="34" charset="-122"/>
                <a:cs typeface="Sora Light" pitchFamily="34" charset="-120"/>
              </a:rPr>
              <a:t>Impact:</a:t>
            </a:r>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 450% improvement in conversion rates, 35% increase in fan lifetime value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3527" y="408503"/>
            <a:ext cx="7053143" cy="488156"/>
          </a:xfrm>
          <a:prstGeom prst="rect">
            <a:avLst/>
          </a:prstGeom>
          <a:noFill/>
          <a:ln/>
        </p:spPr>
        <p:txBody>
          <a:bodyPr wrap="none" lIns="0" tIns="0" rIns="0" bIns="0" rtlCol="0" anchor="t"/>
          <a:lstStyle/>
          <a:p>
            <a:pPr algn="l" indent="0" marL="0">
              <a:lnSpc>
                <a:spcPts val="3800"/>
              </a:lnSpc>
              <a:buNone/>
            </a:pPr>
            <a:r>
              <a:rPr lang="en-US" sz="3050" dirty="0">
                <a:solidFill>
                  <a:srgbClr val="1F1E1E"/>
                </a:solidFill>
                <a:latin typeface="Alexandria Semi Bold" pitchFamily="34" charset="0"/>
                <a:ea typeface="Alexandria Semi Bold" pitchFamily="34" charset="-122"/>
                <a:cs typeface="Alexandria Semi Bold" pitchFamily="34" charset="-120"/>
              </a:rPr>
              <a:t>Financial Impact Projection for TKO</a:t>
            </a:r>
            <a:endParaRPr lang="en-US" sz="3050" dirty="0"/>
          </a:p>
        </p:txBody>
      </p:sp>
      <p:sp>
        <p:nvSpPr>
          <p:cNvPr id="3" name="Text 1"/>
          <p:cNvSpPr/>
          <p:nvPr/>
        </p:nvSpPr>
        <p:spPr>
          <a:xfrm>
            <a:off x="593527" y="1267539"/>
            <a:ext cx="4488180" cy="292894"/>
          </a:xfrm>
          <a:prstGeom prst="rect">
            <a:avLst/>
          </a:prstGeom>
          <a:noFill/>
          <a:ln/>
        </p:spPr>
        <p:txBody>
          <a:bodyPr wrap="none" lIns="0" tIns="0" rIns="0" bIns="0" rtlCol="0" anchor="t"/>
          <a:lstStyle/>
          <a:p>
            <a:pPr algn="l" indent="0" marL="0">
              <a:lnSpc>
                <a:spcPts val="2300"/>
              </a:lnSpc>
              <a:buNone/>
            </a:pPr>
            <a:r>
              <a:rPr lang="en-US" sz="1800" dirty="0">
                <a:solidFill>
                  <a:srgbClr val="1F1E1E"/>
                </a:solidFill>
                <a:latin typeface="Alexandria Semi Bold" pitchFamily="34" charset="0"/>
                <a:ea typeface="Alexandria Semi Bold" pitchFamily="34" charset="-122"/>
                <a:cs typeface="Alexandria Semi Bold" pitchFamily="34" charset="-120"/>
              </a:rPr>
              <a:t>Revenue Enhancement Opportunities</a:t>
            </a:r>
            <a:endParaRPr lang="en-US" sz="1800" dirty="0"/>
          </a:p>
        </p:txBody>
      </p:sp>
      <p:sp>
        <p:nvSpPr>
          <p:cNvPr id="4" name="Shape 2"/>
          <p:cNvSpPr/>
          <p:nvPr/>
        </p:nvSpPr>
        <p:spPr>
          <a:xfrm>
            <a:off x="593527" y="1801535"/>
            <a:ext cx="6005870" cy="185380"/>
          </a:xfrm>
          <a:prstGeom prst="roundRect">
            <a:avLst>
              <a:gd name="adj" fmla="val 33620"/>
            </a:avLst>
          </a:prstGeom>
          <a:solidFill>
            <a:srgbClr val="D5DCF6"/>
          </a:solidFill>
          <a:ln w="7620">
            <a:solidFill>
              <a:srgbClr val="BBC2DC"/>
            </a:solidFill>
            <a:prstDash val="solid"/>
          </a:ln>
        </p:spPr>
      </p:sp>
      <p:sp>
        <p:nvSpPr>
          <p:cNvPr id="5" name="Shape 3"/>
          <p:cNvSpPr/>
          <p:nvPr/>
        </p:nvSpPr>
        <p:spPr>
          <a:xfrm>
            <a:off x="593527" y="1801535"/>
            <a:ext cx="1801654" cy="185380"/>
          </a:xfrm>
          <a:prstGeom prst="roundRect">
            <a:avLst>
              <a:gd name="adj" fmla="val 33620"/>
            </a:avLst>
          </a:prstGeom>
          <a:solidFill>
            <a:srgbClr val="1A2D7A"/>
          </a:solidFill>
          <a:ln/>
        </p:spPr>
      </p:sp>
      <p:sp>
        <p:nvSpPr>
          <p:cNvPr id="6" name="Text 4"/>
          <p:cNvSpPr/>
          <p:nvPr/>
        </p:nvSpPr>
        <p:spPr>
          <a:xfrm>
            <a:off x="6710601" y="1801535"/>
            <a:ext cx="423624" cy="185380"/>
          </a:xfrm>
          <a:prstGeom prst="rect">
            <a:avLst/>
          </a:prstGeom>
          <a:noFill/>
          <a:ln/>
        </p:spPr>
        <p:txBody>
          <a:bodyPr wrap="none" lIns="0" tIns="0" rIns="0" bIns="0" rtlCol="0" anchor="t"/>
          <a:lstStyle/>
          <a:p>
            <a:pPr algn="l" indent="0" marL="0">
              <a:lnSpc>
                <a:spcPts val="1450"/>
              </a:lnSpc>
              <a:buNone/>
            </a:pPr>
            <a:r>
              <a:rPr lang="en-US" sz="1450" dirty="0">
                <a:solidFill>
                  <a:srgbClr val="3B3535"/>
                </a:solidFill>
                <a:latin typeface="Alexandria Semi Bold" pitchFamily="34" charset="0"/>
                <a:ea typeface="Alexandria Semi Bold" pitchFamily="34" charset="-122"/>
                <a:cs typeface="Alexandria Semi Bold" pitchFamily="34" charset="-120"/>
              </a:rPr>
              <a:t>30%</a:t>
            </a:r>
            <a:endParaRPr lang="en-US" sz="1450" dirty="0"/>
          </a:p>
        </p:txBody>
      </p:sp>
      <p:sp>
        <p:nvSpPr>
          <p:cNvPr id="7" name="Text 5"/>
          <p:cNvSpPr/>
          <p:nvPr/>
        </p:nvSpPr>
        <p:spPr>
          <a:xfrm>
            <a:off x="593527" y="2172295"/>
            <a:ext cx="2167295" cy="244078"/>
          </a:xfrm>
          <a:prstGeom prst="rect">
            <a:avLst/>
          </a:prstGeom>
          <a:noFill/>
          <a:ln/>
        </p:spPr>
        <p:txBody>
          <a:bodyPr wrap="none" lIns="0" tIns="0" rIns="0" bIns="0" rtlCol="0" anchor="t"/>
          <a:lstStyle/>
          <a:p>
            <a:pPr algn="l" indent="0" marL="0">
              <a:lnSpc>
                <a:spcPts val="1900"/>
              </a:lnSpc>
              <a:buNone/>
            </a:pPr>
            <a:r>
              <a:rPr lang="en-US" sz="1500" dirty="0">
                <a:solidFill>
                  <a:srgbClr val="3B3535"/>
                </a:solidFill>
                <a:latin typeface="Alexandria Semi Bold" pitchFamily="34" charset="0"/>
                <a:ea typeface="Alexandria Semi Bold" pitchFamily="34" charset="-122"/>
                <a:cs typeface="Alexandria Semi Bold" pitchFamily="34" charset="-120"/>
              </a:rPr>
              <a:t>Content Monetization</a:t>
            </a:r>
            <a:endParaRPr lang="en-US" sz="1500" dirty="0"/>
          </a:p>
        </p:txBody>
      </p:sp>
      <p:sp>
        <p:nvSpPr>
          <p:cNvPr id="8" name="Text 6"/>
          <p:cNvSpPr/>
          <p:nvPr/>
        </p:nvSpPr>
        <p:spPr>
          <a:xfrm>
            <a:off x="593527" y="2564725"/>
            <a:ext cx="6540698" cy="474583"/>
          </a:xfrm>
          <a:prstGeom prst="rect">
            <a:avLst/>
          </a:prstGeom>
          <a:noFill/>
          <a:ln/>
        </p:spPr>
        <p:txBody>
          <a:bodyPr wrap="square" lIns="0" tIns="0" rIns="0" bIns="0" rtlCol="0" anchor="t"/>
          <a:lstStyle/>
          <a:p>
            <a:pPr algn="l" indent="0" marL="0">
              <a:lnSpc>
                <a:spcPts val="1850"/>
              </a:lnSpc>
              <a:buNone/>
            </a:pPr>
            <a:r>
              <a:rPr lang="en-US" sz="1150" dirty="0">
                <a:solidFill>
                  <a:srgbClr val="3B3535"/>
                </a:solidFill>
                <a:latin typeface="Sora Light" pitchFamily="34" charset="0"/>
                <a:ea typeface="Sora Light" pitchFamily="34" charset="-122"/>
                <a:cs typeface="Sora Light" pitchFamily="34" charset="-120"/>
              </a:rPr>
              <a:t>AI-powered personalization can increase international revenue by $420 million (30% of current $1.4B international opportunity)</a:t>
            </a:r>
            <a:endParaRPr lang="en-US" sz="1150" dirty="0"/>
          </a:p>
        </p:txBody>
      </p:sp>
      <p:sp>
        <p:nvSpPr>
          <p:cNvPr id="9" name="Shape 7"/>
          <p:cNvSpPr/>
          <p:nvPr/>
        </p:nvSpPr>
        <p:spPr>
          <a:xfrm>
            <a:off x="593527" y="3484364"/>
            <a:ext cx="6059091" cy="185380"/>
          </a:xfrm>
          <a:prstGeom prst="roundRect">
            <a:avLst>
              <a:gd name="adj" fmla="val 33620"/>
            </a:avLst>
          </a:prstGeom>
          <a:solidFill>
            <a:srgbClr val="D5DCF6"/>
          </a:solidFill>
          <a:ln w="7620">
            <a:solidFill>
              <a:srgbClr val="BBC2DC"/>
            </a:solidFill>
            <a:prstDash val="solid"/>
          </a:ln>
        </p:spPr>
      </p:sp>
      <p:sp>
        <p:nvSpPr>
          <p:cNvPr id="10" name="Shape 8"/>
          <p:cNvSpPr/>
          <p:nvPr/>
        </p:nvSpPr>
        <p:spPr>
          <a:xfrm>
            <a:off x="593527" y="3484364"/>
            <a:ext cx="908804" cy="185380"/>
          </a:xfrm>
          <a:prstGeom prst="roundRect">
            <a:avLst>
              <a:gd name="adj" fmla="val 33620"/>
            </a:avLst>
          </a:prstGeom>
          <a:solidFill>
            <a:srgbClr val="1A2D7A"/>
          </a:solidFill>
          <a:ln/>
        </p:spPr>
      </p:sp>
      <p:sp>
        <p:nvSpPr>
          <p:cNvPr id="11" name="Text 9"/>
          <p:cNvSpPr/>
          <p:nvPr/>
        </p:nvSpPr>
        <p:spPr>
          <a:xfrm>
            <a:off x="6763822" y="3484364"/>
            <a:ext cx="370403" cy="185380"/>
          </a:xfrm>
          <a:prstGeom prst="rect">
            <a:avLst/>
          </a:prstGeom>
          <a:noFill/>
          <a:ln/>
        </p:spPr>
        <p:txBody>
          <a:bodyPr wrap="none" lIns="0" tIns="0" rIns="0" bIns="0" rtlCol="0" anchor="t"/>
          <a:lstStyle/>
          <a:p>
            <a:pPr algn="l" indent="0" marL="0">
              <a:lnSpc>
                <a:spcPts val="1450"/>
              </a:lnSpc>
              <a:buNone/>
            </a:pPr>
            <a:r>
              <a:rPr lang="en-US" sz="1450" dirty="0">
                <a:solidFill>
                  <a:srgbClr val="3B3535"/>
                </a:solidFill>
                <a:latin typeface="Alexandria Semi Bold" pitchFamily="34" charset="0"/>
                <a:ea typeface="Alexandria Semi Bold" pitchFamily="34" charset="-122"/>
                <a:cs typeface="Alexandria Semi Bold" pitchFamily="34" charset="-120"/>
              </a:rPr>
              <a:t>15%</a:t>
            </a:r>
            <a:endParaRPr lang="en-US" sz="1450" dirty="0"/>
          </a:p>
        </p:txBody>
      </p:sp>
      <p:sp>
        <p:nvSpPr>
          <p:cNvPr id="12" name="Text 10"/>
          <p:cNvSpPr/>
          <p:nvPr/>
        </p:nvSpPr>
        <p:spPr>
          <a:xfrm>
            <a:off x="593527" y="3855125"/>
            <a:ext cx="1952506" cy="244078"/>
          </a:xfrm>
          <a:prstGeom prst="rect">
            <a:avLst/>
          </a:prstGeom>
          <a:noFill/>
          <a:ln/>
        </p:spPr>
        <p:txBody>
          <a:bodyPr wrap="none" lIns="0" tIns="0" rIns="0" bIns="0" rtlCol="0" anchor="t"/>
          <a:lstStyle/>
          <a:p>
            <a:pPr algn="l" indent="0" marL="0">
              <a:lnSpc>
                <a:spcPts val="1900"/>
              </a:lnSpc>
              <a:buNone/>
            </a:pPr>
            <a:r>
              <a:rPr lang="en-US" sz="1500" dirty="0">
                <a:solidFill>
                  <a:srgbClr val="3B3535"/>
                </a:solidFill>
                <a:latin typeface="Alexandria Semi Bold" pitchFamily="34" charset="0"/>
                <a:ea typeface="Alexandria Semi Bold" pitchFamily="34" charset="-122"/>
                <a:cs typeface="Alexandria Semi Bold" pitchFamily="34" charset="-120"/>
              </a:rPr>
              <a:t>Event Optimization</a:t>
            </a:r>
            <a:endParaRPr lang="en-US" sz="1500" dirty="0"/>
          </a:p>
        </p:txBody>
      </p:sp>
      <p:sp>
        <p:nvSpPr>
          <p:cNvPr id="13" name="Text 11"/>
          <p:cNvSpPr/>
          <p:nvPr/>
        </p:nvSpPr>
        <p:spPr>
          <a:xfrm>
            <a:off x="593527" y="4247555"/>
            <a:ext cx="6540698" cy="237292"/>
          </a:xfrm>
          <a:prstGeom prst="rect">
            <a:avLst/>
          </a:prstGeom>
          <a:noFill/>
          <a:ln/>
        </p:spPr>
        <p:txBody>
          <a:bodyPr wrap="none" lIns="0" tIns="0" rIns="0" bIns="0" rtlCol="0" anchor="t"/>
          <a:lstStyle/>
          <a:p>
            <a:pPr algn="l" indent="0" marL="0">
              <a:lnSpc>
                <a:spcPts val="1850"/>
              </a:lnSpc>
              <a:buNone/>
            </a:pPr>
            <a:r>
              <a:rPr lang="en-US" sz="1150" dirty="0">
                <a:solidFill>
                  <a:srgbClr val="3B3535"/>
                </a:solidFill>
                <a:latin typeface="Sora Light" pitchFamily="34" charset="0"/>
                <a:ea typeface="Sora Light" pitchFamily="34" charset="-122"/>
                <a:cs typeface="Sora Light" pitchFamily="34" charset="-120"/>
              </a:rPr>
              <a:t>Predictive analytics can boost live event revenue by $75 million annually</a:t>
            </a:r>
            <a:endParaRPr lang="en-US" sz="1150" dirty="0"/>
          </a:p>
        </p:txBody>
      </p:sp>
      <p:sp>
        <p:nvSpPr>
          <p:cNvPr id="14" name="Shape 12"/>
          <p:cNvSpPr/>
          <p:nvPr/>
        </p:nvSpPr>
        <p:spPr>
          <a:xfrm>
            <a:off x="593527" y="4929902"/>
            <a:ext cx="6005989" cy="185380"/>
          </a:xfrm>
          <a:prstGeom prst="roundRect">
            <a:avLst>
              <a:gd name="adj" fmla="val 33620"/>
            </a:avLst>
          </a:prstGeom>
          <a:solidFill>
            <a:srgbClr val="D5DCF6"/>
          </a:solidFill>
          <a:ln w="7620">
            <a:solidFill>
              <a:srgbClr val="BBC2DC"/>
            </a:solidFill>
            <a:prstDash val="solid"/>
          </a:ln>
        </p:spPr>
      </p:sp>
      <p:sp>
        <p:nvSpPr>
          <p:cNvPr id="15" name="Shape 13"/>
          <p:cNvSpPr/>
          <p:nvPr/>
        </p:nvSpPr>
        <p:spPr>
          <a:xfrm>
            <a:off x="593527" y="4929902"/>
            <a:ext cx="1201103" cy="185380"/>
          </a:xfrm>
          <a:prstGeom prst="roundRect">
            <a:avLst>
              <a:gd name="adj" fmla="val 33620"/>
            </a:avLst>
          </a:prstGeom>
          <a:solidFill>
            <a:srgbClr val="1A2D7A"/>
          </a:solidFill>
          <a:ln/>
        </p:spPr>
      </p:sp>
      <p:sp>
        <p:nvSpPr>
          <p:cNvPr id="16" name="Text 14"/>
          <p:cNvSpPr/>
          <p:nvPr/>
        </p:nvSpPr>
        <p:spPr>
          <a:xfrm>
            <a:off x="6710720" y="4929902"/>
            <a:ext cx="423505" cy="185380"/>
          </a:xfrm>
          <a:prstGeom prst="rect">
            <a:avLst/>
          </a:prstGeom>
          <a:noFill/>
          <a:ln/>
        </p:spPr>
        <p:txBody>
          <a:bodyPr wrap="none" lIns="0" tIns="0" rIns="0" bIns="0" rtlCol="0" anchor="t"/>
          <a:lstStyle/>
          <a:p>
            <a:pPr algn="l" indent="0" marL="0">
              <a:lnSpc>
                <a:spcPts val="1450"/>
              </a:lnSpc>
              <a:buNone/>
            </a:pPr>
            <a:r>
              <a:rPr lang="en-US" sz="1450" dirty="0">
                <a:solidFill>
                  <a:srgbClr val="3B3535"/>
                </a:solidFill>
                <a:latin typeface="Alexandria Semi Bold" pitchFamily="34" charset="0"/>
                <a:ea typeface="Alexandria Semi Bold" pitchFamily="34" charset="-122"/>
                <a:cs typeface="Alexandria Semi Bold" pitchFamily="34" charset="-120"/>
              </a:rPr>
              <a:t>20%</a:t>
            </a:r>
            <a:endParaRPr lang="en-US" sz="1450" dirty="0"/>
          </a:p>
        </p:txBody>
      </p:sp>
      <p:sp>
        <p:nvSpPr>
          <p:cNvPr id="17" name="Text 15"/>
          <p:cNvSpPr/>
          <p:nvPr/>
        </p:nvSpPr>
        <p:spPr>
          <a:xfrm>
            <a:off x="593527" y="5300663"/>
            <a:ext cx="2496979" cy="244078"/>
          </a:xfrm>
          <a:prstGeom prst="rect">
            <a:avLst/>
          </a:prstGeom>
          <a:noFill/>
          <a:ln/>
        </p:spPr>
        <p:txBody>
          <a:bodyPr wrap="none" lIns="0" tIns="0" rIns="0" bIns="0" rtlCol="0" anchor="t"/>
          <a:lstStyle/>
          <a:p>
            <a:pPr algn="l" indent="0" marL="0">
              <a:lnSpc>
                <a:spcPts val="1900"/>
              </a:lnSpc>
              <a:buNone/>
            </a:pPr>
            <a:r>
              <a:rPr lang="en-US" sz="1500" dirty="0">
                <a:solidFill>
                  <a:srgbClr val="3B3535"/>
                </a:solidFill>
                <a:latin typeface="Alexandria Semi Bold" pitchFamily="34" charset="0"/>
                <a:ea typeface="Alexandria Semi Bold" pitchFamily="34" charset="-122"/>
                <a:cs typeface="Alexandria Semi Bold" pitchFamily="34" charset="-120"/>
              </a:rPr>
              <a:t>Merchandise Intelligence</a:t>
            </a:r>
            <a:endParaRPr lang="en-US" sz="1500" dirty="0"/>
          </a:p>
        </p:txBody>
      </p:sp>
      <p:sp>
        <p:nvSpPr>
          <p:cNvPr id="18" name="Text 16"/>
          <p:cNvSpPr/>
          <p:nvPr/>
        </p:nvSpPr>
        <p:spPr>
          <a:xfrm>
            <a:off x="593527" y="5693093"/>
            <a:ext cx="6540698" cy="237292"/>
          </a:xfrm>
          <a:prstGeom prst="rect">
            <a:avLst/>
          </a:prstGeom>
          <a:noFill/>
          <a:ln/>
        </p:spPr>
        <p:txBody>
          <a:bodyPr wrap="none" lIns="0" tIns="0" rIns="0" bIns="0" rtlCol="0" anchor="t"/>
          <a:lstStyle/>
          <a:p>
            <a:pPr algn="l" indent="0" marL="0">
              <a:lnSpc>
                <a:spcPts val="1850"/>
              </a:lnSpc>
              <a:buNone/>
            </a:pPr>
            <a:r>
              <a:rPr lang="en-US" sz="1150" dirty="0">
                <a:solidFill>
                  <a:srgbClr val="3B3535"/>
                </a:solidFill>
                <a:latin typeface="Sora Light" pitchFamily="34" charset="0"/>
                <a:ea typeface="Sora Light" pitchFamily="34" charset="-122"/>
                <a:cs typeface="Sora Light" pitchFamily="34" charset="-120"/>
              </a:rPr>
              <a:t>AI forecasting can increase consumer products revenue by $95 million</a:t>
            </a:r>
            <a:endParaRPr lang="en-US" sz="1150" dirty="0"/>
          </a:p>
        </p:txBody>
      </p:sp>
      <p:sp>
        <p:nvSpPr>
          <p:cNvPr id="19" name="Text 17"/>
          <p:cNvSpPr/>
          <p:nvPr/>
        </p:nvSpPr>
        <p:spPr>
          <a:xfrm>
            <a:off x="7503795" y="1267539"/>
            <a:ext cx="3546753" cy="292894"/>
          </a:xfrm>
          <a:prstGeom prst="rect">
            <a:avLst/>
          </a:prstGeom>
          <a:noFill/>
          <a:ln/>
        </p:spPr>
        <p:txBody>
          <a:bodyPr wrap="none" lIns="0" tIns="0" rIns="0" bIns="0" rtlCol="0" anchor="t"/>
          <a:lstStyle/>
          <a:p>
            <a:pPr algn="l" indent="0" marL="0">
              <a:lnSpc>
                <a:spcPts val="2300"/>
              </a:lnSpc>
              <a:buNone/>
            </a:pPr>
            <a:r>
              <a:rPr lang="en-US" sz="1800" dirty="0">
                <a:solidFill>
                  <a:srgbClr val="1F1E1E"/>
                </a:solidFill>
                <a:latin typeface="Alexandria Semi Bold" pitchFamily="34" charset="0"/>
                <a:ea typeface="Alexandria Semi Bold" pitchFamily="34" charset="-122"/>
                <a:cs typeface="Alexandria Semi Bold" pitchFamily="34" charset="-120"/>
              </a:rPr>
              <a:t>Cost Reduction Opportunities</a:t>
            </a:r>
            <a:endParaRPr lang="en-US" sz="1800" dirty="0"/>
          </a:p>
        </p:txBody>
      </p:sp>
      <p:sp>
        <p:nvSpPr>
          <p:cNvPr id="20" name="Shape 18"/>
          <p:cNvSpPr/>
          <p:nvPr/>
        </p:nvSpPr>
        <p:spPr>
          <a:xfrm>
            <a:off x="7503795" y="1801535"/>
            <a:ext cx="5999559" cy="185380"/>
          </a:xfrm>
          <a:prstGeom prst="roundRect">
            <a:avLst>
              <a:gd name="adj" fmla="val 33620"/>
            </a:avLst>
          </a:prstGeom>
          <a:solidFill>
            <a:srgbClr val="D5DCF6"/>
          </a:solidFill>
          <a:ln w="7620">
            <a:solidFill>
              <a:srgbClr val="BBC2DC"/>
            </a:solidFill>
            <a:prstDash val="solid"/>
          </a:ln>
        </p:spPr>
      </p:sp>
      <p:sp>
        <p:nvSpPr>
          <p:cNvPr id="21" name="Shape 19"/>
          <p:cNvSpPr/>
          <p:nvPr/>
        </p:nvSpPr>
        <p:spPr>
          <a:xfrm>
            <a:off x="7503795" y="1801535"/>
            <a:ext cx="3599736" cy="185380"/>
          </a:xfrm>
          <a:prstGeom prst="roundRect">
            <a:avLst>
              <a:gd name="adj" fmla="val 33620"/>
            </a:avLst>
          </a:prstGeom>
          <a:solidFill>
            <a:srgbClr val="1A2D7A"/>
          </a:solidFill>
          <a:ln/>
        </p:spPr>
      </p:sp>
      <p:sp>
        <p:nvSpPr>
          <p:cNvPr id="22" name="Text 20"/>
          <p:cNvSpPr/>
          <p:nvPr/>
        </p:nvSpPr>
        <p:spPr>
          <a:xfrm>
            <a:off x="13614559" y="1801535"/>
            <a:ext cx="429935" cy="185380"/>
          </a:xfrm>
          <a:prstGeom prst="rect">
            <a:avLst/>
          </a:prstGeom>
          <a:noFill/>
          <a:ln/>
        </p:spPr>
        <p:txBody>
          <a:bodyPr wrap="none" lIns="0" tIns="0" rIns="0" bIns="0" rtlCol="0" anchor="t"/>
          <a:lstStyle/>
          <a:p>
            <a:pPr algn="l" indent="0" marL="0">
              <a:lnSpc>
                <a:spcPts val="1450"/>
              </a:lnSpc>
              <a:buNone/>
            </a:pPr>
            <a:r>
              <a:rPr lang="en-US" sz="1450" dirty="0">
                <a:solidFill>
                  <a:srgbClr val="3B3535"/>
                </a:solidFill>
                <a:latin typeface="Alexandria Semi Bold" pitchFamily="34" charset="0"/>
                <a:ea typeface="Alexandria Semi Bold" pitchFamily="34" charset="-122"/>
                <a:cs typeface="Alexandria Semi Bold" pitchFamily="34" charset="-120"/>
              </a:rPr>
              <a:t>60%</a:t>
            </a:r>
            <a:endParaRPr lang="en-US" sz="1450" dirty="0"/>
          </a:p>
        </p:txBody>
      </p:sp>
      <p:sp>
        <p:nvSpPr>
          <p:cNvPr id="23" name="Text 21"/>
          <p:cNvSpPr/>
          <p:nvPr/>
        </p:nvSpPr>
        <p:spPr>
          <a:xfrm>
            <a:off x="7503795" y="2172295"/>
            <a:ext cx="2132767" cy="244078"/>
          </a:xfrm>
          <a:prstGeom prst="rect">
            <a:avLst/>
          </a:prstGeom>
          <a:noFill/>
          <a:ln/>
        </p:spPr>
        <p:txBody>
          <a:bodyPr wrap="none" lIns="0" tIns="0" rIns="0" bIns="0" rtlCol="0" anchor="t"/>
          <a:lstStyle/>
          <a:p>
            <a:pPr algn="l" indent="0" marL="0">
              <a:lnSpc>
                <a:spcPts val="1900"/>
              </a:lnSpc>
              <a:buNone/>
            </a:pPr>
            <a:r>
              <a:rPr lang="en-US" sz="1500" dirty="0">
                <a:solidFill>
                  <a:srgbClr val="3B3535"/>
                </a:solidFill>
                <a:latin typeface="Alexandria Semi Bold" pitchFamily="34" charset="0"/>
                <a:ea typeface="Alexandria Semi Bold" pitchFamily="34" charset="-122"/>
                <a:cs typeface="Alexandria Semi Bold" pitchFamily="34" charset="-120"/>
              </a:rPr>
              <a:t>Production Efficiency</a:t>
            </a:r>
            <a:endParaRPr lang="en-US" sz="1500" dirty="0"/>
          </a:p>
        </p:txBody>
      </p:sp>
      <p:sp>
        <p:nvSpPr>
          <p:cNvPr id="24" name="Text 22"/>
          <p:cNvSpPr/>
          <p:nvPr/>
        </p:nvSpPr>
        <p:spPr>
          <a:xfrm>
            <a:off x="7503795" y="2564725"/>
            <a:ext cx="6540698" cy="237292"/>
          </a:xfrm>
          <a:prstGeom prst="rect">
            <a:avLst/>
          </a:prstGeom>
          <a:noFill/>
          <a:ln/>
        </p:spPr>
        <p:txBody>
          <a:bodyPr wrap="none" lIns="0" tIns="0" rIns="0" bIns="0" rtlCol="0" anchor="t"/>
          <a:lstStyle/>
          <a:p>
            <a:pPr algn="l" indent="0" marL="0">
              <a:lnSpc>
                <a:spcPts val="1850"/>
              </a:lnSpc>
              <a:buNone/>
            </a:pPr>
            <a:r>
              <a:rPr lang="en-US" sz="1150" dirty="0">
                <a:solidFill>
                  <a:srgbClr val="3B3535"/>
                </a:solidFill>
                <a:latin typeface="Sora Light" pitchFamily="34" charset="0"/>
                <a:ea typeface="Sora Light" pitchFamily="34" charset="-122"/>
                <a:cs typeface="Sora Light" pitchFamily="34" charset="-120"/>
              </a:rPr>
              <a:t>AI automation can reduce content production costs by $180 million annually</a:t>
            </a:r>
            <a:endParaRPr lang="en-US" sz="1150" dirty="0"/>
          </a:p>
        </p:txBody>
      </p:sp>
      <p:sp>
        <p:nvSpPr>
          <p:cNvPr id="25" name="Shape 23"/>
          <p:cNvSpPr/>
          <p:nvPr/>
        </p:nvSpPr>
        <p:spPr>
          <a:xfrm>
            <a:off x="7503795" y="3247073"/>
            <a:ext cx="6021229" cy="185380"/>
          </a:xfrm>
          <a:prstGeom prst="roundRect">
            <a:avLst>
              <a:gd name="adj" fmla="val 33620"/>
            </a:avLst>
          </a:prstGeom>
          <a:solidFill>
            <a:srgbClr val="D5DCF6"/>
          </a:solidFill>
          <a:ln w="7620">
            <a:solidFill>
              <a:srgbClr val="BBC2DC"/>
            </a:solidFill>
            <a:prstDash val="solid"/>
          </a:ln>
        </p:spPr>
      </p:sp>
      <p:sp>
        <p:nvSpPr>
          <p:cNvPr id="26" name="Shape 24"/>
          <p:cNvSpPr/>
          <p:nvPr/>
        </p:nvSpPr>
        <p:spPr>
          <a:xfrm>
            <a:off x="7503795" y="3247073"/>
            <a:ext cx="1505307" cy="185380"/>
          </a:xfrm>
          <a:prstGeom prst="roundRect">
            <a:avLst>
              <a:gd name="adj" fmla="val 33620"/>
            </a:avLst>
          </a:prstGeom>
          <a:solidFill>
            <a:srgbClr val="1A2D7A"/>
          </a:solidFill>
          <a:ln/>
        </p:spPr>
      </p:sp>
      <p:sp>
        <p:nvSpPr>
          <p:cNvPr id="27" name="Text 25"/>
          <p:cNvSpPr/>
          <p:nvPr/>
        </p:nvSpPr>
        <p:spPr>
          <a:xfrm>
            <a:off x="13636228" y="3247073"/>
            <a:ext cx="408265" cy="185380"/>
          </a:xfrm>
          <a:prstGeom prst="rect">
            <a:avLst/>
          </a:prstGeom>
          <a:noFill/>
          <a:ln/>
        </p:spPr>
        <p:txBody>
          <a:bodyPr wrap="none" lIns="0" tIns="0" rIns="0" bIns="0" rtlCol="0" anchor="t"/>
          <a:lstStyle/>
          <a:p>
            <a:pPr algn="l" indent="0" marL="0">
              <a:lnSpc>
                <a:spcPts val="1450"/>
              </a:lnSpc>
              <a:buNone/>
            </a:pPr>
            <a:r>
              <a:rPr lang="en-US" sz="1450" dirty="0">
                <a:solidFill>
                  <a:srgbClr val="3B3535"/>
                </a:solidFill>
                <a:latin typeface="Alexandria Semi Bold" pitchFamily="34" charset="0"/>
                <a:ea typeface="Alexandria Semi Bold" pitchFamily="34" charset="-122"/>
                <a:cs typeface="Alexandria Semi Bold" pitchFamily="34" charset="-120"/>
              </a:rPr>
              <a:t>25%</a:t>
            </a:r>
            <a:endParaRPr lang="en-US" sz="1450" dirty="0"/>
          </a:p>
        </p:txBody>
      </p:sp>
      <p:sp>
        <p:nvSpPr>
          <p:cNvPr id="28" name="Text 26"/>
          <p:cNvSpPr/>
          <p:nvPr/>
        </p:nvSpPr>
        <p:spPr>
          <a:xfrm>
            <a:off x="7503795" y="3617833"/>
            <a:ext cx="2540794" cy="244078"/>
          </a:xfrm>
          <a:prstGeom prst="rect">
            <a:avLst/>
          </a:prstGeom>
          <a:noFill/>
          <a:ln/>
        </p:spPr>
        <p:txBody>
          <a:bodyPr wrap="none" lIns="0" tIns="0" rIns="0" bIns="0" rtlCol="0" anchor="t"/>
          <a:lstStyle/>
          <a:p>
            <a:pPr algn="l" indent="0" marL="0">
              <a:lnSpc>
                <a:spcPts val="1900"/>
              </a:lnSpc>
              <a:buNone/>
            </a:pPr>
            <a:r>
              <a:rPr lang="en-US" sz="1500" dirty="0">
                <a:solidFill>
                  <a:srgbClr val="3B3535"/>
                </a:solidFill>
                <a:latin typeface="Alexandria Semi Bold" pitchFamily="34" charset="0"/>
                <a:ea typeface="Alexandria Semi Bold" pitchFamily="34" charset="-122"/>
                <a:cs typeface="Alexandria Semi Bold" pitchFamily="34" charset="-120"/>
              </a:rPr>
              <a:t>Operational Optimization</a:t>
            </a:r>
            <a:endParaRPr lang="en-US" sz="1500" dirty="0"/>
          </a:p>
        </p:txBody>
      </p:sp>
      <p:sp>
        <p:nvSpPr>
          <p:cNvPr id="29" name="Text 27"/>
          <p:cNvSpPr/>
          <p:nvPr/>
        </p:nvSpPr>
        <p:spPr>
          <a:xfrm>
            <a:off x="7503795" y="4010263"/>
            <a:ext cx="6540698" cy="237292"/>
          </a:xfrm>
          <a:prstGeom prst="rect">
            <a:avLst/>
          </a:prstGeom>
          <a:noFill/>
          <a:ln/>
        </p:spPr>
        <p:txBody>
          <a:bodyPr wrap="none" lIns="0" tIns="0" rIns="0" bIns="0" rtlCol="0" anchor="t"/>
          <a:lstStyle/>
          <a:p>
            <a:pPr algn="l" indent="0" marL="0">
              <a:lnSpc>
                <a:spcPts val="1850"/>
              </a:lnSpc>
              <a:buNone/>
            </a:pPr>
            <a:r>
              <a:rPr lang="en-US" sz="1150" dirty="0">
                <a:solidFill>
                  <a:srgbClr val="3B3535"/>
                </a:solidFill>
                <a:latin typeface="Sora Light" pitchFamily="34" charset="0"/>
                <a:ea typeface="Sora Light" pitchFamily="34" charset="-122"/>
                <a:cs typeface="Sora Light" pitchFamily="34" charset="-120"/>
              </a:rPr>
              <a:t>Automated workflows can save $65 million in operational expenses</a:t>
            </a:r>
            <a:endParaRPr lang="en-US" sz="1150" dirty="0"/>
          </a:p>
        </p:txBody>
      </p:sp>
      <p:sp>
        <p:nvSpPr>
          <p:cNvPr id="30" name="Shape 28"/>
          <p:cNvSpPr/>
          <p:nvPr/>
        </p:nvSpPr>
        <p:spPr>
          <a:xfrm>
            <a:off x="7503795" y="4692610"/>
            <a:ext cx="6004917" cy="185380"/>
          </a:xfrm>
          <a:prstGeom prst="roundRect">
            <a:avLst>
              <a:gd name="adj" fmla="val 33620"/>
            </a:avLst>
          </a:prstGeom>
          <a:solidFill>
            <a:srgbClr val="D5DCF6"/>
          </a:solidFill>
          <a:ln w="7620">
            <a:solidFill>
              <a:srgbClr val="BBC2DC"/>
            </a:solidFill>
            <a:prstDash val="solid"/>
          </a:ln>
        </p:spPr>
      </p:sp>
      <p:sp>
        <p:nvSpPr>
          <p:cNvPr id="31" name="Shape 29"/>
          <p:cNvSpPr/>
          <p:nvPr/>
        </p:nvSpPr>
        <p:spPr>
          <a:xfrm>
            <a:off x="7503795" y="4692610"/>
            <a:ext cx="2401967" cy="185380"/>
          </a:xfrm>
          <a:prstGeom prst="roundRect">
            <a:avLst>
              <a:gd name="adj" fmla="val 33620"/>
            </a:avLst>
          </a:prstGeom>
          <a:solidFill>
            <a:srgbClr val="1A2D7A"/>
          </a:solidFill>
          <a:ln/>
        </p:spPr>
      </p:sp>
      <p:sp>
        <p:nvSpPr>
          <p:cNvPr id="32" name="Text 30"/>
          <p:cNvSpPr/>
          <p:nvPr/>
        </p:nvSpPr>
        <p:spPr>
          <a:xfrm>
            <a:off x="13619917" y="4692610"/>
            <a:ext cx="424577" cy="185380"/>
          </a:xfrm>
          <a:prstGeom prst="rect">
            <a:avLst/>
          </a:prstGeom>
          <a:noFill/>
          <a:ln/>
        </p:spPr>
        <p:txBody>
          <a:bodyPr wrap="none" lIns="0" tIns="0" rIns="0" bIns="0" rtlCol="0" anchor="t"/>
          <a:lstStyle/>
          <a:p>
            <a:pPr algn="l" indent="0" marL="0">
              <a:lnSpc>
                <a:spcPts val="1450"/>
              </a:lnSpc>
              <a:buNone/>
            </a:pPr>
            <a:r>
              <a:rPr lang="en-US" sz="1450" dirty="0">
                <a:solidFill>
                  <a:srgbClr val="3B3535"/>
                </a:solidFill>
                <a:latin typeface="Alexandria Semi Bold" pitchFamily="34" charset="0"/>
                <a:ea typeface="Alexandria Semi Bold" pitchFamily="34" charset="-122"/>
                <a:cs typeface="Alexandria Semi Bold" pitchFamily="34" charset="-120"/>
              </a:rPr>
              <a:t>40%</a:t>
            </a:r>
            <a:endParaRPr lang="en-US" sz="1450" dirty="0"/>
          </a:p>
        </p:txBody>
      </p:sp>
      <p:sp>
        <p:nvSpPr>
          <p:cNvPr id="33" name="Text 31"/>
          <p:cNvSpPr/>
          <p:nvPr/>
        </p:nvSpPr>
        <p:spPr>
          <a:xfrm>
            <a:off x="7503795" y="5063371"/>
            <a:ext cx="2038707" cy="244078"/>
          </a:xfrm>
          <a:prstGeom prst="rect">
            <a:avLst/>
          </a:prstGeom>
          <a:noFill/>
          <a:ln/>
        </p:spPr>
        <p:txBody>
          <a:bodyPr wrap="none" lIns="0" tIns="0" rIns="0" bIns="0" rtlCol="0" anchor="t"/>
          <a:lstStyle/>
          <a:p>
            <a:pPr algn="l" indent="0" marL="0">
              <a:lnSpc>
                <a:spcPts val="1900"/>
              </a:lnSpc>
              <a:buNone/>
            </a:pPr>
            <a:r>
              <a:rPr lang="en-US" sz="1500" dirty="0">
                <a:solidFill>
                  <a:srgbClr val="3B3535"/>
                </a:solidFill>
                <a:latin typeface="Alexandria Semi Bold" pitchFamily="34" charset="0"/>
                <a:ea typeface="Alexandria Semi Bold" pitchFamily="34" charset="-122"/>
                <a:cs typeface="Alexandria Semi Bold" pitchFamily="34" charset="-120"/>
              </a:rPr>
              <a:t>Marketing Efficiency</a:t>
            </a:r>
            <a:endParaRPr lang="en-US" sz="1500" dirty="0"/>
          </a:p>
        </p:txBody>
      </p:sp>
      <p:sp>
        <p:nvSpPr>
          <p:cNvPr id="34" name="Text 32"/>
          <p:cNvSpPr/>
          <p:nvPr/>
        </p:nvSpPr>
        <p:spPr>
          <a:xfrm>
            <a:off x="7503795" y="5455801"/>
            <a:ext cx="6540698" cy="474583"/>
          </a:xfrm>
          <a:prstGeom prst="rect">
            <a:avLst/>
          </a:prstGeom>
          <a:noFill/>
          <a:ln/>
        </p:spPr>
        <p:txBody>
          <a:bodyPr wrap="square" lIns="0" tIns="0" rIns="0" bIns="0" rtlCol="0" anchor="t"/>
          <a:lstStyle/>
          <a:p>
            <a:pPr algn="l" indent="0" marL="0">
              <a:lnSpc>
                <a:spcPts val="1850"/>
              </a:lnSpc>
              <a:buNone/>
            </a:pPr>
            <a:r>
              <a:rPr lang="en-US" sz="1150" dirty="0">
                <a:solidFill>
                  <a:srgbClr val="3B3535"/>
                </a:solidFill>
                <a:latin typeface="Sora Light" pitchFamily="34" charset="0"/>
                <a:ea typeface="Sora Light" pitchFamily="34" charset="-122"/>
                <a:cs typeface="Sora Light" pitchFamily="34" charset="-120"/>
              </a:rPr>
              <a:t>AI-powered targeting can reduce marketing costs by $45 million while improving effectiveness</a:t>
            </a:r>
            <a:endParaRPr lang="en-US" sz="1150" dirty="0"/>
          </a:p>
        </p:txBody>
      </p:sp>
      <p:sp>
        <p:nvSpPr>
          <p:cNvPr id="35" name="Text 33"/>
          <p:cNvSpPr/>
          <p:nvPr/>
        </p:nvSpPr>
        <p:spPr>
          <a:xfrm>
            <a:off x="593527" y="6338411"/>
            <a:ext cx="3221712" cy="489585"/>
          </a:xfrm>
          <a:prstGeom prst="rect">
            <a:avLst/>
          </a:prstGeom>
          <a:noFill/>
          <a:ln/>
        </p:spPr>
        <p:txBody>
          <a:bodyPr wrap="none" lIns="0" tIns="0" rIns="0" bIns="0" rtlCol="0" anchor="t"/>
          <a:lstStyle/>
          <a:p>
            <a:pPr algn="ctr" indent="0" marL="0">
              <a:lnSpc>
                <a:spcPts val="3850"/>
              </a:lnSpc>
              <a:buNone/>
            </a:pPr>
            <a:r>
              <a:rPr lang="en-US" sz="3850" dirty="0">
                <a:solidFill>
                  <a:srgbClr val="3B3535"/>
                </a:solidFill>
                <a:latin typeface="Alexandria Semi Bold" pitchFamily="34" charset="0"/>
                <a:ea typeface="Alexandria Semi Bold" pitchFamily="34" charset="-122"/>
                <a:cs typeface="Alexandria Semi Bold" pitchFamily="34" charset="-120"/>
              </a:rPr>
              <a:t>$880M</a:t>
            </a:r>
            <a:endParaRPr lang="en-US" sz="3850" dirty="0"/>
          </a:p>
        </p:txBody>
      </p:sp>
      <p:sp>
        <p:nvSpPr>
          <p:cNvPr id="36" name="Text 34"/>
          <p:cNvSpPr/>
          <p:nvPr/>
        </p:nvSpPr>
        <p:spPr>
          <a:xfrm>
            <a:off x="1095018" y="7013377"/>
            <a:ext cx="2218611" cy="244078"/>
          </a:xfrm>
          <a:prstGeom prst="rect">
            <a:avLst/>
          </a:prstGeom>
          <a:noFill/>
          <a:ln/>
        </p:spPr>
        <p:txBody>
          <a:bodyPr wrap="none" lIns="0" tIns="0" rIns="0" bIns="0" rtlCol="0" anchor="t"/>
          <a:lstStyle/>
          <a:p>
            <a:pPr algn="ctr" indent="0" marL="0">
              <a:lnSpc>
                <a:spcPts val="1900"/>
              </a:lnSpc>
              <a:buNone/>
            </a:pPr>
            <a:r>
              <a:rPr lang="en-US" sz="1500" dirty="0">
                <a:solidFill>
                  <a:srgbClr val="3B3535"/>
                </a:solidFill>
                <a:latin typeface="Alexandria Semi Bold" pitchFamily="34" charset="0"/>
                <a:ea typeface="Alexandria Semi Bold" pitchFamily="34" charset="-122"/>
                <a:cs typeface="Alexandria Semi Bold" pitchFamily="34" charset="-120"/>
              </a:rPr>
              <a:t>Annual Value Creation</a:t>
            </a:r>
            <a:endParaRPr lang="en-US" sz="1500" dirty="0"/>
          </a:p>
        </p:txBody>
      </p:sp>
      <p:sp>
        <p:nvSpPr>
          <p:cNvPr id="37" name="Text 35"/>
          <p:cNvSpPr/>
          <p:nvPr/>
        </p:nvSpPr>
        <p:spPr>
          <a:xfrm>
            <a:off x="4000619" y="6338411"/>
            <a:ext cx="3221831" cy="489585"/>
          </a:xfrm>
          <a:prstGeom prst="rect">
            <a:avLst/>
          </a:prstGeom>
          <a:noFill/>
          <a:ln/>
        </p:spPr>
        <p:txBody>
          <a:bodyPr wrap="none" lIns="0" tIns="0" rIns="0" bIns="0" rtlCol="0" anchor="t"/>
          <a:lstStyle/>
          <a:p>
            <a:pPr algn="ctr" indent="0" marL="0">
              <a:lnSpc>
                <a:spcPts val="3850"/>
              </a:lnSpc>
              <a:buNone/>
            </a:pPr>
            <a:r>
              <a:rPr lang="en-US" sz="3850" dirty="0">
                <a:solidFill>
                  <a:srgbClr val="3B3535"/>
                </a:solidFill>
                <a:latin typeface="Alexandria Semi Bold" pitchFamily="34" charset="0"/>
                <a:ea typeface="Alexandria Semi Bold" pitchFamily="34" charset="-122"/>
                <a:cs typeface="Alexandria Semi Bold" pitchFamily="34" charset="-120"/>
              </a:rPr>
              <a:t>$150-200M</a:t>
            </a:r>
            <a:endParaRPr lang="en-US" sz="3850" dirty="0"/>
          </a:p>
        </p:txBody>
      </p:sp>
      <p:sp>
        <p:nvSpPr>
          <p:cNvPr id="38" name="Text 36"/>
          <p:cNvSpPr/>
          <p:nvPr/>
        </p:nvSpPr>
        <p:spPr>
          <a:xfrm>
            <a:off x="4212312" y="7013377"/>
            <a:ext cx="2798445" cy="244078"/>
          </a:xfrm>
          <a:prstGeom prst="rect">
            <a:avLst/>
          </a:prstGeom>
          <a:noFill/>
          <a:ln/>
        </p:spPr>
        <p:txBody>
          <a:bodyPr wrap="none" lIns="0" tIns="0" rIns="0" bIns="0" rtlCol="0" anchor="t"/>
          <a:lstStyle/>
          <a:p>
            <a:pPr algn="ctr" indent="0" marL="0">
              <a:lnSpc>
                <a:spcPts val="1900"/>
              </a:lnSpc>
              <a:buNone/>
            </a:pPr>
            <a:r>
              <a:rPr lang="en-US" sz="1500" dirty="0">
                <a:solidFill>
                  <a:srgbClr val="3B3535"/>
                </a:solidFill>
                <a:latin typeface="Alexandria Semi Bold" pitchFamily="34" charset="0"/>
                <a:ea typeface="Alexandria Semi Bold" pitchFamily="34" charset="-122"/>
                <a:cs typeface="Alexandria Semi Bold" pitchFamily="34" charset="-120"/>
              </a:rPr>
              <a:t>Implementation Investment</a:t>
            </a:r>
            <a:endParaRPr lang="en-US" sz="1500" dirty="0"/>
          </a:p>
        </p:txBody>
      </p:sp>
      <p:sp>
        <p:nvSpPr>
          <p:cNvPr id="39" name="Text 37"/>
          <p:cNvSpPr/>
          <p:nvPr/>
        </p:nvSpPr>
        <p:spPr>
          <a:xfrm>
            <a:off x="4000619" y="7346394"/>
            <a:ext cx="3221831" cy="474583"/>
          </a:xfrm>
          <a:prstGeom prst="rect">
            <a:avLst/>
          </a:prstGeom>
          <a:noFill/>
          <a:ln/>
        </p:spPr>
        <p:txBody>
          <a:bodyPr wrap="square" lIns="0" tIns="0" rIns="0" bIns="0" rtlCol="0" anchor="t"/>
          <a:lstStyle/>
          <a:p>
            <a:pPr algn="ctr" indent="0" marL="0">
              <a:lnSpc>
                <a:spcPts val="1850"/>
              </a:lnSpc>
              <a:buNone/>
            </a:pPr>
            <a:r>
              <a:rPr lang="en-US" sz="1150" dirty="0">
                <a:solidFill>
                  <a:srgbClr val="3B3535"/>
                </a:solidFill>
                <a:latin typeface="Sora Light" pitchFamily="34" charset="0"/>
                <a:ea typeface="Sora Light" pitchFamily="34" charset="-122"/>
                <a:cs typeface="Sora Light" pitchFamily="34" charset="-120"/>
              </a:rPr>
              <a:t>Estimated over 24 months for enterprise-wide AI transformation</a:t>
            </a:r>
            <a:endParaRPr lang="en-US" sz="1150" dirty="0"/>
          </a:p>
        </p:txBody>
      </p:sp>
      <p:sp>
        <p:nvSpPr>
          <p:cNvPr id="40" name="Text 38"/>
          <p:cNvSpPr/>
          <p:nvPr/>
        </p:nvSpPr>
        <p:spPr>
          <a:xfrm>
            <a:off x="7407831" y="6338411"/>
            <a:ext cx="3221831" cy="489585"/>
          </a:xfrm>
          <a:prstGeom prst="rect">
            <a:avLst/>
          </a:prstGeom>
          <a:noFill/>
          <a:ln/>
        </p:spPr>
        <p:txBody>
          <a:bodyPr wrap="none" lIns="0" tIns="0" rIns="0" bIns="0" rtlCol="0" anchor="t"/>
          <a:lstStyle/>
          <a:p>
            <a:pPr algn="ctr" indent="0" marL="0">
              <a:lnSpc>
                <a:spcPts val="3850"/>
              </a:lnSpc>
              <a:buNone/>
            </a:pPr>
            <a:r>
              <a:rPr lang="en-US" sz="3850" dirty="0">
                <a:solidFill>
                  <a:srgbClr val="3B3535"/>
                </a:solidFill>
                <a:latin typeface="Alexandria Semi Bold" pitchFamily="34" charset="0"/>
                <a:ea typeface="Alexandria Semi Bold" pitchFamily="34" charset="-122"/>
                <a:cs typeface="Alexandria Semi Bold" pitchFamily="34" charset="-120"/>
              </a:rPr>
              <a:t>4.4x</a:t>
            </a:r>
            <a:endParaRPr lang="en-US" sz="3850" dirty="0"/>
          </a:p>
        </p:txBody>
      </p:sp>
      <p:sp>
        <p:nvSpPr>
          <p:cNvPr id="41" name="Text 39"/>
          <p:cNvSpPr/>
          <p:nvPr/>
        </p:nvSpPr>
        <p:spPr>
          <a:xfrm>
            <a:off x="8042434" y="7013377"/>
            <a:ext cx="1952506" cy="244078"/>
          </a:xfrm>
          <a:prstGeom prst="rect">
            <a:avLst/>
          </a:prstGeom>
          <a:noFill/>
          <a:ln/>
        </p:spPr>
        <p:txBody>
          <a:bodyPr wrap="none" lIns="0" tIns="0" rIns="0" bIns="0" rtlCol="0" anchor="t"/>
          <a:lstStyle/>
          <a:p>
            <a:pPr algn="ctr" indent="0" marL="0">
              <a:lnSpc>
                <a:spcPts val="1900"/>
              </a:lnSpc>
              <a:buNone/>
            </a:pPr>
            <a:r>
              <a:rPr lang="en-US" sz="1500" dirty="0">
                <a:solidFill>
                  <a:srgbClr val="3B3535"/>
                </a:solidFill>
                <a:latin typeface="Alexandria Semi Bold" pitchFamily="34" charset="0"/>
                <a:ea typeface="Alexandria Semi Bold" pitchFamily="34" charset="-122"/>
                <a:cs typeface="Alexandria Semi Bold" pitchFamily="34" charset="-120"/>
              </a:rPr>
              <a:t>ROI</a:t>
            </a:r>
            <a:endParaRPr lang="en-US" sz="1500" dirty="0"/>
          </a:p>
        </p:txBody>
      </p:sp>
      <p:sp>
        <p:nvSpPr>
          <p:cNvPr id="42" name="Text 40"/>
          <p:cNvSpPr/>
          <p:nvPr/>
        </p:nvSpPr>
        <p:spPr>
          <a:xfrm>
            <a:off x="7407831" y="7346394"/>
            <a:ext cx="3221831" cy="474583"/>
          </a:xfrm>
          <a:prstGeom prst="rect">
            <a:avLst/>
          </a:prstGeom>
          <a:noFill/>
          <a:ln/>
        </p:spPr>
        <p:txBody>
          <a:bodyPr wrap="square" lIns="0" tIns="0" rIns="0" bIns="0" rtlCol="0" anchor="t"/>
          <a:lstStyle/>
          <a:p>
            <a:pPr algn="ctr" indent="0" marL="0">
              <a:lnSpc>
                <a:spcPts val="1850"/>
              </a:lnSpc>
              <a:buNone/>
            </a:pPr>
            <a:r>
              <a:rPr lang="en-US" sz="1150" dirty="0">
                <a:solidFill>
                  <a:srgbClr val="3B3535"/>
                </a:solidFill>
                <a:latin typeface="Sora Light" pitchFamily="34" charset="0"/>
                <a:ea typeface="Sora Light" pitchFamily="34" charset="-122"/>
                <a:cs typeface="Sora Light" pitchFamily="34" charset="-120"/>
              </a:rPr>
              <a:t>Return on investment within 18 months of full implementation</a:t>
            </a:r>
            <a:endParaRPr lang="en-US" sz="1150" dirty="0"/>
          </a:p>
        </p:txBody>
      </p:sp>
      <p:sp>
        <p:nvSpPr>
          <p:cNvPr id="43" name="Text 41"/>
          <p:cNvSpPr/>
          <p:nvPr/>
        </p:nvSpPr>
        <p:spPr>
          <a:xfrm>
            <a:off x="10815042" y="6338411"/>
            <a:ext cx="3221831" cy="489585"/>
          </a:xfrm>
          <a:prstGeom prst="rect">
            <a:avLst/>
          </a:prstGeom>
          <a:noFill/>
          <a:ln/>
        </p:spPr>
        <p:txBody>
          <a:bodyPr wrap="none" lIns="0" tIns="0" rIns="0" bIns="0" rtlCol="0" anchor="t"/>
          <a:lstStyle/>
          <a:p>
            <a:pPr algn="ctr" indent="0" marL="0">
              <a:lnSpc>
                <a:spcPts val="3850"/>
              </a:lnSpc>
              <a:buNone/>
            </a:pPr>
            <a:r>
              <a:rPr lang="en-US" sz="3850" dirty="0">
                <a:solidFill>
                  <a:srgbClr val="3B3535"/>
                </a:solidFill>
                <a:latin typeface="Alexandria Semi Bold" pitchFamily="34" charset="0"/>
                <a:ea typeface="Alexandria Semi Bold" pitchFamily="34" charset="-122"/>
                <a:cs typeface="Alexandria Semi Bold" pitchFamily="34" charset="-120"/>
              </a:rPr>
              <a:t>2-3</a:t>
            </a:r>
            <a:endParaRPr lang="en-US" sz="3850" dirty="0"/>
          </a:p>
        </p:txBody>
      </p:sp>
      <p:sp>
        <p:nvSpPr>
          <p:cNvPr id="44" name="Text 42"/>
          <p:cNvSpPr/>
          <p:nvPr/>
        </p:nvSpPr>
        <p:spPr>
          <a:xfrm>
            <a:off x="11449645" y="7013377"/>
            <a:ext cx="1952506" cy="244078"/>
          </a:xfrm>
          <a:prstGeom prst="rect">
            <a:avLst/>
          </a:prstGeom>
          <a:noFill/>
          <a:ln/>
        </p:spPr>
        <p:txBody>
          <a:bodyPr wrap="none" lIns="0" tIns="0" rIns="0" bIns="0" rtlCol="0" anchor="t"/>
          <a:lstStyle/>
          <a:p>
            <a:pPr algn="ctr" indent="0" marL="0">
              <a:lnSpc>
                <a:spcPts val="1900"/>
              </a:lnSpc>
              <a:buNone/>
            </a:pPr>
            <a:r>
              <a:rPr lang="en-US" sz="1500" dirty="0">
                <a:solidFill>
                  <a:srgbClr val="3B3535"/>
                </a:solidFill>
                <a:latin typeface="Alexandria Semi Bold" pitchFamily="34" charset="0"/>
                <a:ea typeface="Alexandria Semi Bold" pitchFamily="34" charset="-122"/>
                <a:cs typeface="Alexandria Semi Bold" pitchFamily="34" charset="-120"/>
              </a:rPr>
              <a:t>Year Lead</a:t>
            </a:r>
            <a:endParaRPr lang="en-US" sz="1500" dirty="0"/>
          </a:p>
        </p:txBody>
      </p:sp>
      <p:sp>
        <p:nvSpPr>
          <p:cNvPr id="45" name="Text 43"/>
          <p:cNvSpPr/>
          <p:nvPr/>
        </p:nvSpPr>
        <p:spPr>
          <a:xfrm>
            <a:off x="10815042" y="7346394"/>
            <a:ext cx="3221831" cy="474583"/>
          </a:xfrm>
          <a:prstGeom prst="rect">
            <a:avLst/>
          </a:prstGeom>
          <a:noFill/>
          <a:ln/>
        </p:spPr>
        <p:txBody>
          <a:bodyPr wrap="square" lIns="0" tIns="0" rIns="0" bIns="0" rtlCol="0" anchor="t"/>
          <a:lstStyle/>
          <a:p>
            <a:pPr algn="ctr" indent="0" marL="0">
              <a:lnSpc>
                <a:spcPts val="1850"/>
              </a:lnSpc>
              <a:buNone/>
            </a:pPr>
            <a:r>
              <a:rPr lang="en-US" sz="1150" dirty="0">
                <a:solidFill>
                  <a:srgbClr val="3B3535"/>
                </a:solidFill>
                <a:latin typeface="Sora Light" pitchFamily="34" charset="0"/>
                <a:ea typeface="Sora Light" pitchFamily="34" charset="-122"/>
                <a:cs typeface="Sora Light" pitchFamily="34" charset="-120"/>
              </a:rPr>
              <a:t>Competitive advantage over competitors who delay AI implementation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48628" y="1153358"/>
            <a:ext cx="4697730" cy="369094"/>
          </a:xfrm>
          <a:prstGeom prst="rect">
            <a:avLst/>
          </a:prstGeom>
          <a:noFill/>
          <a:ln/>
        </p:spPr>
        <p:txBody>
          <a:bodyPr wrap="none" lIns="0" tIns="0" rIns="0" bIns="0" rtlCol="0" anchor="t"/>
          <a:lstStyle/>
          <a:p>
            <a:pPr algn="l" indent="0" marL="0">
              <a:lnSpc>
                <a:spcPts val="2900"/>
              </a:lnSpc>
              <a:buNone/>
            </a:pPr>
            <a:r>
              <a:rPr lang="en-US" sz="2300" dirty="0">
                <a:solidFill>
                  <a:srgbClr val="1F1E1E"/>
                </a:solidFill>
                <a:latin typeface="Alexandria Semi Bold" pitchFamily="34" charset="0"/>
                <a:ea typeface="Alexandria Semi Bold" pitchFamily="34" charset="-122"/>
                <a:cs typeface="Alexandria Semi Bold" pitchFamily="34" charset="-120"/>
              </a:rPr>
              <a:t>TKO's AI Architecture Blueprint</a:t>
            </a:r>
            <a:endParaRPr lang="en-US" sz="2300" dirty="0"/>
          </a:p>
        </p:txBody>
      </p:sp>
      <p:pic>
        <p:nvPicPr>
          <p:cNvPr id="3" name="Image 0" descr="preencoded.png">    </p:cNvPr>
          <p:cNvPicPr>
            <a:picLocks noChangeAspect="1"/>
          </p:cNvPicPr>
          <p:nvPr/>
        </p:nvPicPr>
        <p:blipFill>
          <a:blip r:embed="rId1"/>
          <a:stretch>
            <a:fillRect/>
          </a:stretch>
        </p:blipFill>
        <p:spPr>
          <a:xfrm>
            <a:off x="3032165" y="1746766"/>
            <a:ext cx="1699379" cy="1311354"/>
          </a:xfrm>
          <a:prstGeom prst="rect">
            <a:avLst/>
          </a:prstGeom>
        </p:spPr>
      </p:pic>
      <p:sp>
        <p:nvSpPr>
          <p:cNvPr id="4" name="Text 1"/>
          <p:cNvSpPr/>
          <p:nvPr/>
        </p:nvSpPr>
        <p:spPr>
          <a:xfrm>
            <a:off x="3802856" y="2483644"/>
            <a:ext cx="157758" cy="197168"/>
          </a:xfrm>
          <a:prstGeom prst="rect">
            <a:avLst/>
          </a:prstGeom>
          <a:noFill/>
          <a:ln/>
        </p:spPr>
        <p:txBody>
          <a:bodyPr wrap="none" lIns="0" tIns="0" rIns="0" bIns="0" rtlCol="0" anchor="t"/>
          <a:lstStyle/>
          <a:p>
            <a:pPr algn="ctr" indent="0" marL="0">
              <a:lnSpc>
                <a:spcPts val="1950"/>
              </a:lnSpc>
              <a:buNone/>
            </a:pPr>
            <a:r>
              <a:rPr lang="en-US" sz="1200" dirty="0">
                <a:solidFill>
                  <a:srgbClr val="3B3535"/>
                </a:solidFill>
                <a:latin typeface="Alexandria Semi Bold" pitchFamily="34" charset="0"/>
                <a:ea typeface="Alexandria Semi Bold" pitchFamily="34" charset="-122"/>
                <a:cs typeface="Alexandria Semi Bold" pitchFamily="34" charset="-120"/>
              </a:rPr>
              <a:t>1</a:t>
            </a:r>
            <a:endParaRPr lang="en-US" sz="1200" dirty="0"/>
          </a:p>
        </p:txBody>
      </p:sp>
      <p:sp>
        <p:nvSpPr>
          <p:cNvPr id="5" name="Text 2"/>
          <p:cNvSpPr/>
          <p:nvPr/>
        </p:nvSpPr>
        <p:spPr>
          <a:xfrm>
            <a:off x="4843701" y="1858923"/>
            <a:ext cx="1695688" cy="184547"/>
          </a:xfrm>
          <a:prstGeom prst="rect">
            <a:avLst/>
          </a:prstGeom>
          <a:noFill/>
          <a:ln/>
        </p:spPr>
        <p:txBody>
          <a:bodyPr wrap="none" lIns="0" tIns="0" rIns="0" bIns="0" rtlCol="0" anchor="t"/>
          <a:lstStyle/>
          <a:p>
            <a:pPr algn="l" indent="0" marL="0">
              <a:lnSpc>
                <a:spcPts val="1450"/>
              </a:lnSpc>
              <a:buNone/>
            </a:pPr>
            <a:r>
              <a:rPr lang="en-US" sz="1150" dirty="0">
                <a:solidFill>
                  <a:srgbClr val="3B3535"/>
                </a:solidFill>
                <a:latin typeface="Alexandria Semi Bold" pitchFamily="34" charset="0"/>
                <a:ea typeface="Alexandria Semi Bold" pitchFamily="34" charset="-122"/>
                <a:cs typeface="Alexandria Semi Bold" pitchFamily="34" charset="-120"/>
              </a:rPr>
              <a:t>Data Foundation Layer</a:t>
            </a:r>
            <a:endParaRPr lang="en-US" sz="1150" dirty="0"/>
          </a:p>
        </p:txBody>
      </p:sp>
      <p:sp>
        <p:nvSpPr>
          <p:cNvPr id="6" name="Text 3"/>
          <p:cNvSpPr/>
          <p:nvPr/>
        </p:nvSpPr>
        <p:spPr>
          <a:xfrm>
            <a:off x="4843701" y="2110740"/>
            <a:ext cx="5302568"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Fan Engagement Data: Real-time analytics from 680 million social media followers</a:t>
            </a:r>
            <a:endParaRPr lang="en-US" sz="850" dirty="0"/>
          </a:p>
        </p:txBody>
      </p:sp>
      <p:sp>
        <p:nvSpPr>
          <p:cNvPr id="7" name="Text 4"/>
          <p:cNvSpPr/>
          <p:nvPr/>
        </p:nvSpPr>
        <p:spPr>
          <a:xfrm>
            <a:off x="4843701" y="2329339"/>
            <a:ext cx="5302568"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Content Performance Data: Historical engagement across 210 countries</a:t>
            </a:r>
            <a:endParaRPr lang="en-US" sz="850" dirty="0"/>
          </a:p>
        </p:txBody>
      </p:sp>
      <p:sp>
        <p:nvSpPr>
          <p:cNvPr id="8" name="Text 5"/>
          <p:cNvSpPr/>
          <p:nvPr/>
        </p:nvSpPr>
        <p:spPr>
          <a:xfrm>
            <a:off x="4843701" y="2547938"/>
            <a:ext cx="5302568"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Event &amp; Venue Data: Attendance, revenue, and operational metrics from 500+ annual events</a:t>
            </a:r>
            <a:endParaRPr lang="en-US" sz="850" dirty="0"/>
          </a:p>
        </p:txBody>
      </p:sp>
      <p:sp>
        <p:nvSpPr>
          <p:cNvPr id="9" name="Text 6"/>
          <p:cNvSpPr/>
          <p:nvPr/>
        </p:nvSpPr>
        <p:spPr>
          <a:xfrm>
            <a:off x="4843701" y="2766536"/>
            <a:ext cx="5302568"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Athlete Performance Data: Training, performance, and career trajectory analytics</a:t>
            </a:r>
            <a:endParaRPr lang="en-US" sz="850" dirty="0"/>
          </a:p>
        </p:txBody>
      </p:sp>
      <p:sp>
        <p:nvSpPr>
          <p:cNvPr id="10" name="Shape 7"/>
          <p:cNvSpPr/>
          <p:nvPr/>
        </p:nvSpPr>
        <p:spPr>
          <a:xfrm>
            <a:off x="4759523" y="3068241"/>
            <a:ext cx="9394269" cy="7620"/>
          </a:xfrm>
          <a:prstGeom prst="roundRect">
            <a:avLst>
              <a:gd name="adj" fmla="val 618340"/>
            </a:avLst>
          </a:prstGeom>
          <a:solidFill>
            <a:srgbClr val="BBC2DC"/>
          </a:solidFill>
          <a:ln/>
        </p:spPr>
      </p:sp>
      <p:pic>
        <p:nvPicPr>
          <p:cNvPr id="11" name="Image 1" descr="preencoded.png">    </p:cNvPr>
          <p:cNvPicPr>
            <a:picLocks noChangeAspect="1"/>
          </p:cNvPicPr>
          <p:nvPr/>
        </p:nvPicPr>
        <p:blipFill>
          <a:blip r:embed="rId2"/>
          <a:stretch>
            <a:fillRect/>
          </a:stretch>
        </p:blipFill>
        <p:spPr>
          <a:xfrm>
            <a:off x="2182416" y="3086100"/>
            <a:ext cx="3398877" cy="1311354"/>
          </a:xfrm>
          <a:prstGeom prst="rect">
            <a:avLst/>
          </a:prstGeom>
        </p:spPr>
      </p:pic>
      <p:sp>
        <p:nvSpPr>
          <p:cNvPr id="12" name="Text 8"/>
          <p:cNvSpPr/>
          <p:nvPr/>
        </p:nvSpPr>
        <p:spPr>
          <a:xfrm>
            <a:off x="3802856" y="3643193"/>
            <a:ext cx="157758" cy="197168"/>
          </a:xfrm>
          <a:prstGeom prst="rect">
            <a:avLst/>
          </a:prstGeom>
          <a:noFill/>
          <a:ln/>
        </p:spPr>
        <p:txBody>
          <a:bodyPr wrap="none" lIns="0" tIns="0" rIns="0" bIns="0" rtlCol="0" anchor="t"/>
          <a:lstStyle/>
          <a:p>
            <a:pPr algn="ctr" indent="0" marL="0">
              <a:lnSpc>
                <a:spcPts val="1950"/>
              </a:lnSpc>
              <a:buNone/>
            </a:pPr>
            <a:r>
              <a:rPr lang="en-US" sz="1200" dirty="0">
                <a:solidFill>
                  <a:srgbClr val="3B3535"/>
                </a:solidFill>
                <a:latin typeface="Alexandria Semi Bold" pitchFamily="34" charset="0"/>
                <a:ea typeface="Alexandria Semi Bold" pitchFamily="34" charset="-122"/>
                <a:cs typeface="Alexandria Semi Bold" pitchFamily="34" charset="-120"/>
              </a:rPr>
              <a:t>2</a:t>
            </a:r>
            <a:endParaRPr lang="en-US" sz="1200" dirty="0"/>
          </a:p>
        </p:txBody>
      </p:sp>
      <p:sp>
        <p:nvSpPr>
          <p:cNvPr id="13" name="Text 9"/>
          <p:cNvSpPr/>
          <p:nvPr/>
        </p:nvSpPr>
        <p:spPr>
          <a:xfrm>
            <a:off x="5693450" y="3198257"/>
            <a:ext cx="1476018" cy="184547"/>
          </a:xfrm>
          <a:prstGeom prst="rect">
            <a:avLst/>
          </a:prstGeom>
          <a:noFill/>
          <a:ln/>
        </p:spPr>
        <p:txBody>
          <a:bodyPr wrap="none" lIns="0" tIns="0" rIns="0" bIns="0" rtlCol="0" anchor="t"/>
          <a:lstStyle/>
          <a:p>
            <a:pPr algn="l" indent="0" marL="0">
              <a:lnSpc>
                <a:spcPts val="1450"/>
              </a:lnSpc>
              <a:buNone/>
            </a:pPr>
            <a:r>
              <a:rPr lang="en-US" sz="1150" dirty="0">
                <a:solidFill>
                  <a:srgbClr val="3B3535"/>
                </a:solidFill>
                <a:latin typeface="Alexandria Semi Bold" pitchFamily="34" charset="0"/>
                <a:ea typeface="Alexandria Semi Bold" pitchFamily="34" charset="-122"/>
                <a:cs typeface="Alexandria Semi Bold" pitchFamily="34" charset="-120"/>
              </a:rPr>
              <a:t>AI Processing Layer</a:t>
            </a:r>
            <a:endParaRPr lang="en-US" sz="1150" dirty="0"/>
          </a:p>
        </p:txBody>
      </p:sp>
      <p:sp>
        <p:nvSpPr>
          <p:cNvPr id="14" name="Text 10"/>
          <p:cNvSpPr/>
          <p:nvPr/>
        </p:nvSpPr>
        <p:spPr>
          <a:xfrm>
            <a:off x="5693450" y="3450074"/>
            <a:ext cx="6007537"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Content Generation AI: Large language models fine-tuned for sports entertainment narratives</a:t>
            </a:r>
            <a:endParaRPr lang="en-US" sz="850" dirty="0"/>
          </a:p>
        </p:txBody>
      </p:sp>
      <p:sp>
        <p:nvSpPr>
          <p:cNvPr id="15" name="Text 11"/>
          <p:cNvSpPr/>
          <p:nvPr/>
        </p:nvSpPr>
        <p:spPr>
          <a:xfrm>
            <a:off x="5693450" y="3668673"/>
            <a:ext cx="6007537"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Computer Vision Systems: Automated video analysis for highlight creation and production optimization</a:t>
            </a:r>
            <a:endParaRPr lang="en-US" sz="850" dirty="0"/>
          </a:p>
        </p:txBody>
      </p:sp>
      <p:sp>
        <p:nvSpPr>
          <p:cNvPr id="16" name="Text 12"/>
          <p:cNvSpPr/>
          <p:nvPr/>
        </p:nvSpPr>
        <p:spPr>
          <a:xfrm>
            <a:off x="5693450" y="3887272"/>
            <a:ext cx="6007537"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Predictive Analytics Engine: Machine learning models for event success and fan behavior prediction</a:t>
            </a:r>
            <a:endParaRPr lang="en-US" sz="850" dirty="0"/>
          </a:p>
        </p:txBody>
      </p:sp>
      <p:sp>
        <p:nvSpPr>
          <p:cNvPr id="17" name="Text 13"/>
          <p:cNvSpPr/>
          <p:nvPr/>
        </p:nvSpPr>
        <p:spPr>
          <a:xfrm>
            <a:off x="5693450" y="4105870"/>
            <a:ext cx="6007537"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Personalization Engine: Real-time content adaptation based on individual fan preferences</a:t>
            </a:r>
            <a:endParaRPr lang="en-US" sz="850" dirty="0"/>
          </a:p>
        </p:txBody>
      </p:sp>
      <p:sp>
        <p:nvSpPr>
          <p:cNvPr id="18" name="Shape 14"/>
          <p:cNvSpPr/>
          <p:nvPr/>
        </p:nvSpPr>
        <p:spPr>
          <a:xfrm>
            <a:off x="5609273" y="4407575"/>
            <a:ext cx="8544520" cy="7620"/>
          </a:xfrm>
          <a:prstGeom prst="roundRect">
            <a:avLst>
              <a:gd name="adj" fmla="val 618340"/>
            </a:avLst>
          </a:prstGeom>
          <a:solidFill>
            <a:srgbClr val="BBC2DC"/>
          </a:solidFill>
          <a:ln/>
        </p:spPr>
      </p:sp>
      <p:pic>
        <p:nvPicPr>
          <p:cNvPr id="19" name="Image 2" descr="preencoded.png">    </p:cNvPr>
          <p:cNvPicPr>
            <a:picLocks noChangeAspect="1"/>
          </p:cNvPicPr>
          <p:nvPr/>
        </p:nvPicPr>
        <p:blipFill>
          <a:blip r:embed="rId3"/>
          <a:stretch>
            <a:fillRect/>
          </a:stretch>
        </p:blipFill>
        <p:spPr>
          <a:xfrm>
            <a:off x="1332667" y="4425434"/>
            <a:ext cx="5098375" cy="1311354"/>
          </a:xfrm>
          <a:prstGeom prst="rect">
            <a:avLst/>
          </a:prstGeom>
        </p:spPr>
      </p:pic>
      <p:sp>
        <p:nvSpPr>
          <p:cNvPr id="20" name="Text 15"/>
          <p:cNvSpPr/>
          <p:nvPr/>
        </p:nvSpPr>
        <p:spPr>
          <a:xfrm>
            <a:off x="3802856" y="4982528"/>
            <a:ext cx="157758" cy="197168"/>
          </a:xfrm>
          <a:prstGeom prst="rect">
            <a:avLst/>
          </a:prstGeom>
          <a:noFill/>
          <a:ln/>
        </p:spPr>
        <p:txBody>
          <a:bodyPr wrap="none" lIns="0" tIns="0" rIns="0" bIns="0" rtlCol="0" anchor="t"/>
          <a:lstStyle/>
          <a:p>
            <a:pPr algn="ctr" indent="0" marL="0">
              <a:lnSpc>
                <a:spcPts val="1950"/>
              </a:lnSpc>
              <a:buNone/>
            </a:pPr>
            <a:r>
              <a:rPr lang="en-US" sz="1200" dirty="0">
                <a:solidFill>
                  <a:srgbClr val="3B3535"/>
                </a:solidFill>
                <a:latin typeface="Alexandria Semi Bold" pitchFamily="34" charset="0"/>
                <a:ea typeface="Alexandria Semi Bold" pitchFamily="34" charset="-122"/>
                <a:cs typeface="Alexandria Semi Bold" pitchFamily="34" charset="-120"/>
              </a:rPr>
              <a:t>3</a:t>
            </a:r>
            <a:endParaRPr lang="en-US" sz="1200" dirty="0"/>
          </a:p>
        </p:txBody>
      </p:sp>
      <p:sp>
        <p:nvSpPr>
          <p:cNvPr id="21" name="Text 16"/>
          <p:cNvSpPr/>
          <p:nvPr/>
        </p:nvSpPr>
        <p:spPr>
          <a:xfrm>
            <a:off x="6543199" y="4537591"/>
            <a:ext cx="1476018" cy="184547"/>
          </a:xfrm>
          <a:prstGeom prst="rect">
            <a:avLst/>
          </a:prstGeom>
          <a:noFill/>
          <a:ln/>
        </p:spPr>
        <p:txBody>
          <a:bodyPr wrap="none" lIns="0" tIns="0" rIns="0" bIns="0" rtlCol="0" anchor="t"/>
          <a:lstStyle/>
          <a:p>
            <a:pPr algn="l" indent="0" marL="0">
              <a:lnSpc>
                <a:spcPts val="1450"/>
              </a:lnSpc>
              <a:buNone/>
            </a:pPr>
            <a:r>
              <a:rPr lang="en-US" sz="1150" dirty="0">
                <a:solidFill>
                  <a:srgbClr val="3B3535"/>
                </a:solidFill>
                <a:latin typeface="Alexandria Semi Bold" pitchFamily="34" charset="0"/>
                <a:ea typeface="Alexandria Semi Bold" pitchFamily="34" charset="-122"/>
                <a:cs typeface="Alexandria Semi Bold" pitchFamily="34" charset="-120"/>
              </a:rPr>
              <a:t>Application Layer</a:t>
            </a:r>
            <a:endParaRPr lang="en-US" sz="1150" dirty="0"/>
          </a:p>
        </p:txBody>
      </p:sp>
      <p:sp>
        <p:nvSpPr>
          <p:cNvPr id="22" name="Text 17"/>
          <p:cNvSpPr/>
          <p:nvPr/>
        </p:nvSpPr>
        <p:spPr>
          <a:xfrm>
            <a:off x="6543199" y="4789408"/>
            <a:ext cx="5081945"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Content Creator Tools: AI-assisted storyline development and localization</a:t>
            </a:r>
            <a:endParaRPr lang="en-US" sz="850" dirty="0"/>
          </a:p>
        </p:txBody>
      </p:sp>
      <p:sp>
        <p:nvSpPr>
          <p:cNvPr id="23" name="Text 18"/>
          <p:cNvSpPr/>
          <p:nvPr/>
        </p:nvSpPr>
        <p:spPr>
          <a:xfrm>
            <a:off x="6543199" y="5008007"/>
            <a:ext cx="5081945"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Production Automation: Intelligent camera control and real-time editing</a:t>
            </a:r>
            <a:endParaRPr lang="en-US" sz="850" dirty="0"/>
          </a:p>
        </p:txBody>
      </p:sp>
      <p:sp>
        <p:nvSpPr>
          <p:cNvPr id="24" name="Text 19"/>
          <p:cNvSpPr/>
          <p:nvPr/>
        </p:nvSpPr>
        <p:spPr>
          <a:xfrm>
            <a:off x="6543199" y="5226606"/>
            <a:ext cx="5081945"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Fan Experience Platforms: Personalized mobile apps and streaming interfaces</a:t>
            </a:r>
            <a:endParaRPr lang="en-US" sz="850" dirty="0"/>
          </a:p>
        </p:txBody>
      </p:sp>
      <p:sp>
        <p:nvSpPr>
          <p:cNvPr id="25" name="Text 20"/>
          <p:cNvSpPr/>
          <p:nvPr/>
        </p:nvSpPr>
        <p:spPr>
          <a:xfrm>
            <a:off x="6543199" y="5445204"/>
            <a:ext cx="5081945"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Business Intelligence Dashboards: Real-time performance monitoring and optimization</a:t>
            </a:r>
            <a:endParaRPr lang="en-US" sz="850" dirty="0"/>
          </a:p>
        </p:txBody>
      </p:sp>
      <p:sp>
        <p:nvSpPr>
          <p:cNvPr id="26" name="Shape 21"/>
          <p:cNvSpPr/>
          <p:nvPr/>
        </p:nvSpPr>
        <p:spPr>
          <a:xfrm>
            <a:off x="6459022" y="5746909"/>
            <a:ext cx="7694771" cy="7620"/>
          </a:xfrm>
          <a:prstGeom prst="roundRect">
            <a:avLst>
              <a:gd name="adj" fmla="val 618340"/>
            </a:avLst>
          </a:prstGeom>
          <a:solidFill>
            <a:srgbClr val="BBC2DC"/>
          </a:solidFill>
          <a:ln/>
        </p:spPr>
      </p:sp>
      <p:pic>
        <p:nvPicPr>
          <p:cNvPr id="27" name="Image 3" descr="preencoded.png">    </p:cNvPr>
          <p:cNvPicPr>
            <a:picLocks noChangeAspect="1"/>
          </p:cNvPicPr>
          <p:nvPr/>
        </p:nvPicPr>
        <p:blipFill>
          <a:blip r:embed="rId4"/>
          <a:stretch>
            <a:fillRect/>
          </a:stretch>
        </p:blipFill>
        <p:spPr>
          <a:xfrm>
            <a:off x="482917" y="5764768"/>
            <a:ext cx="6797873" cy="1311354"/>
          </a:xfrm>
          <a:prstGeom prst="rect">
            <a:avLst/>
          </a:prstGeom>
        </p:spPr>
      </p:pic>
      <p:sp>
        <p:nvSpPr>
          <p:cNvPr id="28" name="Text 22"/>
          <p:cNvSpPr/>
          <p:nvPr/>
        </p:nvSpPr>
        <p:spPr>
          <a:xfrm>
            <a:off x="3802856" y="6321862"/>
            <a:ext cx="157758" cy="197168"/>
          </a:xfrm>
          <a:prstGeom prst="rect">
            <a:avLst/>
          </a:prstGeom>
          <a:noFill/>
          <a:ln/>
        </p:spPr>
        <p:txBody>
          <a:bodyPr wrap="none" lIns="0" tIns="0" rIns="0" bIns="0" rtlCol="0" anchor="t"/>
          <a:lstStyle/>
          <a:p>
            <a:pPr algn="ctr" indent="0" marL="0">
              <a:lnSpc>
                <a:spcPts val="1950"/>
              </a:lnSpc>
              <a:buNone/>
            </a:pPr>
            <a:r>
              <a:rPr lang="en-US" sz="1200" dirty="0">
                <a:solidFill>
                  <a:srgbClr val="3B3535"/>
                </a:solidFill>
                <a:latin typeface="Alexandria Semi Bold" pitchFamily="34" charset="0"/>
                <a:ea typeface="Alexandria Semi Bold" pitchFamily="34" charset="-122"/>
                <a:cs typeface="Alexandria Semi Bold" pitchFamily="34" charset="-120"/>
              </a:rPr>
              <a:t>4</a:t>
            </a:r>
            <a:endParaRPr lang="en-US" sz="1200" dirty="0"/>
          </a:p>
        </p:txBody>
      </p:sp>
      <p:sp>
        <p:nvSpPr>
          <p:cNvPr id="29" name="Text 23"/>
          <p:cNvSpPr/>
          <p:nvPr/>
        </p:nvSpPr>
        <p:spPr>
          <a:xfrm>
            <a:off x="7392948" y="5876925"/>
            <a:ext cx="1476018" cy="184547"/>
          </a:xfrm>
          <a:prstGeom prst="rect">
            <a:avLst/>
          </a:prstGeom>
          <a:noFill/>
          <a:ln/>
        </p:spPr>
        <p:txBody>
          <a:bodyPr wrap="none" lIns="0" tIns="0" rIns="0" bIns="0" rtlCol="0" anchor="t"/>
          <a:lstStyle/>
          <a:p>
            <a:pPr algn="l" indent="0" marL="0">
              <a:lnSpc>
                <a:spcPts val="1450"/>
              </a:lnSpc>
              <a:buNone/>
            </a:pPr>
            <a:r>
              <a:rPr lang="en-US" sz="1150" dirty="0">
                <a:solidFill>
                  <a:srgbClr val="3B3535"/>
                </a:solidFill>
                <a:latin typeface="Alexandria Semi Bold" pitchFamily="34" charset="0"/>
                <a:ea typeface="Alexandria Semi Bold" pitchFamily="34" charset="-122"/>
                <a:cs typeface="Alexandria Semi Bold" pitchFamily="34" charset="-120"/>
              </a:rPr>
              <a:t>Integration Layer</a:t>
            </a:r>
            <a:endParaRPr lang="en-US" sz="1150" dirty="0"/>
          </a:p>
        </p:txBody>
      </p:sp>
      <p:sp>
        <p:nvSpPr>
          <p:cNvPr id="30" name="Text 24"/>
          <p:cNvSpPr/>
          <p:nvPr/>
        </p:nvSpPr>
        <p:spPr>
          <a:xfrm>
            <a:off x="7392948" y="6128742"/>
            <a:ext cx="4758571"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API Gateway: Seamless integration with existing TKO systems</a:t>
            </a:r>
            <a:endParaRPr lang="en-US" sz="850" dirty="0"/>
          </a:p>
        </p:txBody>
      </p:sp>
      <p:sp>
        <p:nvSpPr>
          <p:cNvPr id="31" name="Text 25"/>
          <p:cNvSpPr/>
          <p:nvPr/>
        </p:nvSpPr>
        <p:spPr>
          <a:xfrm>
            <a:off x="7392948" y="6347341"/>
            <a:ext cx="4758571"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Data Pipeline: Real-time data processing and distribution</a:t>
            </a:r>
            <a:endParaRPr lang="en-US" sz="850" dirty="0"/>
          </a:p>
        </p:txBody>
      </p:sp>
      <p:sp>
        <p:nvSpPr>
          <p:cNvPr id="32" name="Text 26"/>
          <p:cNvSpPr/>
          <p:nvPr/>
        </p:nvSpPr>
        <p:spPr>
          <a:xfrm>
            <a:off x="7392948" y="6565940"/>
            <a:ext cx="4758571"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Security Framework: Enterprise-grade AI governance and compliance</a:t>
            </a:r>
            <a:endParaRPr lang="en-US" sz="850" dirty="0"/>
          </a:p>
        </p:txBody>
      </p:sp>
      <p:sp>
        <p:nvSpPr>
          <p:cNvPr id="33" name="Text 27"/>
          <p:cNvSpPr/>
          <p:nvPr/>
        </p:nvSpPr>
        <p:spPr>
          <a:xfrm>
            <a:off x="7392948" y="6784538"/>
            <a:ext cx="4758571" cy="179427"/>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3B3535"/>
                </a:solidFill>
                <a:latin typeface="Sora Light" pitchFamily="34" charset="0"/>
                <a:ea typeface="Sora Light" pitchFamily="34" charset="-122"/>
                <a:cs typeface="Sora Light" pitchFamily="34" charset="-120"/>
              </a:rPr>
              <a:t>Scalability Infrastructure: Cloud-native architecture supporting global operations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76739" y="513398"/>
            <a:ext cx="9226153" cy="474226"/>
          </a:xfrm>
          <a:prstGeom prst="rect">
            <a:avLst/>
          </a:prstGeom>
          <a:noFill/>
          <a:ln/>
        </p:spPr>
        <p:txBody>
          <a:bodyPr wrap="none" lIns="0" tIns="0" rIns="0" bIns="0" rtlCol="0" anchor="t"/>
          <a:lstStyle/>
          <a:p>
            <a:pPr algn="l" indent="0" marL="0">
              <a:lnSpc>
                <a:spcPts val="3700"/>
              </a:lnSpc>
              <a:buNone/>
            </a:pPr>
            <a:r>
              <a:rPr lang="en-US" sz="2950" dirty="0">
                <a:solidFill>
                  <a:srgbClr val="1F1E1E"/>
                </a:solidFill>
                <a:latin typeface="Alexandria Semi Bold" pitchFamily="34" charset="0"/>
                <a:ea typeface="Alexandria Semi Bold" pitchFamily="34" charset="-122"/>
                <a:cs typeface="Alexandria Semi Bold" pitchFamily="34" charset="-120"/>
              </a:rPr>
              <a:t>Implementation Roadmap - The TKO AI Journey</a:t>
            </a:r>
            <a:endParaRPr lang="en-US" sz="2950" dirty="0"/>
          </a:p>
        </p:txBody>
      </p:sp>
      <p:sp>
        <p:nvSpPr>
          <p:cNvPr id="3" name="Shape 1"/>
          <p:cNvSpPr/>
          <p:nvPr/>
        </p:nvSpPr>
        <p:spPr>
          <a:xfrm>
            <a:off x="576739" y="4496038"/>
            <a:ext cx="13476923" cy="15240"/>
          </a:xfrm>
          <a:prstGeom prst="roundRect">
            <a:avLst>
              <a:gd name="adj" fmla="val 397396"/>
            </a:avLst>
          </a:prstGeom>
          <a:solidFill>
            <a:srgbClr val="BBC2DC"/>
          </a:solidFill>
          <a:ln/>
        </p:spPr>
      </p:sp>
      <p:sp>
        <p:nvSpPr>
          <p:cNvPr id="4" name="Shape 2"/>
          <p:cNvSpPr/>
          <p:nvPr/>
        </p:nvSpPr>
        <p:spPr>
          <a:xfrm>
            <a:off x="3210401" y="4063484"/>
            <a:ext cx="15240" cy="432554"/>
          </a:xfrm>
          <a:prstGeom prst="roundRect">
            <a:avLst>
              <a:gd name="adj" fmla="val 397396"/>
            </a:avLst>
          </a:prstGeom>
          <a:solidFill>
            <a:srgbClr val="BBC2DC"/>
          </a:solidFill>
          <a:ln/>
        </p:spPr>
      </p:sp>
      <p:sp>
        <p:nvSpPr>
          <p:cNvPr id="5" name="Shape 3"/>
          <p:cNvSpPr/>
          <p:nvPr/>
        </p:nvSpPr>
        <p:spPr>
          <a:xfrm>
            <a:off x="3055858" y="4333875"/>
            <a:ext cx="324326" cy="324326"/>
          </a:xfrm>
          <a:prstGeom prst="roundRect">
            <a:avLst>
              <a:gd name="adj" fmla="val 18674"/>
            </a:avLst>
          </a:prstGeom>
          <a:solidFill>
            <a:srgbClr val="D5DCF6"/>
          </a:solidFill>
          <a:ln w="7620">
            <a:solidFill>
              <a:srgbClr val="BBC2DC"/>
            </a:solidFill>
            <a:prstDash val="solid"/>
          </a:ln>
        </p:spPr>
      </p:sp>
      <p:sp>
        <p:nvSpPr>
          <p:cNvPr id="6" name="Text 4"/>
          <p:cNvSpPr/>
          <p:nvPr/>
        </p:nvSpPr>
        <p:spPr>
          <a:xfrm>
            <a:off x="3104198" y="4353758"/>
            <a:ext cx="227647" cy="284559"/>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1</a:t>
            </a:r>
            <a:endParaRPr lang="en-US" sz="1750" dirty="0"/>
          </a:p>
        </p:txBody>
      </p:sp>
      <p:sp>
        <p:nvSpPr>
          <p:cNvPr id="7" name="Text 5"/>
          <p:cNvSpPr/>
          <p:nvPr/>
        </p:nvSpPr>
        <p:spPr>
          <a:xfrm>
            <a:off x="2262426" y="1275993"/>
            <a:ext cx="1911310" cy="237173"/>
          </a:xfrm>
          <a:prstGeom prst="rect">
            <a:avLst/>
          </a:prstGeom>
          <a:noFill/>
          <a:ln/>
        </p:spPr>
        <p:txBody>
          <a:bodyPr wrap="none" lIns="0" tIns="0" rIns="0" bIns="0" rtlCol="0" anchor="t"/>
          <a:lstStyle/>
          <a:p>
            <a:pPr algn="ct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Phase 1: Foundation</a:t>
            </a:r>
            <a:endParaRPr lang="en-US" sz="1450" dirty="0"/>
          </a:p>
        </p:txBody>
      </p:sp>
      <p:sp>
        <p:nvSpPr>
          <p:cNvPr id="8" name="Text 6"/>
          <p:cNvSpPr/>
          <p:nvPr/>
        </p:nvSpPr>
        <p:spPr>
          <a:xfrm>
            <a:off x="2269450" y="1599605"/>
            <a:ext cx="1897261" cy="237173"/>
          </a:xfrm>
          <a:prstGeom prst="rect">
            <a:avLst/>
          </a:prstGeom>
          <a:noFill/>
          <a:ln/>
        </p:spPr>
        <p:txBody>
          <a:bodyPr wrap="none" lIns="0" tIns="0" rIns="0" bIns="0" rtlCol="0" anchor="t"/>
          <a:lstStyle/>
          <a:p>
            <a:pPr algn="ct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Months 1-6</a:t>
            </a:r>
            <a:endParaRPr lang="en-US" sz="1450" dirty="0"/>
          </a:p>
        </p:txBody>
      </p:sp>
      <p:sp>
        <p:nvSpPr>
          <p:cNvPr id="9" name="Text 7"/>
          <p:cNvSpPr/>
          <p:nvPr/>
        </p:nvSpPr>
        <p:spPr>
          <a:xfrm>
            <a:off x="720923" y="1923217"/>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Data Platform Setup: Integrate all TKO data sources into unified AI-ready platform</a:t>
            </a:r>
            <a:endParaRPr lang="en-US" sz="1100" dirty="0"/>
          </a:p>
        </p:txBody>
      </p:sp>
      <p:sp>
        <p:nvSpPr>
          <p:cNvPr id="10" name="Text 8"/>
          <p:cNvSpPr/>
          <p:nvPr/>
        </p:nvSpPr>
        <p:spPr>
          <a:xfrm>
            <a:off x="720923" y="2434828"/>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AI Talent Acquisition: Hire 50+ AI specialists and train 200+ existing staff</a:t>
            </a:r>
            <a:endParaRPr lang="en-US" sz="1100" dirty="0"/>
          </a:p>
        </p:txBody>
      </p:sp>
      <p:sp>
        <p:nvSpPr>
          <p:cNvPr id="11" name="Text 9"/>
          <p:cNvSpPr/>
          <p:nvPr/>
        </p:nvSpPr>
        <p:spPr>
          <a:xfrm>
            <a:off x="720923" y="2946440"/>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Pilot Programs: Launch 3 high-impact use cases (content personalization, event optimization, social media automation)</a:t>
            </a:r>
            <a:endParaRPr lang="en-US" sz="1100" dirty="0"/>
          </a:p>
        </p:txBody>
      </p:sp>
      <p:sp>
        <p:nvSpPr>
          <p:cNvPr id="12" name="Text 10"/>
          <p:cNvSpPr/>
          <p:nvPr/>
        </p:nvSpPr>
        <p:spPr>
          <a:xfrm>
            <a:off x="720923" y="3458051"/>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Governance Framework: Establish AI ethics board and compliance protocols</a:t>
            </a:r>
            <a:endParaRPr lang="en-US" sz="1100" dirty="0"/>
          </a:p>
        </p:txBody>
      </p:sp>
      <p:sp>
        <p:nvSpPr>
          <p:cNvPr id="13" name="Shape 11"/>
          <p:cNvSpPr/>
          <p:nvPr/>
        </p:nvSpPr>
        <p:spPr>
          <a:xfrm>
            <a:off x="5941814" y="4496038"/>
            <a:ext cx="15240" cy="432554"/>
          </a:xfrm>
          <a:prstGeom prst="roundRect">
            <a:avLst>
              <a:gd name="adj" fmla="val 397396"/>
            </a:avLst>
          </a:prstGeom>
          <a:solidFill>
            <a:srgbClr val="BBC2DC"/>
          </a:solidFill>
          <a:ln/>
        </p:spPr>
      </p:sp>
      <p:sp>
        <p:nvSpPr>
          <p:cNvPr id="14" name="Shape 12"/>
          <p:cNvSpPr/>
          <p:nvPr/>
        </p:nvSpPr>
        <p:spPr>
          <a:xfrm>
            <a:off x="5787271" y="4333875"/>
            <a:ext cx="324326" cy="324326"/>
          </a:xfrm>
          <a:prstGeom prst="roundRect">
            <a:avLst>
              <a:gd name="adj" fmla="val 18674"/>
            </a:avLst>
          </a:prstGeom>
          <a:solidFill>
            <a:srgbClr val="D5DCF6"/>
          </a:solidFill>
          <a:ln w="7620">
            <a:solidFill>
              <a:srgbClr val="BBC2DC"/>
            </a:solidFill>
            <a:prstDash val="solid"/>
          </a:ln>
        </p:spPr>
      </p:sp>
      <p:sp>
        <p:nvSpPr>
          <p:cNvPr id="15" name="Text 13"/>
          <p:cNvSpPr/>
          <p:nvPr/>
        </p:nvSpPr>
        <p:spPr>
          <a:xfrm>
            <a:off x="5835610" y="4353758"/>
            <a:ext cx="227647" cy="284559"/>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2</a:t>
            </a:r>
            <a:endParaRPr lang="en-US" sz="1750" dirty="0"/>
          </a:p>
        </p:txBody>
      </p:sp>
      <p:sp>
        <p:nvSpPr>
          <p:cNvPr id="16" name="Text 14"/>
          <p:cNvSpPr/>
          <p:nvPr/>
        </p:nvSpPr>
        <p:spPr>
          <a:xfrm>
            <a:off x="4928116" y="5072777"/>
            <a:ext cx="2042755" cy="237173"/>
          </a:xfrm>
          <a:prstGeom prst="rect">
            <a:avLst/>
          </a:prstGeom>
          <a:noFill/>
          <a:ln/>
        </p:spPr>
        <p:txBody>
          <a:bodyPr wrap="none" lIns="0" tIns="0" rIns="0" bIns="0" rtlCol="0" anchor="t"/>
          <a:lstStyle/>
          <a:p>
            <a:pPr algn="ct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Phase 2: Acceleration</a:t>
            </a:r>
            <a:endParaRPr lang="en-US" sz="1450" dirty="0"/>
          </a:p>
        </p:txBody>
      </p:sp>
      <p:sp>
        <p:nvSpPr>
          <p:cNvPr id="17" name="Text 15"/>
          <p:cNvSpPr/>
          <p:nvPr/>
        </p:nvSpPr>
        <p:spPr>
          <a:xfrm>
            <a:off x="5000863" y="5396389"/>
            <a:ext cx="1897261" cy="237173"/>
          </a:xfrm>
          <a:prstGeom prst="rect">
            <a:avLst/>
          </a:prstGeom>
          <a:noFill/>
          <a:ln/>
        </p:spPr>
        <p:txBody>
          <a:bodyPr wrap="none" lIns="0" tIns="0" rIns="0" bIns="0" rtlCol="0" anchor="t"/>
          <a:lstStyle/>
          <a:p>
            <a:pPr algn="ct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Months 7-12</a:t>
            </a:r>
            <a:endParaRPr lang="en-US" sz="1450" dirty="0"/>
          </a:p>
        </p:txBody>
      </p:sp>
      <p:sp>
        <p:nvSpPr>
          <p:cNvPr id="18" name="Text 16"/>
          <p:cNvSpPr/>
          <p:nvPr/>
        </p:nvSpPr>
        <p:spPr>
          <a:xfrm>
            <a:off x="3452336" y="5720001"/>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Production Deployment: Scale successful pilots across all TKO properties</a:t>
            </a:r>
            <a:endParaRPr lang="en-US" sz="1100" dirty="0"/>
          </a:p>
        </p:txBody>
      </p:sp>
      <p:sp>
        <p:nvSpPr>
          <p:cNvPr id="19" name="Text 17"/>
          <p:cNvSpPr/>
          <p:nvPr/>
        </p:nvSpPr>
        <p:spPr>
          <a:xfrm>
            <a:off x="3452336" y="6231612"/>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Advanced Analytics: Implement predictive models for fan behavior and event success</a:t>
            </a:r>
            <a:endParaRPr lang="en-US" sz="1100" dirty="0"/>
          </a:p>
        </p:txBody>
      </p:sp>
      <p:sp>
        <p:nvSpPr>
          <p:cNvPr id="20" name="Text 18"/>
          <p:cNvSpPr/>
          <p:nvPr/>
        </p:nvSpPr>
        <p:spPr>
          <a:xfrm>
            <a:off x="3452336" y="6743224"/>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Creative AI Tools: Deploy AI-assisted content creation for UFC, WWE, and PBR</a:t>
            </a:r>
            <a:endParaRPr lang="en-US" sz="1100" dirty="0"/>
          </a:p>
        </p:txBody>
      </p:sp>
      <p:sp>
        <p:nvSpPr>
          <p:cNvPr id="21" name="Text 19"/>
          <p:cNvSpPr/>
          <p:nvPr/>
        </p:nvSpPr>
        <p:spPr>
          <a:xfrm>
            <a:off x="3452336" y="7254835"/>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International Expansion: Launch AI-powered localization for top 20 international markets</a:t>
            </a:r>
            <a:endParaRPr lang="en-US" sz="1100" dirty="0"/>
          </a:p>
        </p:txBody>
      </p:sp>
      <p:sp>
        <p:nvSpPr>
          <p:cNvPr id="22" name="Shape 20"/>
          <p:cNvSpPr/>
          <p:nvPr/>
        </p:nvSpPr>
        <p:spPr>
          <a:xfrm>
            <a:off x="8673227" y="4063484"/>
            <a:ext cx="15240" cy="432554"/>
          </a:xfrm>
          <a:prstGeom prst="roundRect">
            <a:avLst>
              <a:gd name="adj" fmla="val 397396"/>
            </a:avLst>
          </a:prstGeom>
          <a:solidFill>
            <a:srgbClr val="BBC2DC"/>
          </a:solidFill>
          <a:ln/>
        </p:spPr>
      </p:sp>
      <p:sp>
        <p:nvSpPr>
          <p:cNvPr id="23" name="Shape 21"/>
          <p:cNvSpPr/>
          <p:nvPr/>
        </p:nvSpPr>
        <p:spPr>
          <a:xfrm>
            <a:off x="8518684" y="4333875"/>
            <a:ext cx="324326" cy="324326"/>
          </a:xfrm>
          <a:prstGeom prst="roundRect">
            <a:avLst>
              <a:gd name="adj" fmla="val 18674"/>
            </a:avLst>
          </a:prstGeom>
          <a:solidFill>
            <a:srgbClr val="D5DCF6"/>
          </a:solidFill>
          <a:ln w="7620">
            <a:solidFill>
              <a:srgbClr val="BBC2DC"/>
            </a:solidFill>
            <a:prstDash val="solid"/>
          </a:ln>
        </p:spPr>
      </p:sp>
      <p:sp>
        <p:nvSpPr>
          <p:cNvPr id="24" name="Text 22"/>
          <p:cNvSpPr/>
          <p:nvPr/>
        </p:nvSpPr>
        <p:spPr>
          <a:xfrm>
            <a:off x="8567023" y="4353758"/>
            <a:ext cx="227647" cy="284559"/>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3</a:t>
            </a:r>
            <a:endParaRPr lang="en-US" sz="1750" dirty="0"/>
          </a:p>
        </p:txBody>
      </p:sp>
      <p:sp>
        <p:nvSpPr>
          <p:cNvPr id="25" name="Text 23"/>
          <p:cNvSpPr/>
          <p:nvPr/>
        </p:nvSpPr>
        <p:spPr>
          <a:xfrm>
            <a:off x="7732276" y="1275993"/>
            <a:ext cx="1897261" cy="237173"/>
          </a:xfrm>
          <a:prstGeom prst="rect">
            <a:avLst/>
          </a:prstGeom>
          <a:noFill/>
          <a:ln/>
        </p:spPr>
        <p:txBody>
          <a:bodyPr wrap="none" lIns="0" tIns="0" rIns="0" bIns="0" rtlCol="0" anchor="t"/>
          <a:lstStyle/>
          <a:p>
            <a:pPr algn="ct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Phase 3: Innovation</a:t>
            </a:r>
            <a:endParaRPr lang="en-US" sz="1450" dirty="0"/>
          </a:p>
        </p:txBody>
      </p:sp>
      <p:sp>
        <p:nvSpPr>
          <p:cNvPr id="26" name="Text 24"/>
          <p:cNvSpPr/>
          <p:nvPr/>
        </p:nvSpPr>
        <p:spPr>
          <a:xfrm>
            <a:off x="7732276" y="1599605"/>
            <a:ext cx="1897261" cy="237173"/>
          </a:xfrm>
          <a:prstGeom prst="rect">
            <a:avLst/>
          </a:prstGeom>
          <a:noFill/>
          <a:ln/>
        </p:spPr>
        <p:txBody>
          <a:bodyPr wrap="none" lIns="0" tIns="0" rIns="0" bIns="0" rtlCol="0" anchor="t"/>
          <a:lstStyle/>
          <a:p>
            <a:pPr algn="ct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Months 13-18</a:t>
            </a:r>
            <a:endParaRPr lang="en-US" sz="1450" dirty="0"/>
          </a:p>
        </p:txBody>
      </p:sp>
      <p:sp>
        <p:nvSpPr>
          <p:cNvPr id="27" name="Text 25"/>
          <p:cNvSpPr/>
          <p:nvPr/>
        </p:nvSpPr>
        <p:spPr>
          <a:xfrm>
            <a:off x="6183749" y="1923217"/>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Immersive Experiences: Develop AI-powered virtual reality and augmented reality fan experiences</a:t>
            </a:r>
            <a:endParaRPr lang="en-US" sz="1100" dirty="0"/>
          </a:p>
        </p:txBody>
      </p:sp>
      <p:sp>
        <p:nvSpPr>
          <p:cNvPr id="28" name="Text 26"/>
          <p:cNvSpPr/>
          <p:nvPr/>
        </p:nvSpPr>
        <p:spPr>
          <a:xfrm>
            <a:off x="6183749" y="2434828"/>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Autonomous Production: Implement AI-driven live event production automation</a:t>
            </a:r>
            <a:endParaRPr lang="en-US" sz="1100" dirty="0"/>
          </a:p>
        </p:txBody>
      </p:sp>
      <p:sp>
        <p:nvSpPr>
          <p:cNvPr id="29" name="Text 27"/>
          <p:cNvSpPr/>
          <p:nvPr/>
        </p:nvSpPr>
        <p:spPr>
          <a:xfrm>
            <a:off x="6183749" y="2946440"/>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Global Optimization: Extend AI capabilities to all 210 countries and territories</a:t>
            </a:r>
            <a:endParaRPr lang="en-US" sz="1100" dirty="0"/>
          </a:p>
        </p:txBody>
      </p:sp>
      <p:sp>
        <p:nvSpPr>
          <p:cNvPr id="30" name="Text 28"/>
          <p:cNvSpPr/>
          <p:nvPr/>
        </p:nvSpPr>
        <p:spPr>
          <a:xfrm>
            <a:off x="6183749" y="3458051"/>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New Revenue Streams: Launch AI-powered services for other sports entertainment companies</a:t>
            </a:r>
            <a:endParaRPr lang="en-US" sz="1100" dirty="0"/>
          </a:p>
        </p:txBody>
      </p:sp>
      <p:sp>
        <p:nvSpPr>
          <p:cNvPr id="31" name="Shape 29"/>
          <p:cNvSpPr/>
          <p:nvPr/>
        </p:nvSpPr>
        <p:spPr>
          <a:xfrm>
            <a:off x="11404640" y="4496038"/>
            <a:ext cx="15240" cy="432554"/>
          </a:xfrm>
          <a:prstGeom prst="roundRect">
            <a:avLst>
              <a:gd name="adj" fmla="val 397396"/>
            </a:avLst>
          </a:prstGeom>
          <a:solidFill>
            <a:srgbClr val="BBC2DC"/>
          </a:solidFill>
          <a:ln/>
        </p:spPr>
      </p:sp>
      <p:sp>
        <p:nvSpPr>
          <p:cNvPr id="32" name="Shape 30"/>
          <p:cNvSpPr/>
          <p:nvPr/>
        </p:nvSpPr>
        <p:spPr>
          <a:xfrm>
            <a:off x="11250097" y="4333875"/>
            <a:ext cx="324326" cy="324326"/>
          </a:xfrm>
          <a:prstGeom prst="roundRect">
            <a:avLst>
              <a:gd name="adj" fmla="val 18674"/>
            </a:avLst>
          </a:prstGeom>
          <a:solidFill>
            <a:srgbClr val="D5DCF6"/>
          </a:solidFill>
          <a:ln w="7620">
            <a:solidFill>
              <a:srgbClr val="BBC2DC"/>
            </a:solidFill>
            <a:prstDash val="solid"/>
          </a:ln>
        </p:spPr>
      </p:sp>
      <p:sp>
        <p:nvSpPr>
          <p:cNvPr id="33" name="Text 31"/>
          <p:cNvSpPr/>
          <p:nvPr/>
        </p:nvSpPr>
        <p:spPr>
          <a:xfrm>
            <a:off x="11298436" y="4353758"/>
            <a:ext cx="227647" cy="284559"/>
          </a:xfrm>
          <a:prstGeom prst="rect">
            <a:avLst/>
          </a:prstGeom>
          <a:noFill/>
          <a:ln/>
        </p:spPr>
        <p:txBody>
          <a:bodyPr wrap="none" lIns="0" tIns="0" rIns="0" bIns="0" rtlCol="0" anchor="t"/>
          <a:lstStyle/>
          <a:p>
            <a:pPr algn="ctr" indent="0" marL="0">
              <a:lnSpc>
                <a:spcPts val="1750"/>
              </a:lnSpc>
              <a:buNone/>
            </a:pPr>
            <a:r>
              <a:rPr lang="en-US" sz="1750" dirty="0">
                <a:solidFill>
                  <a:srgbClr val="3B3535"/>
                </a:solidFill>
                <a:latin typeface="Alexandria Semi Bold" pitchFamily="34" charset="0"/>
                <a:ea typeface="Alexandria Semi Bold" pitchFamily="34" charset="-122"/>
                <a:cs typeface="Alexandria Semi Bold" pitchFamily="34" charset="-120"/>
              </a:rPr>
              <a:t>4</a:t>
            </a:r>
            <a:endParaRPr lang="en-US" sz="1750" dirty="0"/>
          </a:p>
        </p:txBody>
      </p:sp>
      <p:sp>
        <p:nvSpPr>
          <p:cNvPr id="34" name="Text 32"/>
          <p:cNvSpPr/>
          <p:nvPr/>
        </p:nvSpPr>
        <p:spPr>
          <a:xfrm>
            <a:off x="10462022" y="5072777"/>
            <a:ext cx="1900476" cy="237173"/>
          </a:xfrm>
          <a:prstGeom prst="rect">
            <a:avLst/>
          </a:prstGeom>
          <a:noFill/>
          <a:ln/>
        </p:spPr>
        <p:txBody>
          <a:bodyPr wrap="none" lIns="0" tIns="0" rIns="0" bIns="0" rtlCol="0" anchor="t"/>
          <a:lstStyle/>
          <a:p>
            <a:pPr algn="ct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Phase 4: Leadership</a:t>
            </a:r>
            <a:endParaRPr lang="en-US" sz="1450" dirty="0"/>
          </a:p>
        </p:txBody>
      </p:sp>
      <p:sp>
        <p:nvSpPr>
          <p:cNvPr id="35" name="Text 33"/>
          <p:cNvSpPr/>
          <p:nvPr/>
        </p:nvSpPr>
        <p:spPr>
          <a:xfrm>
            <a:off x="10463689" y="5396389"/>
            <a:ext cx="1897261" cy="237173"/>
          </a:xfrm>
          <a:prstGeom prst="rect">
            <a:avLst/>
          </a:prstGeom>
          <a:noFill/>
          <a:ln/>
        </p:spPr>
        <p:txBody>
          <a:bodyPr wrap="none" lIns="0" tIns="0" rIns="0" bIns="0" rtlCol="0" anchor="t"/>
          <a:lstStyle/>
          <a:p>
            <a:pPr algn="ctr" indent="0" marL="0">
              <a:lnSpc>
                <a:spcPts val="1850"/>
              </a:lnSpc>
              <a:buNone/>
            </a:pPr>
            <a:r>
              <a:rPr lang="en-US" sz="1450" dirty="0">
                <a:solidFill>
                  <a:srgbClr val="3B3535"/>
                </a:solidFill>
                <a:latin typeface="Alexandria Semi Bold" pitchFamily="34" charset="0"/>
                <a:ea typeface="Alexandria Semi Bold" pitchFamily="34" charset="-122"/>
                <a:cs typeface="Alexandria Semi Bold" pitchFamily="34" charset="-120"/>
              </a:rPr>
              <a:t>Months 19-24</a:t>
            </a:r>
            <a:endParaRPr lang="en-US" sz="1450" dirty="0"/>
          </a:p>
        </p:txBody>
      </p:sp>
      <p:sp>
        <p:nvSpPr>
          <p:cNvPr id="36" name="Text 34"/>
          <p:cNvSpPr/>
          <p:nvPr/>
        </p:nvSpPr>
        <p:spPr>
          <a:xfrm>
            <a:off x="8915162" y="5720001"/>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Industry Platform: Position TKO as AI leader in sports entertainment</a:t>
            </a:r>
            <a:endParaRPr lang="en-US" sz="1100" dirty="0"/>
          </a:p>
        </p:txBody>
      </p:sp>
      <p:sp>
        <p:nvSpPr>
          <p:cNvPr id="37" name="Text 35"/>
          <p:cNvSpPr/>
          <p:nvPr/>
        </p:nvSpPr>
        <p:spPr>
          <a:xfrm>
            <a:off x="8915162" y="6231612"/>
            <a:ext cx="4994315" cy="230624"/>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Ecosystem Expansion: Offer AI services to partners and affiliates</a:t>
            </a:r>
            <a:endParaRPr lang="en-US" sz="1100" dirty="0"/>
          </a:p>
        </p:txBody>
      </p:sp>
      <p:sp>
        <p:nvSpPr>
          <p:cNvPr id="38" name="Text 36"/>
          <p:cNvSpPr/>
          <p:nvPr/>
        </p:nvSpPr>
        <p:spPr>
          <a:xfrm>
            <a:off x="8915162" y="6512600"/>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Continuous Innovation: Establish ongoing AI research and development capabilities</a:t>
            </a:r>
            <a:endParaRPr lang="en-US" sz="1100" dirty="0"/>
          </a:p>
        </p:txBody>
      </p:sp>
      <p:sp>
        <p:nvSpPr>
          <p:cNvPr id="39" name="Text 37"/>
          <p:cNvSpPr/>
          <p:nvPr/>
        </p:nvSpPr>
        <p:spPr>
          <a:xfrm>
            <a:off x="8915162" y="7024211"/>
            <a:ext cx="4994315" cy="461248"/>
          </a:xfrm>
          <a:prstGeom prst="rect">
            <a:avLst/>
          </a:prstGeom>
          <a:noFill/>
          <a:ln/>
        </p:spPr>
        <p:txBody>
          <a:bodyPr wrap="square" lIns="0" tIns="0" rIns="0" bIns="0" rtlCol="0" anchor="t"/>
          <a:lstStyle/>
          <a:p>
            <a:pPr algn="l" marL="342900" indent="-342900">
              <a:lnSpc>
                <a:spcPts val="1800"/>
              </a:lnSpc>
              <a:buSzPct val="100000"/>
              <a:buChar char="•"/>
            </a:pPr>
            <a:r>
              <a:rPr lang="en-US" sz="1100" dirty="0">
                <a:solidFill>
                  <a:srgbClr val="3B3535"/>
                </a:solidFill>
                <a:latin typeface="Sora Light" pitchFamily="34" charset="0"/>
                <a:ea typeface="Sora Light" pitchFamily="34" charset="-122"/>
                <a:cs typeface="Sora Light" pitchFamily="34" charset="-120"/>
              </a:rPr>
              <a:t>Global Expansion: Leverage AI for new market entry and fan base growth</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8062" y="669846"/>
            <a:ext cx="13217723" cy="565904"/>
          </a:xfrm>
          <a:prstGeom prst="rect">
            <a:avLst/>
          </a:prstGeom>
          <a:noFill/>
          <a:ln/>
        </p:spPr>
        <p:txBody>
          <a:bodyPr wrap="none" lIns="0" tIns="0" rIns="0" bIns="0" rtlCol="0" anchor="t"/>
          <a:lstStyle/>
          <a:p>
            <a:pPr algn="l" indent="0" marL="0">
              <a:lnSpc>
                <a:spcPts val="4450"/>
              </a:lnSpc>
              <a:buNone/>
            </a:pPr>
            <a:r>
              <a:rPr lang="en-US" sz="3550" dirty="0">
                <a:solidFill>
                  <a:srgbClr val="1F1E1E"/>
                </a:solidFill>
                <a:latin typeface="Alexandria Semi Bold" pitchFamily="34" charset="0"/>
                <a:ea typeface="Alexandria Semi Bold" pitchFamily="34" charset="-122"/>
                <a:cs typeface="Alexandria Semi Bold" pitchFamily="34" charset="-120"/>
              </a:rPr>
              <a:t>How Tata Consultancy Services Powers AI Transformation</a:t>
            </a:r>
            <a:endParaRPr lang="en-US" sz="3550" dirty="0"/>
          </a:p>
        </p:txBody>
      </p:sp>
      <p:sp>
        <p:nvSpPr>
          <p:cNvPr id="3" name="Text 1"/>
          <p:cNvSpPr/>
          <p:nvPr/>
        </p:nvSpPr>
        <p:spPr>
          <a:xfrm>
            <a:off x="688062" y="1665684"/>
            <a:ext cx="5922764" cy="339566"/>
          </a:xfrm>
          <a:prstGeom prst="rect">
            <a:avLst/>
          </a:prstGeom>
          <a:noFill/>
          <a:ln/>
        </p:spPr>
        <p:txBody>
          <a:bodyPr wrap="none" lIns="0" tIns="0" rIns="0" bIns="0" rtlCol="0" anchor="t"/>
          <a:lstStyle/>
          <a:p>
            <a:pPr algn="l" indent="0" marL="0">
              <a:lnSpc>
                <a:spcPts val="2650"/>
              </a:lnSpc>
              <a:buNone/>
            </a:pPr>
            <a:r>
              <a:rPr lang="en-US" sz="2100" dirty="0">
                <a:solidFill>
                  <a:srgbClr val="1F1E1E"/>
                </a:solidFill>
                <a:latin typeface="Alexandria Semi Bold" pitchFamily="34" charset="0"/>
                <a:ea typeface="Alexandria Semi Bold" pitchFamily="34" charset="-122"/>
                <a:cs typeface="Alexandria Semi Bold" pitchFamily="34" charset="-120"/>
              </a:rPr>
              <a:t>TCS: The World's AI Transformation Partner</a:t>
            </a:r>
            <a:endParaRPr lang="en-US" sz="2100" dirty="0"/>
          </a:p>
        </p:txBody>
      </p:sp>
      <p:sp>
        <p:nvSpPr>
          <p:cNvPr id="4" name="Shape 2"/>
          <p:cNvSpPr/>
          <p:nvPr/>
        </p:nvSpPr>
        <p:spPr>
          <a:xfrm>
            <a:off x="688062" y="2198727"/>
            <a:ext cx="6417350" cy="2585799"/>
          </a:xfrm>
          <a:prstGeom prst="roundRect">
            <a:avLst>
              <a:gd name="adj" fmla="val 2794"/>
            </a:avLst>
          </a:prstGeom>
          <a:solidFill>
            <a:srgbClr val="D5DCF6"/>
          </a:solidFill>
          <a:ln w="7620">
            <a:solidFill>
              <a:srgbClr val="BBC2DC"/>
            </a:solidFill>
            <a:prstDash val="solid"/>
          </a:ln>
        </p:spPr>
      </p:sp>
      <p:sp>
        <p:nvSpPr>
          <p:cNvPr id="5" name="Text 3"/>
          <p:cNvSpPr/>
          <p:nvPr/>
        </p:nvSpPr>
        <p:spPr>
          <a:xfrm>
            <a:off x="867608" y="2378273"/>
            <a:ext cx="2263616" cy="282893"/>
          </a:xfrm>
          <a:prstGeom prst="rect">
            <a:avLst/>
          </a:prstGeom>
          <a:noFill/>
          <a:ln/>
        </p:spPr>
        <p:txBody>
          <a:bodyPr wrap="none" lIns="0" tIns="0" rIns="0" bIns="0" rtlCol="0" anchor="t"/>
          <a:lstStyle/>
          <a:p>
            <a:pPr algn="l" indent="0" marL="0">
              <a:lnSpc>
                <a:spcPts val="2200"/>
              </a:lnSpc>
              <a:buNone/>
            </a:pPr>
            <a:r>
              <a:rPr lang="en-US" sz="1750" dirty="0">
                <a:solidFill>
                  <a:srgbClr val="3B3535"/>
                </a:solidFill>
                <a:latin typeface="Alexandria Semi Bold" pitchFamily="34" charset="0"/>
                <a:ea typeface="Alexandria Semi Bold" pitchFamily="34" charset="-122"/>
                <a:cs typeface="Alexandria Semi Bold" pitchFamily="34" charset="-120"/>
              </a:rPr>
              <a:t>Scale and Expertise</a:t>
            </a:r>
            <a:endParaRPr lang="en-US" sz="1750" dirty="0"/>
          </a:p>
        </p:txBody>
      </p:sp>
      <p:sp>
        <p:nvSpPr>
          <p:cNvPr id="6" name="Text 4"/>
          <p:cNvSpPr/>
          <p:nvPr/>
        </p:nvSpPr>
        <p:spPr>
          <a:xfrm>
            <a:off x="867608" y="2833092"/>
            <a:ext cx="6058257" cy="55054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600,000+ employees with 300,000+ reskilled in AI/ML and GenAI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1" invalidUrl="" action="" tgtFrame="" tooltip="" history="1" highlightClick="0" endSnd="0">
                  <a:extLst>
                    <a:ext uri="{A12FA001-AC4F-418D-AE19-62706E023703}">
                      <ahyp:hlinkClr xmlns:ahyp="http://schemas.microsoft.com/office/drawing/2018/hyperlinkcolor" val="tx"/>
                    </a:ext>
                  </a:extLst>
                </a:hlinkClick>
              </a:rPr>
              <a:t>6</a:t>
            </a:r>
            <a:endParaRPr lang="en-US" sz="1350" dirty="0"/>
          </a:p>
        </p:txBody>
      </p:sp>
      <p:sp>
        <p:nvSpPr>
          <p:cNvPr id="7" name="Text 5"/>
          <p:cNvSpPr/>
          <p:nvPr/>
        </p:nvSpPr>
        <p:spPr>
          <a:xfrm>
            <a:off x="867608" y="3443764"/>
            <a:ext cx="6058257" cy="55054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$1.5 billion AI pipeline with 600+ AI and GenAI projects in production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2" invalidUrl="" action="" tgtFrame="" tooltip="" history="1" highlightClick="0" endSnd="0">
                  <a:extLst>
                    <a:ext uri="{A12FA001-AC4F-418D-AE19-62706E023703}">
                      <ahyp:hlinkClr xmlns:ahyp="http://schemas.microsoft.com/office/drawing/2018/hyperlinkcolor" val="tx"/>
                    </a:ext>
                  </a:extLst>
                </a:hlinkClick>
              </a:rPr>
              <a:t>7</a:t>
            </a:r>
            <a:pPr algn="l" indent="0" marL="0">
              <a:lnSpc>
                <a:spcPts val="2150"/>
              </a:lnSpc>
              <a:buNone/>
            </a:pPr>
            <a:r>
              <a:rPr lang="en-US" sz="1350" dirty="0">
                <a:solidFill>
                  <a:srgbClr val="3B3535"/>
                </a:solidFill>
                <a:latin typeface="Sora Light" pitchFamily="34" charset="0"/>
                <a:ea typeface="Sora Light" pitchFamily="34" charset="-122"/>
                <a:cs typeface="Sora Light" pitchFamily="34" charset="-120"/>
              </a:rPr>
              <a:t>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3" invalidUrl="" action="" tgtFrame="" tooltip="" history="1" highlightClick="0" endSnd="0">
                  <a:extLst>
                    <a:ext uri="{A12FA001-AC4F-418D-AE19-62706E023703}">
                      <ahyp:hlinkClr xmlns:ahyp="http://schemas.microsoft.com/office/drawing/2018/hyperlinkcolor" val="tx"/>
                    </a:ext>
                  </a:extLst>
                </a:hlinkClick>
              </a:rPr>
              <a:t>8</a:t>
            </a:r>
            <a:endParaRPr lang="en-US" sz="1350" dirty="0"/>
          </a:p>
        </p:txBody>
      </p:sp>
      <p:sp>
        <p:nvSpPr>
          <p:cNvPr id="8" name="Text 6"/>
          <p:cNvSpPr/>
          <p:nvPr/>
        </p:nvSpPr>
        <p:spPr>
          <a:xfrm>
            <a:off x="867608" y="4054435"/>
            <a:ext cx="6058257" cy="55054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86% of executives already deployed AI to enhance revenue with TCS guidance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4" invalidUrl="" action="" tgtFrame="" tooltip="" history="1" highlightClick="0" endSnd="0">
                  <a:extLst>
                    <a:ext uri="{A12FA001-AC4F-418D-AE19-62706E023703}">
                      <ahyp:hlinkClr xmlns:ahyp="http://schemas.microsoft.com/office/drawing/2018/hyperlinkcolor" val="tx"/>
                    </a:ext>
                  </a:extLst>
                </a:hlinkClick>
              </a:rPr>
              <a:t>9</a:t>
            </a:r>
            <a:endParaRPr lang="en-US" sz="1350" dirty="0"/>
          </a:p>
        </p:txBody>
      </p:sp>
      <p:sp>
        <p:nvSpPr>
          <p:cNvPr id="9" name="Shape 7"/>
          <p:cNvSpPr/>
          <p:nvPr/>
        </p:nvSpPr>
        <p:spPr>
          <a:xfrm>
            <a:off x="688062" y="4956453"/>
            <a:ext cx="6417350" cy="2310527"/>
          </a:xfrm>
          <a:prstGeom prst="roundRect">
            <a:avLst>
              <a:gd name="adj" fmla="val 3127"/>
            </a:avLst>
          </a:prstGeom>
          <a:solidFill>
            <a:srgbClr val="D5DCF6"/>
          </a:solidFill>
          <a:ln w="7620">
            <a:solidFill>
              <a:srgbClr val="BBC2DC"/>
            </a:solidFill>
            <a:prstDash val="solid"/>
          </a:ln>
        </p:spPr>
      </p:sp>
      <p:sp>
        <p:nvSpPr>
          <p:cNvPr id="10" name="Text 8"/>
          <p:cNvSpPr/>
          <p:nvPr/>
        </p:nvSpPr>
        <p:spPr>
          <a:xfrm>
            <a:off x="867608" y="5135999"/>
            <a:ext cx="2291596" cy="282893"/>
          </a:xfrm>
          <a:prstGeom prst="rect">
            <a:avLst/>
          </a:prstGeom>
          <a:noFill/>
          <a:ln/>
        </p:spPr>
        <p:txBody>
          <a:bodyPr wrap="none" lIns="0" tIns="0" rIns="0" bIns="0" rtlCol="0" anchor="t"/>
          <a:lstStyle/>
          <a:p>
            <a:pPr algn="l" indent="0" marL="0">
              <a:lnSpc>
                <a:spcPts val="2200"/>
              </a:lnSpc>
              <a:buNone/>
            </a:pPr>
            <a:r>
              <a:rPr lang="en-US" sz="1750" dirty="0">
                <a:solidFill>
                  <a:srgbClr val="3B3535"/>
                </a:solidFill>
                <a:latin typeface="Alexandria Semi Bold" pitchFamily="34" charset="0"/>
                <a:ea typeface="Alexandria Semi Bold" pitchFamily="34" charset="-122"/>
                <a:cs typeface="Alexandria Semi Bold" pitchFamily="34" charset="-120"/>
              </a:rPr>
              <a:t>Industry Leadership</a:t>
            </a:r>
            <a:endParaRPr lang="en-US" sz="1750" dirty="0"/>
          </a:p>
        </p:txBody>
      </p:sp>
      <p:sp>
        <p:nvSpPr>
          <p:cNvPr id="11" name="Text 9"/>
          <p:cNvSpPr/>
          <p:nvPr/>
        </p:nvSpPr>
        <p:spPr>
          <a:xfrm>
            <a:off x="867608" y="5590818"/>
            <a:ext cx="6058257" cy="275273"/>
          </a:xfrm>
          <a:prstGeom prst="rect">
            <a:avLst/>
          </a:prstGeom>
          <a:noFill/>
          <a:ln/>
        </p:spPr>
        <p:txBody>
          <a:bodyPr wrap="non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AI Leader recognition by Forrester and Everest Group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5" invalidUrl="" action="" tgtFrame="" tooltip="" history="1" highlightClick="0" endSnd="0">
                  <a:extLst>
                    <a:ext uri="{A12FA001-AC4F-418D-AE19-62706E023703}">
                      <ahyp:hlinkClr xmlns:ahyp="http://schemas.microsoft.com/office/drawing/2018/hyperlinkcolor" val="tx"/>
                    </a:ext>
                  </a:extLst>
                </a:hlinkClick>
              </a:rPr>
              <a:t>6</a:t>
            </a:r>
            <a:endParaRPr lang="en-US" sz="1350" dirty="0"/>
          </a:p>
        </p:txBody>
      </p:sp>
      <p:sp>
        <p:nvSpPr>
          <p:cNvPr id="12" name="Text 10"/>
          <p:cNvSpPr/>
          <p:nvPr/>
        </p:nvSpPr>
        <p:spPr>
          <a:xfrm>
            <a:off x="867608" y="5926217"/>
            <a:ext cx="6058257" cy="55054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Enterprise AI at Scale: 3P strategy (patents, products, platforms) with 300,000+ AI-trained associates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6" invalidUrl="" action="" tgtFrame="" tooltip="" history="1" highlightClick="0" endSnd="0">
                  <a:extLst>
                    <a:ext uri="{A12FA001-AC4F-418D-AE19-62706E023703}">
                      <ahyp:hlinkClr xmlns:ahyp="http://schemas.microsoft.com/office/drawing/2018/hyperlinkcolor" val="tx"/>
                    </a:ext>
                  </a:extLst>
                </a:hlinkClick>
              </a:rPr>
              <a:t>10</a:t>
            </a:r>
            <a:endParaRPr lang="en-US" sz="1350" dirty="0"/>
          </a:p>
        </p:txBody>
      </p:sp>
      <p:sp>
        <p:nvSpPr>
          <p:cNvPr id="13" name="Text 11"/>
          <p:cNvSpPr/>
          <p:nvPr/>
        </p:nvSpPr>
        <p:spPr>
          <a:xfrm>
            <a:off x="867608" y="6536888"/>
            <a:ext cx="6058257" cy="55054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AI-First Transformation: Dedicated AI offices and Centers of Excellence for strategic AI implementation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7" invalidUrl="" action="" tgtFrame="" tooltip="" history="1" highlightClick="0" endSnd="0">
                  <a:extLst>
                    <a:ext uri="{A12FA001-AC4F-418D-AE19-62706E023703}">
                      <ahyp:hlinkClr xmlns:ahyp="http://schemas.microsoft.com/office/drawing/2018/hyperlinkcolor" val="tx"/>
                    </a:ext>
                  </a:extLst>
                </a:hlinkClick>
              </a:rPr>
              <a:t>8</a:t>
            </a:r>
            <a:pPr algn="l" indent="0" marL="0">
              <a:lnSpc>
                <a:spcPts val="2150"/>
              </a:lnSpc>
              <a:buNone/>
            </a:pPr>
            <a:r>
              <a:rPr lang="en-US" sz="1350" dirty="0">
                <a:solidFill>
                  <a:srgbClr val="3B3535"/>
                </a:solidFill>
                <a:latin typeface="Sora Light" pitchFamily="34" charset="0"/>
                <a:ea typeface="Sora Light" pitchFamily="34" charset="-122"/>
                <a:cs typeface="Sora Light" pitchFamily="34" charset="-120"/>
              </a:rPr>
              <a:t>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8" invalidUrl="" action="" tgtFrame="" tooltip="" history="1" highlightClick="0" endSnd="0">
                  <a:extLst>
                    <a:ext uri="{A12FA001-AC4F-418D-AE19-62706E023703}">
                      <ahyp:hlinkClr xmlns:ahyp="http://schemas.microsoft.com/office/drawing/2018/hyperlinkcolor" val="tx"/>
                    </a:ext>
                  </a:extLst>
                </a:hlinkClick>
              </a:rPr>
              <a:t>11</a:t>
            </a:r>
            <a:endParaRPr lang="en-US" sz="1350" dirty="0"/>
          </a:p>
        </p:txBody>
      </p:sp>
      <p:sp>
        <p:nvSpPr>
          <p:cNvPr id="14" name="Shape 12"/>
          <p:cNvSpPr/>
          <p:nvPr/>
        </p:nvSpPr>
        <p:spPr>
          <a:xfrm>
            <a:off x="7532608" y="1687235"/>
            <a:ext cx="6417350" cy="2585799"/>
          </a:xfrm>
          <a:prstGeom prst="roundRect">
            <a:avLst>
              <a:gd name="adj" fmla="val 2794"/>
            </a:avLst>
          </a:prstGeom>
          <a:solidFill>
            <a:srgbClr val="D5DCF6"/>
          </a:solidFill>
          <a:ln w="7620">
            <a:solidFill>
              <a:srgbClr val="BBC2DC"/>
            </a:solidFill>
            <a:prstDash val="solid"/>
          </a:ln>
        </p:spPr>
      </p:sp>
      <p:sp>
        <p:nvSpPr>
          <p:cNvPr id="15" name="Text 13"/>
          <p:cNvSpPr/>
          <p:nvPr/>
        </p:nvSpPr>
        <p:spPr>
          <a:xfrm>
            <a:off x="7712154" y="1866781"/>
            <a:ext cx="3819763" cy="282893"/>
          </a:xfrm>
          <a:prstGeom prst="rect">
            <a:avLst/>
          </a:prstGeom>
          <a:noFill/>
          <a:ln/>
        </p:spPr>
        <p:txBody>
          <a:bodyPr wrap="none" lIns="0" tIns="0" rIns="0" bIns="0" rtlCol="0" anchor="t"/>
          <a:lstStyle/>
          <a:p>
            <a:pPr algn="l" indent="0" marL="0">
              <a:lnSpc>
                <a:spcPts val="2200"/>
              </a:lnSpc>
              <a:buNone/>
            </a:pPr>
            <a:r>
              <a:rPr lang="en-US" sz="1750" dirty="0">
                <a:solidFill>
                  <a:srgbClr val="3B3535"/>
                </a:solidFill>
                <a:latin typeface="Alexandria Semi Bold" pitchFamily="34" charset="0"/>
                <a:ea typeface="Alexandria Semi Bold" pitchFamily="34" charset="-122"/>
                <a:cs typeface="Alexandria Semi Bold" pitchFamily="34" charset="-120"/>
              </a:rPr>
              <a:t>Media &amp; Entertainment Expertise</a:t>
            </a:r>
            <a:endParaRPr lang="en-US" sz="1750" dirty="0"/>
          </a:p>
        </p:txBody>
      </p:sp>
      <p:sp>
        <p:nvSpPr>
          <p:cNvPr id="16" name="Text 14"/>
          <p:cNvSpPr/>
          <p:nvPr/>
        </p:nvSpPr>
        <p:spPr>
          <a:xfrm>
            <a:off x="7712154" y="2321600"/>
            <a:ext cx="6058257" cy="55054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Deep CMI Domain Knowledge: Specialized practice serving communications, media, and information services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9" invalidUrl="" action="" tgtFrame="" tooltip="" history="1" highlightClick="0" endSnd="0">
                  <a:extLst>
                    <a:ext uri="{A12FA001-AC4F-418D-AE19-62706E023703}">
                      <ahyp:hlinkClr xmlns:ahyp="http://schemas.microsoft.com/office/drawing/2018/hyperlinkcolor" val="tx"/>
                    </a:ext>
                  </a:extLst>
                </a:hlinkClick>
              </a:rPr>
              <a:t>12</a:t>
            </a:r>
            <a:pPr algn="l" indent="0" marL="0">
              <a:lnSpc>
                <a:spcPts val="2150"/>
              </a:lnSpc>
              <a:buNone/>
            </a:pPr>
            <a:r>
              <a:rPr lang="en-US" sz="1350" dirty="0">
                <a:solidFill>
                  <a:srgbClr val="3B3535"/>
                </a:solidFill>
                <a:latin typeface="Sora Light" pitchFamily="34" charset="0"/>
                <a:ea typeface="Sora Light" pitchFamily="34" charset="-122"/>
                <a:cs typeface="Sora Light" pitchFamily="34" charset="-120"/>
              </a:rPr>
              <a:t>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13</a:t>
            </a:r>
            <a:endParaRPr lang="en-US" sz="1350" dirty="0"/>
          </a:p>
        </p:txBody>
      </p:sp>
      <p:sp>
        <p:nvSpPr>
          <p:cNvPr id="17" name="Text 15"/>
          <p:cNvSpPr/>
          <p:nvPr/>
        </p:nvSpPr>
        <p:spPr>
          <a:xfrm>
            <a:off x="7712154" y="2932271"/>
            <a:ext cx="6058257" cy="55054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Content Personalization: AI-driven solutions for vastly more targeted, relevant audience interactions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11" invalidUrl="" action="" tgtFrame="" tooltip="" history="1" highlightClick="0" endSnd="0">
                  <a:extLst>
                    <a:ext uri="{A12FA001-AC4F-418D-AE19-62706E023703}">
                      <ahyp:hlinkClr xmlns:ahyp="http://schemas.microsoft.com/office/drawing/2018/hyperlinkcolor" val="tx"/>
                    </a:ext>
                  </a:extLst>
                </a:hlinkClick>
              </a:rPr>
              <a:t>12</a:t>
            </a:r>
            <a:pPr algn="l" indent="0" marL="0">
              <a:lnSpc>
                <a:spcPts val="2150"/>
              </a:lnSpc>
              <a:buNone/>
            </a:pPr>
            <a:r>
              <a:rPr lang="en-US" sz="1350" dirty="0">
                <a:solidFill>
                  <a:srgbClr val="3B3535"/>
                </a:solidFill>
                <a:latin typeface="Sora Light" pitchFamily="34" charset="0"/>
                <a:ea typeface="Sora Light" pitchFamily="34" charset="-122"/>
                <a:cs typeface="Sora Light" pitchFamily="34" charset="-120"/>
              </a:rPr>
              <a:t>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12" invalidUrl="" action="" tgtFrame="" tooltip="" history="1" highlightClick="0" endSnd="0">
                  <a:extLst>
                    <a:ext uri="{A12FA001-AC4F-418D-AE19-62706E023703}">
                      <ahyp:hlinkClr xmlns:ahyp="http://schemas.microsoft.com/office/drawing/2018/hyperlinkcolor" val="tx"/>
                    </a:ext>
                  </a:extLst>
                </a:hlinkClick>
              </a:rPr>
              <a:t>14</a:t>
            </a:r>
            <a:endParaRPr lang="en-US" sz="1350" dirty="0"/>
          </a:p>
        </p:txBody>
      </p:sp>
      <p:sp>
        <p:nvSpPr>
          <p:cNvPr id="18" name="Text 16"/>
          <p:cNvSpPr/>
          <p:nvPr/>
        </p:nvSpPr>
        <p:spPr>
          <a:xfrm>
            <a:off x="7712154" y="3542943"/>
            <a:ext cx="6058257" cy="55054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Production Automation: AI-powered tools for content creation, curation, and multilingual localization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13" invalidUrl="" action="" tgtFrame="" tooltip="" history="1" highlightClick="0" endSnd="0">
                  <a:extLst>
                    <a:ext uri="{A12FA001-AC4F-418D-AE19-62706E023703}">
                      <ahyp:hlinkClr xmlns:ahyp="http://schemas.microsoft.com/office/drawing/2018/hyperlinkcolor" val="tx"/>
                    </a:ext>
                  </a:extLst>
                </a:hlinkClick>
              </a:rPr>
              <a:t>12</a:t>
            </a:r>
            <a:endParaRPr lang="en-US" sz="1350" dirty="0"/>
          </a:p>
        </p:txBody>
      </p:sp>
      <p:sp>
        <p:nvSpPr>
          <p:cNvPr id="19" name="Shape 17"/>
          <p:cNvSpPr/>
          <p:nvPr/>
        </p:nvSpPr>
        <p:spPr>
          <a:xfrm>
            <a:off x="7532608" y="4444960"/>
            <a:ext cx="6417350" cy="2921198"/>
          </a:xfrm>
          <a:prstGeom prst="roundRect">
            <a:avLst>
              <a:gd name="adj" fmla="val 2474"/>
            </a:avLst>
          </a:prstGeom>
          <a:solidFill>
            <a:srgbClr val="D5DCF6"/>
          </a:solidFill>
          <a:ln w="7620">
            <a:solidFill>
              <a:srgbClr val="BBC2DC"/>
            </a:solidFill>
            <a:prstDash val="solid"/>
          </a:ln>
        </p:spPr>
      </p:sp>
      <p:sp>
        <p:nvSpPr>
          <p:cNvPr id="20" name="Text 18"/>
          <p:cNvSpPr/>
          <p:nvPr/>
        </p:nvSpPr>
        <p:spPr>
          <a:xfrm>
            <a:off x="7712154" y="4624507"/>
            <a:ext cx="2930247" cy="282893"/>
          </a:xfrm>
          <a:prstGeom prst="rect">
            <a:avLst/>
          </a:prstGeom>
          <a:noFill/>
          <a:ln/>
        </p:spPr>
        <p:txBody>
          <a:bodyPr wrap="none" lIns="0" tIns="0" rIns="0" bIns="0" rtlCol="0" anchor="t"/>
          <a:lstStyle/>
          <a:p>
            <a:pPr algn="l" indent="0" marL="0">
              <a:lnSpc>
                <a:spcPts val="2200"/>
              </a:lnSpc>
              <a:buNone/>
            </a:pPr>
            <a:r>
              <a:rPr lang="en-US" sz="1750" dirty="0">
                <a:solidFill>
                  <a:srgbClr val="3B3535"/>
                </a:solidFill>
                <a:latin typeface="Alexandria Semi Bold" pitchFamily="34" charset="0"/>
                <a:ea typeface="Alexandria Semi Bold" pitchFamily="34" charset="-122"/>
                <a:cs typeface="Alexandria Semi Bold" pitchFamily="34" charset="-120"/>
              </a:rPr>
              <a:t>TCS AI Solutions Portfolio</a:t>
            </a:r>
            <a:endParaRPr lang="en-US" sz="1750" dirty="0"/>
          </a:p>
        </p:txBody>
      </p:sp>
      <p:sp>
        <p:nvSpPr>
          <p:cNvPr id="21" name="Text 19"/>
          <p:cNvSpPr/>
          <p:nvPr/>
        </p:nvSpPr>
        <p:spPr>
          <a:xfrm>
            <a:off x="7712154" y="5079325"/>
            <a:ext cx="6058257" cy="55054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TCS AI Studio: No-code platform for democratization of AI and data-driven decisions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14" invalidUrl="" action="" tgtFrame="" tooltip="" history="1" highlightClick="0" endSnd="0">
                  <a:extLst>
                    <a:ext uri="{A12FA001-AC4F-418D-AE19-62706E023703}">
                      <ahyp:hlinkClr xmlns:ahyp="http://schemas.microsoft.com/office/drawing/2018/hyperlinkcolor" val="tx"/>
                    </a:ext>
                  </a:extLst>
                </a:hlinkClick>
              </a:rPr>
              <a:t>15</a:t>
            </a:r>
            <a:endParaRPr lang="en-US" sz="1350" dirty="0"/>
          </a:p>
        </p:txBody>
      </p:sp>
      <p:sp>
        <p:nvSpPr>
          <p:cNvPr id="22" name="Text 20"/>
          <p:cNvSpPr/>
          <p:nvPr/>
        </p:nvSpPr>
        <p:spPr>
          <a:xfrm>
            <a:off x="7712154" y="5689997"/>
            <a:ext cx="6058257" cy="55054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TCS WisdomNext: AI platform integrating generative AI capabilities into operations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15" invalidUrl="" action="" tgtFrame="" tooltip="" history="1" highlightClick="0" endSnd="0">
                  <a:extLst>
                    <a:ext uri="{A12FA001-AC4F-418D-AE19-62706E023703}">
                      <ahyp:hlinkClr xmlns:ahyp="http://schemas.microsoft.com/office/drawing/2018/hyperlinkcolor" val="tx"/>
                    </a:ext>
                  </a:extLst>
                </a:hlinkClick>
              </a:rPr>
              <a:t>7</a:t>
            </a:r>
            <a:endParaRPr lang="en-US" sz="1350" dirty="0"/>
          </a:p>
        </p:txBody>
      </p:sp>
      <p:sp>
        <p:nvSpPr>
          <p:cNvPr id="23" name="Text 21"/>
          <p:cNvSpPr/>
          <p:nvPr/>
        </p:nvSpPr>
        <p:spPr>
          <a:xfrm>
            <a:off x="7712154" y="6300668"/>
            <a:ext cx="6058257" cy="275273"/>
          </a:xfrm>
          <a:prstGeom prst="rect">
            <a:avLst/>
          </a:prstGeom>
          <a:noFill/>
          <a:ln/>
        </p:spPr>
        <p:txBody>
          <a:bodyPr wrap="non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TCS Interactive: AI-powered customer experience solutions </a:t>
            </a:r>
            <a:pPr algn="l" indent="0" marL="0">
              <a:lnSpc>
                <a:spcPts val="2150"/>
              </a:lnSpc>
              <a:buNone/>
            </a:pPr>
            <a:r>
              <a:rPr lang="en-US" sz="1350" u="sng" dirty="0">
                <a:solidFill>
                  <a:srgbClr val="1A2D7A"/>
                </a:solidFill>
                <a:latin typeface="Sora Light" pitchFamily="34" charset="0"/>
                <a:ea typeface="Sora Light" pitchFamily="34" charset="-122"/>
                <a:cs typeface="Sora Light" pitchFamily="34" charset="-120"/>
                <a:hlinkClick r:id="rId16" invalidUrl="" action="" tgtFrame="" tooltip="" history="1" highlightClick="0" endSnd="0">
                  <a:extLst>
                    <a:ext uri="{A12FA001-AC4F-418D-AE19-62706E023703}">
                      <ahyp:hlinkClr xmlns:ahyp="http://schemas.microsoft.com/office/drawing/2018/hyperlinkcolor" val="tx"/>
                    </a:ext>
                  </a:extLst>
                </a:hlinkClick>
              </a:rPr>
              <a:t>16</a:t>
            </a:r>
            <a:endParaRPr lang="en-US" sz="1350" dirty="0"/>
          </a:p>
        </p:txBody>
      </p:sp>
      <p:sp>
        <p:nvSpPr>
          <p:cNvPr id="24" name="Text 22"/>
          <p:cNvSpPr/>
          <p:nvPr/>
        </p:nvSpPr>
        <p:spPr>
          <a:xfrm>
            <a:off x="7712154" y="6636068"/>
            <a:ext cx="6058257" cy="55054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TCS Conversa: Conversational AI platform for enhanced customer engagement </a:t>
            </a:r>
            <a:pPr algn="l" indent="0" marL="0">
              <a:lnSpc>
                <a:spcPts val="2150"/>
              </a:lnSpc>
              <a:buNone/>
            </a:pPr>
            <a:r>
              <a:rPr lang="en-US" sz="1350" dirty="0">
                <a:solidFill>
                  <a:srgbClr val="3B3535"/>
                </a:solidFill>
                <a:latin typeface="Sora Light" pitchFamily="34" charset="0"/>
                <a:ea typeface="Sora Light" pitchFamily="34" charset="-122"/>
                <a:cs typeface="Sora Light" pitchFamily="34" charset="-120"/>
              </a:rPr>
              <a:t>17</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27685" y="362783"/>
            <a:ext cx="9118878" cy="433983"/>
          </a:xfrm>
          <a:prstGeom prst="rect">
            <a:avLst/>
          </a:prstGeom>
          <a:noFill/>
          <a:ln/>
        </p:spPr>
        <p:txBody>
          <a:bodyPr wrap="none" lIns="0" tIns="0" rIns="0" bIns="0" rtlCol="0" anchor="t"/>
          <a:lstStyle/>
          <a:p>
            <a:pPr algn="l" indent="0" marL="0">
              <a:lnSpc>
                <a:spcPts val="3400"/>
              </a:lnSpc>
              <a:buNone/>
            </a:pPr>
            <a:r>
              <a:rPr lang="en-US" sz="2700" dirty="0">
                <a:solidFill>
                  <a:srgbClr val="1F1E1E"/>
                </a:solidFill>
                <a:latin typeface="Alexandria Semi Bold" pitchFamily="34" charset="0"/>
                <a:ea typeface="Alexandria Semi Bold" pitchFamily="34" charset="-122"/>
                <a:cs typeface="Alexandria Semi Bold" pitchFamily="34" charset="-120"/>
              </a:rPr>
              <a:t>TCS AI Success Stories - Real Client Transformations</a:t>
            </a:r>
            <a:endParaRPr lang="en-US" sz="2700" dirty="0"/>
          </a:p>
        </p:txBody>
      </p:sp>
      <p:pic>
        <p:nvPicPr>
          <p:cNvPr id="3" name="Image 0" descr="preencoded.png">    </p:cNvPr>
          <p:cNvPicPr>
            <a:picLocks noChangeAspect="1"/>
          </p:cNvPicPr>
          <p:nvPr/>
        </p:nvPicPr>
        <p:blipFill>
          <a:blip r:embed="rId1"/>
          <a:stretch>
            <a:fillRect/>
          </a:stretch>
        </p:blipFill>
        <p:spPr>
          <a:xfrm>
            <a:off x="527685" y="1060609"/>
            <a:ext cx="4415076" cy="2728674"/>
          </a:xfrm>
          <a:prstGeom prst="rect">
            <a:avLst/>
          </a:prstGeom>
        </p:spPr>
      </p:pic>
      <p:sp>
        <p:nvSpPr>
          <p:cNvPr id="4" name="Text 1"/>
          <p:cNvSpPr/>
          <p:nvPr/>
        </p:nvSpPr>
        <p:spPr>
          <a:xfrm>
            <a:off x="527685" y="3921204"/>
            <a:ext cx="4415076" cy="433864"/>
          </a:xfrm>
          <a:prstGeom prst="rect">
            <a:avLst/>
          </a:prstGeom>
          <a:noFill/>
          <a:ln/>
        </p:spPr>
        <p:txBody>
          <a:bodyPr wrap="square" lIns="0" tIns="0" rIns="0" bIns="0" rtlCol="0" anchor="t"/>
          <a:lstStyle/>
          <a:p>
            <a:pPr algn="l" indent="0" marL="0">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Global Media Conglomerate - Content Personalization at Scale</a:t>
            </a:r>
            <a:endParaRPr lang="en-US" sz="1350" dirty="0"/>
          </a:p>
        </p:txBody>
      </p:sp>
      <p:sp>
        <p:nvSpPr>
          <p:cNvPr id="5" name="Text 2"/>
          <p:cNvSpPr/>
          <p:nvPr/>
        </p:nvSpPr>
        <p:spPr>
          <a:xfrm>
            <a:off x="527685" y="4434126"/>
            <a:ext cx="4415076" cy="421958"/>
          </a:xfrm>
          <a:prstGeom prst="rect">
            <a:avLst/>
          </a:prstGeom>
          <a:noFill/>
          <a:ln/>
        </p:spPr>
        <p:txBody>
          <a:bodyPr wrap="squar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Challenge:</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Serving diverse global audiences with localized content</a:t>
            </a:r>
            <a:endParaRPr lang="en-US" sz="1000" dirty="0"/>
          </a:p>
        </p:txBody>
      </p:sp>
      <p:sp>
        <p:nvSpPr>
          <p:cNvPr id="6" name="Text 3"/>
          <p:cNvSpPr/>
          <p:nvPr/>
        </p:nvSpPr>
        <p:spPr>
          <a:xfrm>
            <a:off x="527685" y="4935141"/>
            <a:ext cx="4415076" cy="421958"/>
          </a:xfrm>
          <a:prstGeom prst="rect">
            <a:avLst/>
          </a:prstGeom>
          <a:noFill/>
          <a:ln/>
        </p:spPr>
        <p:txBody>
          <a:bodyPr wrap="squar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Solution:</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TCS implemented AI-powered content adaptation engine</a:t>
            </a:r>
            <a:endParaRPr lang="en-US" sz="1000" dirty="0"/>
          </a:p>
        </p:txBody>
      </p:sp>
      <p:sp>
        <p:nvSpPr>
          <p:cNvPr id="7" name="Text 4"/>
          <p:cNvSpPr/>
          <p:nvPr/>
        </p:nvSpPr>
        <p:spPr>
          <a:xfrm>
            <a:off x="527685" y="5436156"/>
            <a:ext cx="4415076" cy="421958"/>
          </a:xfrm>
          <a:prstGeom prst="rect">
            <a:avLst/>
          </a:prstGeom>
          <a:noFill/>
          <a:ln/>
        </p:spPr>
        <p:txBody>
          <a:bodyPr wrap="squar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Results:</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300% increase in content velocity, 45% improvement in audience engagement, $50M additional revenue</a:t>
            </a:r>
            <a:endParaRPr lang="en-US" sz="1000" dirty="0"/>
          </a:p>
        </p:txBody>
      </p:sp>
      <p:pic>
        <p:nvPicPr>
          <p:cNvPr id="8" name="Image 1" descr="preencoded.png">    </p:cNvPr>
          <p:cNvPicPr>
            <a:picLocks noChangeAspect="1"/>
          </p:cNvPicPr>
          <p:nvPr/>
        </p:nvPicPr>
        <p:blipFill>
          <a:blip r:embed="rId2"/>
          <a:stretch>
            <a:fillRect/>
          </a:stretch>
        </p:blipFill>
        <p:spPr>
          <a:xfrm>
            <a:off x="5107662" y="1060609"/>
            <a:ext cx="4415076" cy="2728674"/>
          </a:xfrm>
          <a:prstGeom prst="rect">
            <a:avLst/>
          </a:prstGeom>
        </p:spPr>
      </p:pic>
      <p:sp>
        <p:nvSpPr>
          <p:cNvPr id="9" name="Text 5"/>
          <p:cNvSpPr/>
          <p:nvPr/>
        </p:nvSpPr>
        <p:spPr>
          <a:xfrm>
            <a:off x="5107662" y="3921204"/>
            <a:ext cx="4415076" cy="433864"/>
          </a:xfrm>
          <a:prstGeom prst="rect">
            <a:avLst/>
          </a:prstGeom>
          <a:noFill/>
          <a:ln/>
        </p:spPr>
        <p:txBody>
          <a:bodyPr wrap="square" lIns="0" tIns="0" rIns="0" bIns="0" rtlCol="0" anchor="t"/>
          <a:lstStyle/>
          <a:p>
            <a:pPr algn="l" indent="0" marL="0">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Major Streaming Platform - Predictive Content Success</a:t>
            </a:r>
            <a:endParaRPr lang="en-US" sz="1350" dirty="0"/>
          </a:p>
        </p:txBody>
      </p:sp>
      <p:sp>
        <p:nvSpPr>
          <p:cNvPr id="10" name="Text 6"/>
          <p:cNvSpPr/>
          <p:nvPr/>
        </p:nvSpPr>
        <p:spPr>
          <a:xfrm>
            <a:off x="5107662" y="4434126"/>
            <a:ext cx="4415076" cy="210979"/>
          </a:xfrm>
          <a:prstGeom prst="rect">
            <a:avLst/>
          </a:prstGeom>
          <a:noFill/>
          <a:ln/>
        </p:spPr>
        <p:txBody>
          <a:bodyPr wrap="non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Challenge:</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Predicting which content will drive subscriber growth</a:t>
            </a:r>
            <a:endParaRPr lang="en-US" sz="1000" dirty="0"/>
          </a:p>
        </p:txBody>
      </p:sp>
      <p:sp>
        <p:nvSpPr>
          <p:cNvPr id="11" name="Text 7"/>
          <p:cNvSpPr/>
          <p:nvPr/>
        </p:nvSpPr>
        <p:spPr>
          <a:xfrm>
            <a:off x="5107662" y="4724162"/>
            <a:ext cx="4415076" cy="421958"/>
          </a:xfrm>
          <a:prstGeom prst="rect">
            <a:avLst/>
          </a:prstGeom>
          <a:noFill/>
          <a:ln/>
        </p:spPr>
        <p:txBody>
          <a:bodyPr wrap="squar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Solution:</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TCS developed machine learning models for content performance prediction</a:t>
            </a:r>
            <a:endParaRPr lang="en-US" sz="1000" dirty="0"/>
          </a:p>
        </p:txBody>
      </p:sp>
      <p:sp>
        <p:nvSpPr>
          <p:cNvPr id="12" name="Text 8"/>
          <p:cNvSpPr/>
          <p:nvPr/>
        </p:nvSpPr>
        <p:spPr>
          <a:xfrm>
            <a:off x="5107662" y="5225177"/>
            <a:ext cx="4415076" cy="421958"/>
          </a:xfrm>
          <a:prstGeom prst="rect">
            <a:avLst/>
          </a:prstGeom>
          <a:noFill/>
          <a:ln/>
        </p:spPr>
        <p:txBody>
          <a:bodyPr wrap="squar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Results:</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70% accuracy in predicting hit content, 25% reduction in content acquisition costs, $120M ROI</a:t>
            </a:r>
            <a:endParaRPr lang="en-US" sz="1000" dirty="0"/>
          </a:p>
        </p:txBody>
      </p:sp>
      <p:pic>
        <p:nvPicPr>
          <p:cNvPr id="13" name="Image 2" descr="preencoded.png">    </p:cNvPr>
          <p:cNvPicPr>
            <a:picLocks noChangeAspect="1"/>
          </p:cNvPicPr>
          <p:nvPr/>
        </p:nvPicPr>
        <p:blipFill>
          <a:blip r:embed="rId3"/>
          <a:stretch>
            <a:fillRect/>
          </a:stretch>
        </p:blipFill>
        <p:spPr>
          <a:xfrm>
            <a:off x="9687639" y="1060609"/>
            <a:ext cx="4415076" cy="2728674"/>
          </a:xfrm>
          <a:prstGeom prst="rect">
            <a:avLst/>
          </a:prstGeom>
        </p:spPr>
      </p:pic>
      <p:sp>
        <p:nvSpPr>
          <p:cNvPr id="14" name="Text 9"/>
          <p:cNvSpPr/>
          <p:nvPr/>
        </p:nvSpPr>
        <p:spPr>
          <a:xfrm>
            <a:off x="9687639" y="3921204"/>
            <a:ext cx="4415076" cy="433864"/>
          </a:xfrm>
          <a:prstGeom prst="rect">
            <a:avLst/>
          </a:prstGeom>
          <a:noFill/>
          <a:ln/>
        </p:spPr>
        <p:txBody>
          <a:bodyPr wrap="square" lIns="0" tIns="0" rIns="0" bIns="0" rtlCol="0" anchor="t"/>
          <a:lstStyle/>
          <a:p>
            <a:pPr algn="l" indent="0" marL="0">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Sports Broadcasting Network - Automated Production</a:t>
            </a:r>
            <a:endParaRPr lang="en-US" sz="1350" dirty="0"/>
          </a:p>
        </p:txBody>
      </p:sp>
      <p:sp>
        <p:nvSpPr>
          <p:cNvPr id="15" name="Text 10"/>
          <p:cNvSpPr/>
          <p:nvPr/>
        </p:nvSpPr>
        <p:spPr>
          <a:xfrm>
            <a:off x="9687639" y="4434126"/>
            <a:ext cx="4415076" cy="421958"/>
          </a:xfrm>
          <a:prstGeom prst="rect">
            <a:avLst/>
          </a:prstGeom>
          <a:noFill/>
          <a:ln/>
        </p:spPr>
        <p:txBody>
          <a:bodyPr wrap="squar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Challenge:</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Reducing production costs while improving content quality</a:t>
            </a:r>
            <a:endParaRPr lang="en-US" sz="1000" dirty="0"/>
          </a:p>
        </p:txBody>
      </p:sp>
      <p:sp>
        <p:nvSpPr>
          <p:cNvPr id="16" name="Text 11"/>
          <p:cNvSpPr/>
          <p:nvPr/>
        </p:nvSpPr>
        <p:spPr>
          <a:xfrm>
            <a:off x="9687639" y="4935141"/>
            <a:ext cx="4415076" cy="421958"/>
          </a:xfrm>
          <a:prstGeom prst="rect">
            <a:avLst/>
          </a:prstGeom>
          <a:noFill/>
          <a:ln/>
        </p:spPr>
        <p:txBody>
          <a:bodyPr wrap="squar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Solution:</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TCS implemented AI-powered camera control and editing systems</a:t>
            </a:r>
            <a:endParaRPr lang="en-US" sz="1000" dirty="0"/>
          </a:p>
        </p:txBody>
      </p:sp>
      <p:sp>
        <p:nvSpPr>
          <p:cNvPr id="17" name="Text 12"/>
          <p:cNvSpPr/>
          <p:nvPr/>
        </p:nvSpPr>
        <p:spPr>
          <a:xfrm>
            <a:off x="9687639" y="5436156"/>
            <a:ext cx="4415076" cy="421958"/>
          </a:xfrm>
          <a:prstGeom prst="rect">
            <a:avLst/>
          </a:prstGeom>
          <a:noFill/>
          <a:ln/>
        </p:spPr>
        <p:txBody>
          <a:bodyPr wrap="squar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Results:</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60% reduction in production costs, 80% faster content delivery, $85M annual savings</a:t>
            </a:r>
            <a:endParaRPr lang="en-US" sz="1000" dirty="0"/>
          </a:p>
        </p:txBody>
      </p:sp>
      <p:sp>
        <p:nvSpPr>
          <p:cNvPr id="18" name="Shape 13"/>
          <p:cNvSpPr/>
          <p:nvPr/>
        </p:nvSpPr>
        <p:spPr>
          <a:xfrm>
            <a:off x="527685" y="6154817"/>
            <a:ext cx="6626662" cy="1724501"/>
          </a:xfrm>
          <a:prstGeom prst="roundRect">
            <a:avLst>
              <a:gd name="adj" fmla="val 4242"/>
            </a:avLst>
          </a:prstGeom>
          <a:noFill/>
          <a:ln w="15240">
            <a:solidFill>
              <a:srgbClr val="BBC2DC"/>
            </a:solidFill>
            <a:prstDash val="solid"/>
          </a:ln>
        </p:spPr>
      </p:sp>
      <p:sp>
        <p:nvSpPr>
          <p:cNvPr id="19" name="Shape 14"/>
          <p:cNvSpPr/>
          <p:nvPr/>
        </p:nvSpPr>
        <p:spPr>
          <a:xfrm>
            <a:off x="512445" y="6154817"/>
            <a:ext cx="60960" cy="1724501"/>
          </a:xfrm>
          <a:prstGeom prst="roundRect">
            <a:avLst>
              <a:gd name="adj" fmla="val 90898"/>
            </a:avLst>
          </a:prstGeom>
          <a:solidFill>
            <a:srgbClr val="1A2D7A"/>
          </a:solidFill>
          <a:ln/>
        </p:spPr>
      </p:sp>
      <p:sp>
        <p:nvSpPr>
          <p:cNvPr id="20" name="Text 15"/>
          <p:cNvSpPr/>
          <p:nvPr/>
        </p:nvSpPr>
        <p:spPr>
          <a:xfrm>
            <a:off x="720566" y="6301978"/>
            <a:ext cx="4466987" cy="216932"/>
          </a:xfrm>
          <a:prstGeom prst="rect">
            <a:avLst/>
          </a:prstGeom>
          <a:noFill/>
          <a:ln/>
        </p:spPr>
        <p:txBody>
          <a:bodyPr wrap="none" lIns="0" tIns="0" rIns="0" bIns="0" rtlCol="0" anchor="t"/>
          <a:lstStyle/>
          <a:p>
            <a:pPr algn="l" indent="0" marL="0">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Entertainment Retailer - Intelligent Merchandising</a:t>
            </a:r>
            <a:endParaRPr lang="en-US" sz="1350" dirty="0"/>
          </a:p>
        </p:txBody>
      </p:sp>
      <p:sp>
        <p:nvSpPr>
          <p:cNvPr id="21" name="Text 16"/>
          <p:cNvSpPr/>
          <p:nvPr/>
        </p:nvSpPr>
        <p:spPr>
          <a:xfrm>
            <a:off x="720566" y="6650831"/>
            <a:ext cx="6286619" cy="210979"/>
          </a:xfrm>
          <a:prstGeom prst="rect">
            <a:avLst/>
          </a:prstGeom>
          <a:noFill/>
          <a:ln/>
        </p:spPr>
        <p:txBody>
          <a:bodyPr wrap="non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Challenge:</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Optimizing merchandise inventory across global markets</a:t>
            </a:r>
            <a:endParaRPr lang="en-US" sz="1000" dirty="0"/>
          </a:p>
        </p:txBody>
      </p:sp>
      <p:sp>
        <p:nvSpPr>
          <p:cNvPr id="22" name="Text 17"/>
          <p:cNvSpPr/>
          <p:nvPr/>
        </p:nvSpPr>
        <p:spPr>
          <a:xfrm>
            <a:off x="720566" y="6980515"/>
            <a:ext cx="6286619" cy="210979"/>
          </a:xfrm>
          <a:prstGeom prst="rect">
            <a:avLst/>
          </a:prstGeom>
          <a:noFill/>
          <a:ln/>
        </p:spPr>
        <p:txBody>
          <a:bodyPr wrap="non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Solution:</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TCS created predictive analytics for demand forecasting</a:t>
            </a:r>
            <a:endParaRPr lang="en-US" sz="1000" dirty="0"/>
          </a:p>
        </p:txBody>
      </p:sp>
      <p:sp>
        <p:nvSpPr>
          <p:cNvPr id="23" name="Text 18"/>
          <p:cNvSpPr/>
          <p:nvPr/>
        </p:nvSpPr>
        <p:spPr>
          <a:xfrm>
            <a:off x="720566" y="7310199"/>
            <a:ext cx="6286619" cy="421958"/>
          </a:xfrm>
          <a:prstGeom prst="rect">
            <a:avLst/>
          </a:prstGeom>
          <a:noFill/>
          <a:ln/>
        </p:spPr>
        <p:txBody>
          <a:bodyPr wrap="squar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Results:</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280% improvement in inventory turnover, 35% increase in profit margins, $40M revenue growth</a:t>
            </a:r>
            <a:endParaRPr lang="en-US" sz="1000" dirty="0"/>
          </a:p>
        </p:txBody>
      </p:sp>
      <p:sp>
        <p:nvSpPr>
          <p:cNvPr id="24" name="Shape 19"/>
          <p:cNvSpPr/>
          <p:nvPr/>
        </p:nvSpPr>
        <p:spPr>
          <a:xfrm>
            <a:off x="7483673" y="6154817"/>
            <a:ext cx="6626662" cy="1724501"/>
          </a:xfrm>
          <a:prstGeom prst="roundRect">
            <a:avLst>
              <a:gd name="adj" fmla="val 4242"/>
            </a:avLst>
          </a:prstGeom>
          <a:noFill/>
          <a:ln w="15240">
            <a:solidFill>
              <a:srgbClr val="BBC2DC"/>
            </a:solidFill>
            <a:prstDash val="solid"/>
          </a:ln>
        </p:spPr>
      </p:sp>
      <p:sp>
        <p:nvSpPr>
          <p:cNvPr id="25" name="Shape 20"/>
          <p:cNvSpPr/>
          <p:nvPr/>
        </p:nvSpPr>
        <p:spPr>
          <a:xfrm>
            <a:off x="7468433" y="6154817"/>
            <a:ext cx="60960" cy="1724501"/>
          </a:xfrm>
          <a:prstGeom prst="roundRect">
            <a:avLst>
              <a:gd name="adj" fmla="val 90898"/>
            </a:avLst>
          </a:prstGeom>
          <a:solidFill>
            <a:srgbClr val="1A2D7A"/>
          </a:solidFill>
          <a:ln/>
        </p:spPr>
      </p:sp>
      <p:sp>
        <p:nvSpPr>
          <p:cNvPr id="26" name="Text 21"/>
          <p:cNvSpPr/>
          <p:nvPr/>
        </p:nvSpPr>
        <p:spPr>
          <a:xfrm>
            <a:off x="7676555" y="6301978"/>
            <a:ext cx="4742021" cy="216932"/>
          </a:xfrm>
          <a:prstGeom prst="rect">
            <a:avLst/>
          </a:prstGeom>
          <a:noFill/>
          <a:ln/>
        </p:spPr>
        <p:txBody>
          <a:bodyPr wrap="none" lIns="0" tIns="0" rIns="0" bIns="0" rtlCol="0" anchor="t"/>
          <a:lstStyle/>
          <a:p>
            <a:pPr algn="l" indent="0" marL="0">
              <a:lnSpc>
                <a:spcPts val="1700"/>
              </a:lnSpc>
              <a:buNone/>
            </a:pPr>
            <a:r>
              <a:rPr lang="en-US" sz="1350" dirty="0">
                <a:solidFill>
                  <a:srgbClr val="3B3535"/>
                </a:solidFill>
                <a:latin typeface="Alexandria Semi Bold" pitchFamily="34" charset="0"/>
                <a:ea typeface="Alexandria Semi Bold" pitchFamily="34" charset="-122"/>
                <a:cs typeface="Alexandria Semi Bold" pitchFamily="34" charset="-120"/>
              </a:rPr>
              <a:t>Premium Sports Brand - Fan Experience Optimization</a:t>
            </a:r>
            <a:endParaRPr lang="en-US" sz="1350" dirty="0"/>
          </a:p>
        </p:txBody>
      </p:sp>
      <p:sp>
        <p:nvSpPr>
          <p:cNvPr id="27" name="Text 22"/>
          <p:cNvSpPr/>
          <p:nvPr/>
        </p:nvSpPr>
        <p:spPr>
          <a:xfrm>
            <a:off x="7676555" y="6650831"/>
            <a:ext cx="6286619" cy="210979"/>
          </a:xfrm>
          <a:prstGeom prst="rect">
            <a:avLst/>
          </a:prstGeom>
          <a:noFill/>
          <a:ln/>
        </p:spPr>
        <p:txBody>
          <a:bodyPr wrap="non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Challenge:</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Converting casual fans into premium subscribers</a:t>
            </a:r>
            <a:endParaRPr lang="en-US" sz="1000" dirty="0"/>
          </a:p>
        </p:txBody>
      </p:sp>
      <p:sp>
        <p:nvSpPr>
          <p:cNvPr id="28" name="Text 23"/>
          <p:cNvSpPr/>
          <p:nvPr/>
        </p:nvSpPr>
        <p:spPr>
          <a:xfrm>
            <a:off x="7676555" y="6980515"/>
            <a:ext cx="6286619" cy="210979"/>
          </a:xfrm>
          <a:prstGeom prst="rect">
            <a:avLst/>
          </a:prstGeom>
          <a:noFill/>
          <a:ln/>
        </p:spPr>
        <p:txBody>
          <a:bodyPr wrap="non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Solution:</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TCS developed AI-powered personalization engine</a:t>
            </a:r>
            <a:endParaRPr lang="en-US" sz="1000" dirty="0"/>
          </a:p>
        </p:txBody>
      </p:sp>
      <p:sp>
        <p:nvSpPr>
          <p:cNvPr id="29" name="Text 24"/>
          <p:cNvSpPr/>
          <p:nvPr/>
        </p:nvSpPr>
        <p:spPr>
          <a:xfrm>
            <a:off x="7676555" y="7310199"/>
            <a:ext cx="6286619" cy="421958"/>
          </a:xfrm>
          <a:prstGeom prst="rect">
            <a:avLst/>
          </a:prstGeom>
          <a:noFill/>
          <a:ln/>
        </p:spPr>
        <p:txBody>
          <a:bodyPr wrap="square" lIns="0" tIns="0" rIns="0" bIns="0" rtlCol="0" anchor="t"/>
          <a:lstStyle/>
          <a:p>
            <a:pPr algn="l" indent="0" marL="0">
              <a:lnSpc>
                <a:spcPts val="1650"/>
              </a:lnSpc>
              <a:buNone/>
            </a:pPr>
            <a:r>
              <a:rPr lang="en-US" sz="1000" b="1" dirty="0">
                <a:solidFill>
                  <a:srgbClr val="3B3535"/>
                </a:solidFill>
                <a:latin typeface="Sora Light" pitchFamily="34" charset="0"/>
                <a:ea typeface="Sora Light" pitchFamily="34" charset="-122"/>
                <a:cs typeface="Sora Light" pitchFamily="34" charset="-120"/>
              </a:rPr>
              <a:t>Results:</a:t>
            </a:r>
            <a:pPr algn="l" indent="0" marL="0">
              <a:lnSpc>
                <a:spcPts val="1650"/>
              </a:lnSpc>
              <a:buNone/>
            </a:pPr>
            <a:r>
              <a:rPr lang="en-US" sz="1000" dirty="0">
                <a:solidFill>
                  <a:srgbClr val="3B3535"/>
                </a:solidFill>
                <a:latin typeface="Sora Light" pitchFamily="34" charset="0"/>
                <a:ea typeface="Sora Light" pitchFamily="34" charset="-122"/>
                <a:cs typeface="Sora Light" pitchFamily="34" charset="-120"/>
              </a:rPr>
              <a:t> 450% improvement in conversion rates, 60% increase in fan lifetime value, $75M subscription revenue growth</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31627" y="743664"/>
            <a:ext cx="12033171" cy="519351"/>
          </a:xfrm>
          <a:prstGeom prst="rect">
            <a:avLst/>
          </a:prstGeom>
          <a:noFill/>
          <a:ln/>
        </p:spPr>
        <p:txBody>
          <a:bodyPr wrap="none" lIns="0" tIns="0" rIns="0" bIns="0" rtlCol="0" anchor="t"/>
          <a:lstStyle/>
          <a:p>
            <a:pPr algn="l" indent="0" marL="0">
              <a:lnSpc>
                <a:spcPts val="4050"/>
              </a:lnSpc>
              <a:buNone/>
            </a:pPr>
            <a:r>
              <a:rPr lang="en-US" sz="3250" dirty="0">
                <a:solidFill>
                  <a:srgbClr val="1F1E1E"/>
                </a:solidFill>
                <a:latin typeface="Alexandria Semi Bold" pitchFamily="34" charset="0"/>
                <a:ea typeface="Alexandria Semi Bold" pitchFamily="34" charset="-122"/>
                <a:cs typeface="Alexandria Semi Bold" pitchFamily="34" charset="-120"/>
              </a:rPr>
              <a:t>TCS AI Implementation Examples - Detailed Case Studies</a:t>
            </a:r>
            <a:endParaRPr lang="en-US" sz="3250" dirty="0"/>
          </a:p>
        </p:txBody>
      </p:sp>
      <p:sp>
        <p:nvSpPr>
          <p:cNvPr id="3" name="Shape 1"/>
          <p:cNvSpPr/>
          <p:nvPr/>
        </p:nvSpPr>
        <p:spPr>
          <a:xfrm>
            <a:off x="631627" y="1792724"/>
            <a:ext cx="4350425" cy="91440"/>
          </a:xfrm>
          <a:prstGeom prst="roundRect">
            <a:avLst>
              <a:gd name="adj" fmla="val 72534"/>
            </a:avLst>
          </a:prstGeom>
          <a:solidFill>
            <a:srgbClr val="1A2D7A"/>
          </a:solidFill>
          <a:ln/>
        </p:spPr>
      </p:sp>
      <p:sp>
        <p:nvSpPr>
          <p:cNvPr id="4" name="Shape 2"/>
          <p:cNvSpPr/>
          <p:nvPr/>
        </p:nvSpPr>
        <p:spPr>
          <a:xfrm>
            <a:off x="2569905" y="1578769"/>
            <a:ext cx="473750" cy="473750"/>
          </a:xfrm>
          <a:prstGeom prst="roundRect">
            <a:avLst>
              <a:gd name="adj" fmla="val 193013"/>
            </a:avLst>
          </a:prstGeom>
          <a:solidFill>
            <a:srgbClr val="1A2D7A"/>
          </a:solidFill>
          <a:ln/>
        </p:spPr>
      </p:sp>
      <p:sp>
        <p:nvSpPr>
          <p:cNvPr id="5" name="Text 3"/>
          <p:cNvSpPr/>
          <p:nvPr/>
        </p:nvSpPr>
        <p:spPr>
          <a:xfrm>
            <a:off x="2712065" y="1697236"/>
            <a:ext cx="189428" cy="236815"/>
          </a:xfrm>
          <a:prstGeom prst="rect">
            <a:avLst/>
          </a:prstGeom>
          <a:noFill/>
          <a:ln/>
        </p:spPr>
        <p:txBody>
          <a:bodyPr wrap="none" lIns="0" tIns="0" rIns="0" bIns="0" rtlCol="0" anchor="t"/>
          <a:lstStyle/>
          <a:p>
            <a:pPr algn="l" indent="0" marL="0">
              <a:lnSpc>
                <a:spcPts val="2350"/>
              </a:lnSpc>
              <a:buNone/>
            </a:pPr>
            <a:r>
              <a:rPr lang="en-US" sz="1450" dirty="0">
                <a:solidFill>
                  <a:srgbClr val="FFFFFF"/>
                </a:solidFill>
                <a:latin typeface="Alexandria Semi Bold" pitchFamily="34" charset="0"/>
                <a:ea typeface="Alexandria Semi Bold" pitchFamily="34" charset="-122"/>
                <a:cs typeface="Alexandria Semi Bold" pitchFamily="34" charset="-120"/>
              </a:rPr>
              <a:t>1</a:t>
            </a:r>
            <a:endParaRPr lang="en-US" sz="1450" dirty="0"/>
          </a:p>
        </p:txBody>
      </p:sp>
      <p:sp>
        <p:nvSpPr>
          <p:cNvPr id="6" name="Text 4"/>
          <p:cNvSpPr/>
          <p:nvPr/>
        </p:nvSpPr>
        <p:spPr>
          <a:xfrm>
            <a:off x="812363" y="2210276"/>
            <a:ext cx="3988951" cy="519351"/>
          </a:xfrm>
          <a:prstGeom prst="rect">
            <a:avLst/>
          </a:prstGeom>
          <a:noFill/>
          <a:ln/>
        </p:spPr>
        <p:txBody>
          <a:bodyPr wrap="square" lIns="0" tIns="0" rIns="0" bIns="0" rtlCol="0" anchor="t"/>
          <a:lstStyle/>
          <a:p>
            <a:pPr algn="l" indent="0" marL="0">
              <a:lnSpc>
                <a:spcPts val="2000"/>
              </a:lnSpc>
              <a:buNone/>
            </a:pPr>
            <a:r>
              <a:rPr lang="en-US" sz="1600" dirty="0">
                <a:solidFill>
                  <a:srgbClr val="3B3535"/>
                </a:solidFill>
                <a:latin typeface="Alexandria Semi Bold" pitchFamily="34" charset="0"/>
                <a:ea typeface="Alexandria Semi Bold" pitchFamily="34" charset="-122"/>
                <a:cs typeface="Alexandria Semi Bold" pitchFamily="34" charset="-120"/>
              </a:rPr>
              <a:t>Major Utilities Company - Microsoft 365 Copilot Deployment</a:t>
            </a:r>
            <a:endParaRPr lang="en-US" sz="1600" dirty="0"/>
          </a:p>
        </p:txBody>
      </p:sp>
      <p:sp>
        <p:nvSpPr>
          <p:cNvPr id="7" name="Text 5"/>
          <p:cNvSpPr/>
          <p:nvPr/>
        </p:nvSpPr>
        <p:spPr>
          <a:xfrm>
            <a:off x="812363" y="2824282"/>
            <a:ext cx="3988951" cy="505063"/>
          </a:xfrm>
          <a:prstGeom prst="rect">
            <a:avLst/>
          </a:prstGeom>
          <a:noFill/>
          <a:ln/>
        </p:spPr>
        <p:txBody>
          <a:bodyPr wrap="squar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Challenge:</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Improving business processes across diverse workforce</a:t>
            </a:r>
            <a:endParaRPr lang="en-US" sz="1200" dirty="0"/>
          </a:p>
        </p:txBody>
      </p:sp>
      <p:sp>
        <p:nvSpPr>
          <p:cNvPr id="8" name="Text 6"/>
          <p:cNvSpPr/>
          <p:nvPr/>
        </p:nvSpPr>
        <p:spPr>
          <a:xfrm>
            <a:off x="812363" y="3423999"/>
            <a:ext cx="3988951" cy="505063"/>
          </a:xfrm>
          <a:prstGeom prst="rect">
            <a:avLst/>
          </a:prstGeom>
          <a:noFill/>
          <a:ln/>
        </p:spPr>
        <p:txBody>
          <a:bodyPr wrap="squar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Solution:</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TCS helped adopt generative AI-powered Microsoft 365 Copilot</a:t>
            </a:r>
            <a:endParaRPr lang="en-US" sz="1200" dirty="0"/>
          </a:p>
        </p:txBody>
      </p:sp>
      <p:sp>
        <p:nvSpPr>
          <p:cNvPr id="9" name="Text 7"/>
          <p:cNvSpPr/>
          <p:nvPr/>
        </p:nvSpPr>
        <p:spPr>
          <a:xfrm>
            <a:off x="812363" y="4023717"/>
            <a:ext cx="3988951" cy="757595"/>
          </a:xfrm>
          <a:prstGeom prst="rect">
            <a:avLst/>
          </a:prstGeom>
          <a:noFill/>
          <a:ln/>
        </p:spPr>
        <p:txBody>
          <a:bodyPr wrap="squar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Results:</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Enhanced operational efficiency, improved decision-making, streamlined workflows </a:t>
            </a:r>
            <a:pPr algn="l" indent="0" marL="0">
              <a:lnSpc>
                <a:spcPts val="1950"/>
              </a:lnSpc>
              <a:buNone/>
            </a:pPr>
            <a:r>
              <a:rPr lang="en-US" sz="1200" u="sng" dirty="0">
                <a:solidFill>
                  <a:srgbClr val="1A2D7A"/>
                </a:solidFill>
                <a:latin typeface="Sora Light" pitchFamily="34" charset="0"/>
                <a:ea typeface="Sora Light" pitchFamily="34" charset="-122"/>
                <a:cs typeface="Sora Light" pitchFamily="34" charset="-120"/>
                <a:hlinkClick r:id="rId1" invalidUrl="" action="" tgtFrame="" tooltip="" history="1" highlightClick="0" endSnd="0">
                  <a:extLst>
                    <a:ext uri="{A12FA001-AC4F-418D-AE19-62706E023703}">
                      <ahyp:hlinkClr xmlns:ahyp="http://schemas.microsoft.com/office/drawing/2018/hyperlinkcolor" val="tx"/>
                    </a:ext>
                  </a:extLst>
                </a:hlinkClick>
              </a:rPr>
              <a:t>18</a:t>
            </a:r>
            <a:endParaRPr lang="en-US" sz="1200" dirty="0"/>
          </a:p>
        </p:txBody>
      </p:sp>
      <p:sp>
        <p:nvSpPr>
          <p:cNvPr id="10" name="Shape 8"/>
          <p:cNvSpPr/>
          <p:nvPr/>
        </p:nvSpPr>
        <p:spPr>
          <a:xfrm>
            <a:off x="5139928" y="1792724"/>
            <a:ext cx="4350425" cy="91440"/>
          </a:xfrm>
          <a:prstGeom prst="roundRect">
            <a:avLst>
              <a:gd name="adj" fmla="val 72534"/>
            </a:avLst>
          </a:prstGeom>
          <a:solidFill>
            <a:srgbClr val="1A2D7A"/>
          </a:solidFill>
          <a:ln/>
        </p:spPr>
      </p:sp>
      <p:sp>
        <p:nvSpPr>
          <p:cNvPr id="11" name="Shape 9"/>
          <p:cNvSpPr/>
          <p:nvPr/>
        </p:nvSpPr>
        <p:spPr>
          <a:xfrm>
            <a:off x="7078206" y="1578769"/>
            <a:ext cx="473750" cy="473750"/>
          </a:xfrm>
          <a:prstGeom prst="roundRect">
            <a:avLst>
              <a:gd name="adj" fmla="val 193013"/>
            </a:avLst>
          </a:prstGeom>
          <a:solidFill>
            <a:srgbClr val="1A2D7A"/>
          </a:solidFill>
          <a:ln/>
        </p:spPr>
      </p:sp>
      <p:sp>
        <p:nvSpPr>
          <p:cNvPr id="12" name="Text 10"/>
          <p:cNvSpPr/>
          <p:nvPr/>
        </p:nvSpPr>
        <p:spPr>
          <a:xfrm>
            <a:off x="7220367" y="1697236"/>
            <a:ext cx="189428" cy="236815"/>
          </a:xfrm>
          <a:prstGeom prst="rect">
            <a:avLst/>
          </a:prstGeom>
          <a:noFill/>
          <a:ln/>
        </p:spPr>
        <p:txBody>
          <a:bodyPr wrap="none" lIns="0" tIns="0" rIns="0" bIns="0" rtlCol="0" anchor="t"/>
          <a:lstStyle/>
          <a:p>
            <a:pPr algn="l" indent="0" marL="0">
              <a:lnSpc>
                <a:spcPts val="2350"/>
              </a:lnSpc>
              <a:buNone/>
            </a:pPr>
            <a:r>
              <a:rPr lang="en-US" sz="1450" dirty="0">
                <a:solidFill>
                  <a:srgbClr val="FFFFFF"/>
                </a:solidFill>
                <a:latin typeface="Alexandria Semi Bold" pitchFamily="34" charset="0"/>
                <a:ea typeface="Alexandria Semi Bold" pitchFamily="34" charset="-122"/>
                <a:cs typeface="Alexandria Semi Bold" pitchFamily="34" charset="-120"/>
              </a:rPr>
              <a:t>2</a:t>
            </a:r>
            <a:endParaRPr lang="en-US" sz="1450" dirty="0"/>
          </a:p>
        </p:txBody>
      </p:sp>
      <p:sp>
        <p:nvSpPr>
          <p:cNvPr id="13" name="Text 11"/>
          <p:cNvSpPr/>
          <p:nvPr/>
        </p:nvSpPr>
        <p:spPr>
          <a:xfrm>
            <a:off x="5320665" y="2210276"/>
            <a:ext cx="3988951" cy="519351"/>
          </a:xfrm>
          <a:prstGeom prst="rect">
            <a:avLst/>
          </a:prstGeom>
          <a:noFill/>
          <a:ln/>
        </p:spPr>
        <p:txBody>
          <a:bodyPr wrap="square" lIns="0" tIns="0" rIns="0" bIns="0" rtlCol="0" anchor="t"/>
          <a:lstStyle/>
          <a:p>
            <a:pPr algn="l" indent="0" marL="0">
              <a:lnSpc>
                <a:spcPts val="2000"/>
              </a:lnSpc>
              <a:buNone/>
            </a:pPr>
            <a:r>
              <a:rPr lang="en-US" sz="1600" dirty="0">
                <a:solidFill>
                  <a:srgbClr val="3B3535"/>
                </a:solidFill>
                <a:latin typeface="Alexandria Semi Bold" pitchFamily="34" charset="0"/>
                <a:ea typeface="Alexandria Semi Bold" pitchFamily="34" charset="-122"/>
                <a:cs typeface="Alexandria Semi Bold" pitchFamily="34" charset="-120"/>
              </a:rPr>
              <a:t>Global Consumer Goods Company - Unified Data Platform</a:t>
            </a:r>
            <a:endParaRPr lang="en-US" sz="1600" dirty="0"/>
          </a:p>
        </p:txBody>
      </p:sp>
      <p:sp>
        <p:nvSpPr>
          <p:cNvPr id="14" name="Text 12"/>
          <p:cNvSpPr/>
          <p:nvPr/>
        </p:nvSpPr>
        <p:spPr>
          <a:xfrm>
            <a:off x="5320665" y="2824282"/>
            <a:ext cx="3988951" cy="505063"/>
          </a:xfrm>
          <a:prstGeom prst="rect">
            <a:avLst/>
          </a:prstGeom>
          <a:noFill/>
          <a:ln/>
        </p:spPr>
        <p:txBody>
          <a:bodyPr wrap="squar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Challenge:</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100,000+ IT users across 94 countries with siloed data</a:t>
            </a:r>
            <a:endParaRPr lang="en-US" sz="1200" dirty="0"/>
          </a:p>
        </p:txBody>
      </p:sp>
      <p:sp>
        <p:nvSpPr>
          <p:cNvPr id="15" name="Text 13"/>
          <p:cNvSpPr/>
          <p:nvPr/>
        </p:nvSpPr>
        <p:spPr>
          <a:xfrm>
            <a:off x="5320665" y="3423999"/>
            <a:ext cx="3988951" cy="505063"/>
          </a:xfrm>
          <a:prstGeom prst="rect">
            <a:avLst/>
          </a:prstGeom>
          <a:noFill/>
          <a:ln/>
        </p:spPr>
        <p:txBody>
          <a:bodyPr wrap="squar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Solution:</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TCS created unified Azure-based data platform with AI capabilities</a:t>
            </a:r>
            <a:endParaRPr lang="en-US" sz="1200" dirty="0"/>
          </a:p>
        </p:txBody>
      </p:sp>
      <p:sp>
        <p:nvSpPr>
          <p:cNvPr id="16" name="Text 14"/>
          <p:cNvSpPr/>
          <p:nvPr/>
        </p:nvSpPr>
        <p:spPr>
          <a:xfrm>
            <a:off x="5320665" y="4023717"/>
            <a:ext cx="3988951" cy="505063"/>
          </a:xfrm>
          <a:prstGeom prst="rect">
            <a:avLst/>
          </a:prstGeom>
          <a:noFill/>
          <a:ln/>
        </p:spPr>
        <p:txBody>
          <a:bodyPr wrap="squar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Results:</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€4M in cost savings, single source of truth for analytics, democratized data access </a:t>
            </a:r>
            <a:pPr algn="l" indent="0" marL="0">
              <a:lnSpc>
                <a:spcPts val="1950"/>
              </a:lnSpc>
              <a:buNone/>
            </a:pPr>
            <a:r>
              <a:rPr lang="en-US" sz="1200" u="sng" dirty="0">
                <a:solidFill>
                  <a:srgbClr val="1A2D7A"/>
                </a:solidFill>
                <a:latin typeface="Sora Light" pitchFamily="34" charset="0"/>
                <a:ea typeface="Sora Light" pitchFamily="34" charset="-122"/>
                <a:cs typeface="Sora Light" pitchFamily="34" charset="-120"/>
                <a:hlinkClick r:id="rId2" invalidUrl="" action="" tgtFrame="" tooltip="" history="1" highlightClick="0" endSnd="0">
                  <a:extLst>
                    <a:ext uri="{A12FA001-AC4F-418D-AE19-62706E023703}">
                      <ahyp:hlinkClr xmlns:ahyp="http://schemas.microsoft.com/office/drawing/2018/hyperlinkcolor" val="tx"/>
                    </a:ext>
                  </a:extLst>
                </a:hlinkClick>
              </a:rPr>
              <a:t>19</a:t>
            </a:r>
            <a:endParaRPr lang="en-US" sz="1200" dirty="0"/>
          </a:p>
        </p:txBody>
      </p:sp>
      <p:sp>
        <p:nvSpPr>
          <p:cNvPr id="17" name="Shape 15"/>
          <p:cNvSpPr/>
          <p:nvPr/>
        </p:nvSpPr>
        <p:spPr>
          <a:xfrm>
            <a:off x="9648230" y="1792724"/>
            <a:ext cx="4350425" cy="91440"/>
          </a:xfrm>
          <a:prstGeom prst="roundRect">
            <a:avLst>
              <a:gd name="adj" fmla="val 72534"/>
            </a:avLst>
          </a:prstGeom>
          <a:solidFill>
            <a:srgbClr val="1A2D7A"/>
          </a:solidFill>
          <a:ln/>
        </p:spPr>
      </p:sp>
      <p:sp>
        <p:nvSpPr>
          <p:cNvPr id="18" name="Shape 16"/>
          <p:cNvSpPr/>
          <p:nvPr/>
        </p:nvSpPr>
        <p:spPr>
          <a:xfrm>
            <a:off x="11586508" y="1578769"/>
            <a:ext cx="473750" cy="473750"/>
          </a:xfrm>
          <a:prstGeom prst="roundRect">
            <a:avLst>
              <a:gd name="adj" fmla="val 193013"/>
            </a:avLst>
          </a:prstGeom>
          <a:solidFill>
            <a:srgbClr val="1A2D7A"/>
          </a:solidFill>
          <a:ln/>
        </p:spPr>
      </p:sp>
      <p:sp>
        <p:nvSpPr>
          <p:cNvPr id="19" name="Text 17"/>
          <p:cNvSpPr/>
          <p:nvPr/>
        </p:nvSpPr>
        <p:spPr>
          <a:xfrm>
            <a:off x="11728668" y="1697236"/>
            <a:ext cx="189428" cy="236815"/>
          </a:xfrm>
          <a:prstGeom prst="rect">
            <a:avLst/>
          </a:prstGeom>
          <a:noFill/>
          <a:ln/>
        </p:spPr>
        <p:txBody>
          <a:bodyPr wrap="none" lIns="0" tIns="0" rIns="0" bIns="0" rtlCol="0" anchor="t"/>
          <a:lstStyle/>
          <a:p>
            <a:pPr algn="l" indent="0" marL="0">
              <a:lnSpc>
                <a:spcPts val="2350"/>
              </a:lnSpc>
              <a:buNone/>
            </a:pPr>
            <a:r>
              <a:rPr lang="en-US" sz="1450" dirty="0">
                <a:solidFill>
                  <a:srgbClr val="FFFFFF"/>
                </a:solidFill>
                <a:latin typeface="Alexandria Semi Bold" pitchFamily="34" charset="0"/>
                <a:ea typeface="Alexandria Semi Bold" pitchFamily="34" charset="-122"/>
                <a:cs typeface="Alexandria Semi Bold" pitchFamily="34" charset="-120"/>
              </a:rPr>
              <a:t>3</a:t>
            </a:r>
            <a:endParaRPr lang="en-US" sz="1450" dirty="0"/>
          </a:p>
        </p:txBody>
      </p:sp>
      <p:sp>
        <p:nvSpPr>
          <p:cNvPr id="20" name="Text 18"/>
          <p:cNvSpPr/>
          <p:nvPr/>
        </p:nvSpPr>
        <p:spPr>
          <a:xfrm>
            <a:off x="9828967" y="2210276"/>
            <a:ext cx="3988951" cy="519351"/>
          </a:xfrm>
          <a:prstGeom prst="rect">
            <a:avLst/>
          </a:prstGeom>
          <a:noFill/>
          <a:ln/>
        </p:spPr>
        <p:txBody>
          <a:bodyPr wrap="square" lIns="0" tIns="0" rIns="0" bIns="0" rtlCol="0" anchor="t"/>
          <a:lstStyle/>
          <a:p>
            <a:pPr algn="l" indent="0" marL="0">
              <a:lnSpc>
                <a:spcPts val="2000"/>
              </a:lnSpc>
              <a:buNone/>
            </a:pPr>
            <a:r>
              <a:rPr lang="en-US" sz="1600" dirty="0">
                <a:solidFill>
                  <a:srgbClr val="3B3535"/>
                </a:solidFill>
                <a:latin typeface="Alexandria Semi Bold" pitchFamily="34" charset="0"/>
                <a:ea typeface="Alexandria Semi Bold" pitchFamily="34" charset="-122"/>
                <a:cs typeface="Alexandria Semi Bold" pitchFamily="34" charset="-120"/>
              </a:rPr>
              <a:t>South African Insurance Company - Conversational AI</a:t>
            </a:r>
            <a:endParaRPr lang="en-US" sz="1600" dirty="0"/>
          </a:p>
        </p:txBody>
      </p:sp>
      <p:sp>
        <p:nvSpPr>
          <p:cNvPr id="21" name="Text 19"/>
          <p:cNvSpPr/>
          <p:nvPr/>
        </p:nvSpPr>
        <p:spPr>
          <a:xfrm>
            <a:off x="9828967" y="2824282"/>
            <a:ext cx="3988951" cy="505063"/>
          </a:xfrm>
          <a:prstGeom prst="rect">
            <a:avLst/>
          </a:prstGeom>
          <a:noFill/>
          <a:ln/>
        </p:spPr>
        <p:txBody>
          <a:bodyPr wrap="squar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Challenge:</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High call volumes and service backlogs during peak periods</a:t>
            </a:r>
            <a:endParaRPr lang="en-US" sz="1200" dirty="0"/>
          </a:p>
        </p:txBody>
      </p:sp>
      <p:sp>
        <p:nvSpPr>
          <p:cNvPr id="22" name="Text 20"/>
          <p:cNvSpPr/>
          <p:nvPr/>
        </p:nvSpPr>
        <p:spPr>
          <a:xfrm>
            <a:off x="9828967" y="3423999"/>
            <a:ext cx="3988951" cy="505063"/>
          </a:xfrm>
          <a:prstGeom prst="rect">
            <a:avLst/>
          </a:prstGeom>
          <a:noFill/>
          <a:ln/>
        </p:spPr>
        <p:txBody>
          <a:bodyPr wrap="squar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Solution:</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TCS deployed conversational AI platform across multiple channels</a:t>
            </a:r>
            <a:endParaRPr lang="en-US" sz="1200" dirty="0"/>
          </a:p>
        </p:txBody>
      </p:sp>
      <p:sp>
        <p:nvSpPr>
          <p:cNvPr id="23" name="Text 21"/>
          <p:cNvSpPr/>
          <p:nvPr/>
        </p:nvSpPr>
        <p:spPr>
          <a:xfrm>
            <a:off x="9828967" y="4023717"/>
            <a:ext cx="3988951" cy="757595"/>
          </a:xfrm>
          <a:prstGeom prst="rect">
            <a:avLst/>
          </a:prstGeom>
          <a:noFill/>
          <a:ln/>
        </p:spPr>
        <p:txBody>
          <a:bodyPr wrap="squar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Results:</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Automated routine processes, improved customer satisfaction, reduced operational costs </a:t>
            </a:r>
            <a:pPr algn="l" indent="0" marL="0">
              <a:lnSpc>
                <a:spcPts val="1950"/>
              </a:lnSpc>
              <a:buNone/>
            </a:pPr>
            <a:r>
              <a:rPr lang="en-US" sz="1200" u="sng" dirty="0">
                <a:solidFill>
                  <a:srgbClr val="1A2D7A"/>
                </a:solidFill>
                <a:latin typeface="Sora Light" pitchFamily="34" charset="0"/>
                <a:ea typeface="Sora Light" pitchFamily="34" charset="-122"/>
                <a:cs typeface="Sora Light" pitchFamily="34" charset="-120"/>
                <a:hlinkClick r:id="rId3" invalidUrl="" action="" tgtFrame="" tooltip="" history="1" highlightClick="0" endSnd="0">
                  <a:extLst>
                    <a:ext uri="{A12FA001-AC4F-418D-AE19-62706E023703}">
                      <ahyp:hlinkClr xmlns:ahyp="http://schemas.microsoft.com/office/drawing/2018/hyperlinkcolor" val="tx"/>
                    </a:ext>
                  </a:extLst>
                </a:hlinkClick>
              </a:rPr>
              <a:t>17</a:t>
            </a:r>
            <a:endParaRPr lang="en-US" sz="1200" dirty="0"/>
          </a:p>
        </p:txBody>
      </p:sp>
      <p:sp>
        <p:nvSpPr>
          <p:cNvPr id="24" name="Shape 22"/>
          <p:cNvSpPr/>
          <p:nvPr/>
        </p:nvSpPr>
        <p:spPr>
          <a:xfrm>
            <a:off x="631627" y="5333881"/>
            <a:ext cx="6604516" cy="91440"/>
          </a:xfrm>
          <a:prstGeom prst="roundRect">
            <a:avLst>
              <a:gd name="adj" fmla="val 72534"/>
            </a:avLst>
          </a:prstGeom>
          <a:solidFill>
            <a:srgbClr val="1A2D7A"/>
          </a:solidFill>
          <a:ln/>
        </p:spPr>
      </p:sp>
      <p:sp>
        <p:nvSpPr>
          <p:cNvPr id="25" name="Shape 23"/>
          <p:cNvSpPr/>
          <p:nvPr/>
        </p:nvSpPr>
        <p:spPr>
          <a:xfrm>
            <a:off x="3696950" y="5119926"/>
            <a:ext cx="473750" cy="473750"/>
          </a:xfrm>
          <a:prstGeom prst="roundRect">
            <a:avLst>
              <a:gd name="adj" fmla="val 193013"/>
            </a:avLst>
          </a:prstGeom>
          <a:solidFill>
            <a:srgbClr val="1A2D7A"/>
          </a:solidFill>
          <a:ln/>
        </p:spPr>
      </p:sp>
      <p:sp>
        <p:nvSpPr>
          <p:cNvPr id="26" name="Text 24"/>
          <p:cNvSpPr/>
          <p:nvPr/>
        </p:nvSpPr>
        <p:spPr>
          <a:xfrm>
            <a:off x="3839111" y="5238393"/>
            <a:ext cx="189428" cy="236815"/>
          </a:xfrm>
          <a:prstGeom prst="rect">
            <a:avLst/>
          </a:prstGeom>
          <a:noFill/>
          <a:ln/>
        </p:spPr>
        <p:txBody>
          <a:bodyPr wrap="none" lIns="0" tIns="0" rIns="0" bIns="0" rtlCol="0" anchor="t"/>
          <a:lstStyle/>
          <a:p>
            <a:pPr algn="l" indent="0" marL="0">
              <a:lnSpc>
                <a:spcPts val="2350"/>
              </a:lnSpc>
              <a:buNone/>
            </a:pPr>
            <a:r>
              <a:rPr lang="en-US" sz="1450" dirty="0">
                <a:solidFill>
                  <a:srgbClr val="FFFFFF"/>
                </a:solidFill>
                <a:latin typeface="Alexandria Semi Bold" pitchFamily="34" charset="0"/>
                <a:ea typeface="Alexandria Semi Bold" pitchFamily="34" charset="-122"/>
                <a:cs typeface="Alexandria Semi Bold" pitchFamily="34" charset="-120"/>
              </a:rPr>
              <a:t>4</a:t>
            </a:r>
            <a:endParaRPr lang="en-US" sz="1450" dirty="0"/>
          </a:p>
        </p:txBody>
      </p:sp>
      <p:sp>
        <p:nvSpPr>
          <p:cNvPr id="27" name="Text 25"/>
          <p:cNvSpPr/>
          <p:nvPr/>
        </p:nvSpPr>
        <p:spPr>
          <a:xfrm>
            <a:off x="812363" y="5751433"/>
            <a:ext cx="5227796" cy="259675"/>
          </a:xfrm>
          <a:prstGeom prst="rect">
            <a:avLst/>
          </a:prstGeom>
          <a:noFill/>
          <a:ln/>
        </p:spPr>
        <p:txBody>
          <a:bodyPr wrap="none" lIns="0" tIns="0" rIns="0" bIns="0" rtlCol="0" anchor="t"/>
          <a:lstStyle/>
          <a:p>
            <a:pPr algn="l" indent="0" marL="0">
              <a:lnSpc>
                <a:spcPts val="2000"/>
              </a:lnSpc>
              <a:buNone/>
            </a:pPr>
            <a:r>
              <a:rPr lang="en-US" sz="1600" dirty="0">
                <a:solidFill>
                  <a:srgbClr val="3B3535"/>
                </a:solidFill>
                <a:latin typeface="Alexandria Semi Bold" pitchFamily="34" charset="0"/>
                <a:ea typeface="Alexandria Semi Bold" pitchFamily="34" charset="-122"/>
                <a:cs typeface="Alexandria Semi Bold" pitchFamily="34" charset="-120"/>
              </a:rPr>
              <a:t>Global Banking Institution - AI-Powered Analytics</a:t>
            </a:r>
            <a:endParaRPr lang="en-US" sz="1600" dirty="0"/>
          </a:p>
        </p:txBody>
      </p:sp>
      <p:sp>
        <p:nvSpPr>
          <p:cNvPr id="28" name="Text 26"/>
          <p:cNvSpPr/>
          <p:nvPr/>
        </p:nvSpPr>
        <p:spPr>
          <a:xfrm>
            <a:off x="812363" y="6105763"/>
            <a:ext cx="6243042" cy="252532"/>
          </a:xfrm>
          <a:prstGeom prst="rect">
            <a:avLst/>
          </a:prstGeom>
          <a:noFill/>
          <a:ln/>
        </p:spPr>
        <p:txBody>
          <a:bodyPr wrap="non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Challenge:</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Improving customer relationship management and risk assessment</a:t>
            </a:r>
            <a:endParaRPr lang="en-US" sz="1200" dirty="0"/>
          </a:p>
        </p:txBody>
      </p:sp>
      <p:sp>
        <p:nvSpPr>
          <p:cNvPr id="29" name="Text 27"/>
          <p:cNvSpPr/>
          <p:nvPr/>
        </p:nvSpPr>
        <p:spPr>
          <a:xfrm>
            <a:off x="812363" y="6452949"/>
            <a:ext cx="6243042" cy="252532"/>
          </a:xfrm>
          <a:prstGeom prst="rect">
            <a:avLst/>
          </a:prstGeom>
          <a:noFill/>
          <a:ln/>
        </p:spPr>
        <p:txBody>
          <a:bodyPr wrap="non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Solution:</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TCS implemented AI-driven analytics and decision-making tools</a:t>
            </a:r>
            <a:endParaRPr lang="en-US" sz="1200" dirty="0"/>
          </a:p>
        </p:txBody>
      </p:sp>
      <p:sp>
        <p:nvSpPr>
          <p:cNvPr id="30" name="Text 28"/>
          <p:cNvSpPr/>
          <p:nvPr/>
        </p:nvSpPr>
        <p:spPr>
          <a:xfrm>
            <a:off x="812363" y="6800136"/>
            <a:ext cx="6243042" cy="505063"/>
          </a:xfrm>
          <a:prstGeom prst="rect">
            <a:avLst/>
          </a:prstGeom>
          <a:noFill/>
          <a:ln/>
        </p:spPr>
        <p:txBody>
          <a:bodyPr wrap="squar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Results:</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1TB+ data processing, improved compliance, enhanced customer experience </a:t>
            </a:r>
            <a:pPr algn="l" indent="0" marL="0">
              <a:lnSpc>
                <a:spcPts val="1950"/>
              </a:lnSpc>
              <a:buNone/>
            </a:pPr>
            <a:r>
              <a:rPr lang="en-US" sz="1200" u="sng" dirty="0">
                <a:solidFill>
                  <a:srgbClr val="1A2D7A"/>
                </a:solidFill>
                <a:latin typeface="Sora Light" pitchFamily="34" charset="0"/>
                <a:ea typeface="Sora Light" pitchFamily="34" charset="-122"/>
                <a:cs typeface="Sora Light" pitchFamily="34" charset="-120"/>
                <a:hlinkClick r:id="rId4" invalidUrl="" action="" tgtFrame="" tooltip="" history="1" highlightClick="0" endSnd="0">
                  <a:extLst>
                    <a:ext uri="{A12FA001-AC4F-418D-AE19-62706E023703}">
                      <ahyp:hlinkClr xmlns:ahyp="http://schemas.microsoft.com/office/drawing/2018/hyperlinkcolor" val="tx"/>
                    </a:ext>
                  </a:extLst>
                </a:hlinkClick>
              </a:rPr>
              <a:t>19</a:t>
            </a:r>
            <a:endParaRPr lang="en-US" sz="1200" dirty="0"/>
          </a:p>
        </p:txBody>
      </p:sp>
      <p:sp>
        <p:nvSpPr>
          <p:cNvPr id="31" name="Shape 29"/>
          <p:cNvSpPr/>
          <p:nvPr/>
        </p:nvSpPr>
        <p:spPr>
          <a:xfrm>
            <a:off x="7394019" y="5333881"/>
            <a:ext cx="6604635" cy="91440"/>
          </a:xfrm>
          <a:prstGeom prst="roundRect">
            <a:avLst>
              <a:gd name="adj" fmla="val 72534"/>
            </a:avLst>
          </a:prstGeom>
          <a:solidFill>
            <a:srgbClr val="1A2D7A"/>
          </a:solidFill>
          <a:ln/>
        </p:spPr>
      </p:sp>
      <p:sp>
        <p:nvSpPr>
          <p:cNvPr id="32" name="Shape 30"/>
          <p:cNvSpPr/>
          <p:nvPr/>
        </p:nvSpPr>
        <p:spPr>
          <a:xfrm>
            <a:off x="10459462" y="5119926"/>
            <a:ext cx="473750" cy="473750"/>
          </a:xfrm>
          <a:prstGeom prst="roundRect">
            <a:avLst>
              <a:gd name="adj" fmla="val 193013"/>
            </a:avLst>
          </a:prstGeom>
          <a:solidFill>
            <a:srgbClr val="1A2D7A"/>
          </a:solidFill>
          <a:ln/>
        </p:spPr>
      </p:sp>
      <p:sp>
        <p:nvSpPr>
          <p:cNvPr id="33" name="Text 31"/>
          <p:cNvSpPr/>
          <p:nvPr/>
        </p:nvSpPr>
        <p:spPr>
          <a:xfrm>
            <a:off x="10601623" y="5238393"/>
            <a:ext cx="189428" cy="236815"/>
          </a:xfrm>
          <a:prstGeom prst="rect">
            <a:avLst/>
          </a:prstGeom>
          <a:noFill/>
          <a:ln/>
        </p:spPr>
        <p:txBody>
          <a:bodyPr wrap="none" lIns="0" tIns="0" rIns="0" bIns="0" rtlCol="0" anchor="t"/>
          <a:lstStyle/>
          <a:p>
            <a:pPr algn="l" indent="0" marL="0">
              <a:lnSpc>
                <a:spcPts val="2350"/>
              </a:lnSpc>
              <a:buNone/>
            </a:pPr>
            <a:r>
              <a:rPr lang="en-US" sz="1450" dirty="0">
                <a:solidFill>
                  <a:srgbClr val="FFFFFF"/>
                </a:solidFill>
                <a:latin typeface="Alexandria Semi Bold" pitchFamily="34" charset="0"/>
                <a:ea typeface="Alexandria Semi Bold" pitchFamily="34" charset="-122"/>
                <a:cs typeface="Alexandria Semi Bold" pitchFamily="34" charset="-120"/>
              </a:rPr>
              <a:t>5</a:t>
            </a:r>
            <a:endParaRPr lang="en-US" sz="1450" dirty="0"/>
          </a:p>
        </p:txBody>
      </p:sp>
      <p:sp>
        <p:nvSpPr>
          <p:cNvPr id="34" name="Text 32"/>
          <p:cNvSpPr/>
          <p:nvPr/>
        </p:nvSpPr>
        <p:spPr>
          <a:xfrm>
            <a:off x="7574756" y="5751433"/>
            <a:ext cx="4729639" cy="259675"/>
          </a:xfrm>
          <a:prstGeom prst="rect">
            <a:avLst/>
          </a:prstGeom>
          <a:noFill/>
          <a:ln/>
        </p:spPr>
        <p:txBody>
          <a:bodyPr wrap="none" lIns="0" tIns="0" rIns="0" bIns="0" rtlCol="0" anchor="t"/>
          <a:lstStyle/>
          <a:p>
            <a:pPr algn="l" indent="0" marL="0">
              <a:lnSpc>
                <a:spcPts val="2000"/>
              </a:lnSpc>
              <a:buNone/>
            </a:pPr>
            <a:r>
              <a:rPr lang="en-US" sz="1600" dirty="0">
                <a:solidFill>
                  <a:srgbClr val="3B3535"/>
                </a:solidFill>
                <a:latin typeface="Alexandria Semi Bold" pitchFamily="34" charset="0"/>
                <a:ea typeface="Alexandria Semi Bold" pitchFamily="34" charset="-122"/>
                <a:cs typeface="Alexandria Semi Bold" pitchFamily="34" charset="-120"/>
              </a:rPr>
              <a:t>Manufacturing Leader - GenAI for Operations</a:t>
            </a:r>
            <a:endParaRPr lang="en-US" sz="1600" dirty="0"/>
          </a:p>
        </p:txBody>
      </p:sp>
      <p:sp>
        <p:nvSpPr>
          <p:cNvPr id="35" name="Text 33"/>
          <p:cNvSpPr/>
          <p:nvPr/>
        </p:nvSpPr>
        <p:spPr>
          <a:xfrm>
            <a:off x="7574756" y="6105763"/>
            <a:ext cx="6243161" cy="252532"/>
          </a:xfrm>
          <a:prstGeom prst="rect">
            <a:avLst/>
          </a:prstGeom>
          <a:noFill/>
          <a:ln/>
        </p:spPr>
        <p:txBody>
          <a:bodyPr wrap="non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Challenge:</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Optimizing complex manufacturing processes and supply chains</a:t>
            </a:r>
            <a:endParaRPr lang="en-US" sz="1200" dirty="0"/>
          </a:p>
        </p:txBody>
      </p:sp>
      <p:sp>
        <p:nvSpPr>
          <p:cNvPr id="36" name="Text 34"/>
          <p:cNvSpPr/>
          <p:nvPr/>
        </p:nvSpPr>
        <p:spPr>
          <a:xfrm>
            <a:off x="7574756" y="6452949"/>
            <a:ext cx="6243161" cy="252532"/>
          </a:xfrm>
          <a:prstGeom prst="rect">
            <a:avLst/>
          </a:prstGeom>
          <a:noFill/>
          <a:ln/>
        </p:spPr>
        <p:txBody>
          <a:bodyPr wrap="non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Solution:</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TCS Manufacturing AI for Industrials with NVIDIA technology</a:t>
            </a:r>
            <a:endParaRPr lang="en-US" sz="1200" dirty="0"/>
          </a:p>
        </p:txBody>
      </p:sp>
      <p:sp>
        <p:nvSpPr>
          <p:cNvPr id="37" name="Text 35"/>
          <p:cNvSpPr/>
          <p:nvPr/>
        </p:nvSpPr>
        <p:spPr>
          <a:xfrm>
            <a:off x="7574756" y="6800136"/>
            <a:ext cx="6243161" cy="505063"/>
          </a:xfrm>
          <a:prstGeom prst="rect">
            <a:avLst/>
          </a:prstGeom>
          <a:noFill/>
          <a:ln/>
        </p:spPr>
        <p:txBody>
          <a:bodyPr wrap="square" lIns="0" tIns="0" rIns="0" bIns="0" rtlCol="0" anchor="t"/>
          <a:lstStyle/>
          <a:p>
            <a:pPr algn="l" indent="0" marL="0">
              <a:lnSpc>
                <a:spcPts val="1950"/>
              </a:lnSpc>
              <a:buNone/>
            </a:pPr>
            <a:r>
              <a:rPr lang="en-US" sz="1200" b="1" dirty="0">
                <a:solidFill>
                  <a:srgbClr val="3B3535"/>
                </a:solidFill>
                <a:latin typeface="Sora Light" pitchFamily="34" charset="0"/>
                <a:ea typeface="Sora Light" pitchFamily="34" charset="-122"/>
                <a:cs typeface="Sora Light" pitchFamily="34" charset="-120"/>
              </a:rPr>
              <a:t>Results:</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 Increased operational accuracy, faster decision-making, proactive risk management </a:t>
            </a:r>
            <a:pPr algn="l" indent="0" marL="0">
              <a:lnSpc>
                <a:spcPts val="1950"/>
              </a:lnSpc>
              <a:buNone/>
            </a:pPr>
            <a:r>
              <a:rPr lang="en-US" sz="1200" dirty="0">
                <a:solidFill>
                  <a:srgbClr val="3B3535"/>
                </a:solidFill>
                <a:latin typeface="Sora Light" pitchFamily="34" charset="0"/>
                <a:ea typeface="Sora Light" pitchFamily="34" charset="-122"/>
                <a:cs typeface="Sora Light" pitchFamily="34" charset="-120"/>
              </a:rPr>
              <a:t>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5783" y="991195"/>
            <a:ext cx="6692027" cy="448866"/>
          </a:xfrm>
          <a:prstGeom prst="rect">
            <a:avLst/>
          </a:prstGeom>
          <a:noFill/>
          <a:ln/>
        </p:spPr>
        <p:txBody>
          <a:bodyPr wrap="none" lIns="0" tIns="0" rIns="0" bIns="0" rtlCol="0" anchor="t"/>
          <a:lstStyle/>
          <a:p>
            <a:pPr algn="l" indent="0" marL="0">
              <a:lnSpc>
                <a:spcPts val="3500"/>
              </a:lnSpc>
              <a:buNone/>
            </a:pPr>
            <a:r>
              <a:rPr lang="en-US" sz="2800" dirty="0">
                <a:solidFill>
                  <a:srgbClr val="1F1E1E"/>
                </a:solidFill>
                <a:latin typeface="Alexandria Semi Bold" pitchFamily="34" charset="0"/>
                <a:ea typeface="Alexandria Semi Bold" pitchFamily="34" charset="-122"/>
                <a:cs typeface="Alexandria Semi Bold" pitchFamily="34" charset="-120"/>
              </a:rPr>
              <a:t>The Competitive Advantage Window</a:t>
            </a:r>
            <a:endParaRPr lang="en-US" sz="2800" dirty="0"/>
          </a:p>
        </p:txBody>
      </p:sp>
      <p:sp>
        <p:nvSpPr>
          <p:cNvPr id="3" name="Text 1"/>
          <p:cNvSpPr/>
          <p:nvPr/>
        </p:nvSpPr>
        <p:spPr>
          <a:xfrm>
            <a:off x="545783" y="1781175"/>
            <a:ext cx="4554617" cy="269319"/>
          </a:xfrm>
          <a:prstGeom prst="rect">
            <a:avLst/>
          </a:prstGeom>
          <a:noFill/>
          <a:ln/>
        </p:spPr>
        <p:txBody>
          <a:bodyPr wrap="none" lIns="0" tIns="0" rIns="0" bIns="0" rtlCol="0" anchor="t"/>
          <a:lstStyle/>
          <a:p>
            <a:pPr algn="l" indent="0" marL="0">
              <a:lnSpc>
                <a:spcPts val="2100"/>
              </a:lnSpc>
              <a:buNone/>
            </a:pPr>
            <a:r>
              <a:rPr lang="en-US" sz="1650" dirty="0">
                <a:solidFill>
                  <a:srgbClr val="1F1E1E"/>
                </a:solidFill>
                <a:latin typeface="Alexandria Semi Bold" pitchFamily="34" charset="0"/>
                <a:ea typeface="Alexandria Semi Bold" pitchFamily="34" charset="-122"/>
                <a:cs typeface="Alexandria Semi Bold" pitchFamily="34" charset="-120"/>
              </a:rPr>
              <a:t>TKO's First-Mover Advantage Opportunity</a:t>
            </a:r>
            <a:endParaRPr lang="en-US" sz="1650" dirty="0"/>
          </a:p>
        </p:txBody>
      </p:sp>
      <p:sp>
        <p:nvSpPr>
          <p:cNvPr id="4" name="Shape 2"/>
          <p:cNvSpPr/>
          <p:nvPr/>
        </p:nvSpPr>
        <p:spPr>
          <a:xfrm>
            <a:off x="3839647" y="2203966"/>
            <a:ext cx="15240" cy="4880967"/>
          </a:xfrm>
          <a:prstGeom prst="roundRect">
            <a:avLst>
              <a:gd name="adj" fmla="val 376072"/>
            </a:avLst>
          </a:prstGeom>
          <a:solidFill>
            <a:srgbClr val="BBC2DC"/>
          </a:solidFill>
          <a:ln/>
        </p:spPr>
      </p:sp>
      <p:sp>
        <p:nvSpPr>
          <p:cNvPr id="5" name="Shape 3"/>
          <p:cNvSpPr/>
          <p:nvPr/>
        </p:nvSpPr>
        <p:spPr>
          <a:xfrm>
            <a:off x="3299698" y="2349818"/>
            <a:ext cx="409337" cy="15240"/>
          </a:xfrm>
          <a:prstGeom prst="roundRect">
            <a:avLst>
              <a:gd name="adj" fmla="val 376072"/>
            </a:avLst>
          </a:prstGeom>
          <a:solidFill>
            <a:srgbClr val="BBC2DC"/>
          </a:solidFill>
          <a:ln/>
        </p:spPr>
      </p:sp>
      <p:sp>
        <p:nvSpPr>
          <p:cNvPr id="6" name="Shape 4"/>
          <p:cNvSpPr/>
          <p:nvPr/>
        </p:nvSpPr>
        <p:spPr>
          <a:xfrm>
            <a:off x="3693795" y="2203966"/>
            <a:ext cx="306943" cy="306943"/>
          </a:xfrm>
          <a:prstGeom prst="roundRect">
            <a:avLst>
              <a:gd name="adj" fmla="val 18672"/>
            </a:avLst>
          </a:prstGeom>
          <a:solidFill>
            <a:srgbClr val="D5DCF6"/>
          </a:solidFill>
          <a:ln w="7620">
            <a:solidFill>
              <a:srgbClr val="BBC2DC"/>
            </a:solidFill>
            <a:prstDash val="solid"/>
          </a:ln>
        </p:spPr>
      </p:sp>
      <p:sp>
        <p:nvSpPr>
          <p:cNvPr id="7" name="Text 5"/>
          <p:cNvSpPr/>
          <p:nvPr/>
        </p:nvSpPr>
        <p:spPr>
          <a:xfrm>
            <a:off x="3739575" y="2222778"/>
            <a:ext cx="215384" cy="269319"/>
          </a:xfrm>
          <a:prstGeom prst="rect">
            <a:avLst/>
          </a:prstGeom>
          <a:noFill/>
          <a:ln/>
        </p:spPr>
        <p:txBody>
          <a:bodyPr wrap="none" lIns="0" tIns="0" rIns="0" bIns="0" rtlCol="0" anchor="t"/>
          <a:lstStyle/>
          <a:p>
            <a:pPr algn="ctr" indent="0" marL="0">
              <a:lnSpc>
                <a:spcPts val="1650"/>
              </a:lnSpc>
              <a:buNone/>
            </a:pPr>
            <a:r>
              <a:rPr lang="en-US" sz="1650" dirty="0">
                <a:solidFill>
                  <a:srgbClr val="3B3535"/>
                </a:solidFill>
                <a:latin typeface="Alexandria Semi Bold" pitchFamily="34" charset="0"/>
                <a:ea typeface="Alexandria Semi Bold" pitchFamily="34" charset="-122"/>
                <a:cs typeface="Alexandria Semi Bold" pitchFamily="34" charset="-120"/>
              </a:rPr>
              <a:t>1</a:t>
            </a:r>
            <a:endParaRPr lang="en-US" sz="1650" dirty="0"/>
          </a:p>
        </p:txBody>
      </p:sp>
      <p:sp>
        <p:nvSpPr>
          <p:cNvPr id="8" name="Text 6"/>
          <p:cNvSpPr/>
          <p:nvPr/>
        </p:nvSpPr>
        <p:spPr>
          <a:xfrm>
            <a:off x="1369576" y="2250758"/>
            <a:ext cx="1795462" cy="224433"/>
          </a:xfrm>
          <a:prstGeom prst="rect">
            <a:avLst/>
          </a:prstGeom>
          <a:noFill/>
          <a:ln/>
        </p:spPr>
        <p:txBody>
          <a:bodyPr wrap="none" lIns="0" tIns="0" rIns="0" bIns="0" rtlCol="0" anchor="t"/>
          <a:lstStyle/>
          <a:p>
            <a:pPr algn="r" indent="0" marL="0">
              <a:lnSpc>
                <a:spcPts val="1750"/>
              </a:lnSpc>
              <a:buNone/>
            </a:pPr>
            <a:r>
              <a:rPr lang="en-US" sz="1400" dirty="0">
                <a:solidFill>
                  <a:srgbClr val="3B3535"/>
                </a:solidFill>
                <a:latin typeface="Alexandria Semi Bold" pitchFamily="34" charset="0"/>
                <a:ea typeface="Alexandria Semi Bold" pitchFamily="34" charset="-122"/>
                <a:cs typeface="Alexandria Semi Bold" pitchFamily="34" charset="-120"/>
              </a:rPr>
              <a:t>Market Timing</a:t>
            </a:r>
            <a:endParaRPr lang="en-US" sz="1400" dirty="0"/>
          </a:p>
        </p:txBody>
      </p:sp>
      <p:sp>
        <p:nvSpPr>
          <p:cNvPr id="9" name="Text 7"/>
          <p:cNvSpPr/>
          <p:nvPr/>
        </p:nvSpPr>
        <p:spPr>
          <a:xfrm>
            <a:off x="545783" y="2611636"/>
            <a:ext cx="2619256" cy="654725"/>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3B3535"/>
                </a:solidFill>
                <a:latin typeface="Sora Light" pitchFamily="34" charset="0"/>
                <a:ea typeface="Sora Light" pitchFamily="34" charset="-122"/>
                <a:cs typeface="Sora Light" pitchFamily="34" charset="-120"/>
              </a:rPr>
              <a:t>Only 30% of media companies have fully integrated AI across operations</a:t>
            </a:r>
            <a:endParaRPr lang="en-US" sz="1050" dirty="0"/>
          </a:p>
        </p:txBody>
      </p:sp>
      <p:sp>
        <p:nvSpPr>
          <p:cNvPr id="10" name="Text 8"/>
          <p:cNvSpPr/>
          <p:nvPr/>
        </p:nvSpPr>
        <p:spPr>
          <a:xfrm>
            <a:off x="545783" y="3314105"/>
            <a:ext cx="2619256" cy="872966"/>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3B3535"/>
                </a:solidFill>
                <a:latin typeface="Sora Light" pitchFamily="34" charset="0"/>
                <a:ea typeface="Sora Light" pitchFamily="34" charset="-122"/>
                <a:cs typeface="Sora Light" pitchFamily="34" charset="-120"/>
              </a:rPr>
              <a:t>70% of companies still in experimentation phase while early adopters gain 300-500% productivity gains</a:t>
            </a:r>
            <a:endParaRPr lang="en-US" sz="1050" dirty="0"/>
          </a:p>
        </p:txBody>
      </p:sp>
      <p:sp>
        <p:nvSpPr>
          <p:cNvPr id="11" name="Text 9"/>
          <p:cNvSpPr/>
          <p:nvPr/>
        </p:nvSpPr>
        <p:spPr>
          <a:xfrm>
            <a:off x="545783" y="4234815"/>
            <a:ext cx="2619256" cy="872966"/>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3B3535"/>
                </a:solidFill>
                <a:latin typeface="Sora Light" pitchFamily="34" charset="0"/>
                <a:ea typeface="Sora Light" pitchFamily="34" charset="-122"/>
                <a:cs typeface="Sora Light" pitchFamily="34" charset="-120"/>
              </a:rPr>
              <a:t>Half of companies plan full AI integration by 2026—after that, AI becomes table stakes, not differentiation</a:t>
            </a:r>
            <a:endParaRPr lang="en-US" sz="1050" dirty="0"/>
          </a:p>
        </p:txBody>
      </p:sp>
      <p:sp>
        <p:nvSpPr>
          <p:cNvPr id="12" name="Shape 10"/>
          <p:cNvSpPr/>
          <p:nvPr/>
        </p:nvSpPr>
        <p:spPr>
          <a:xfrm>
            <a:off x="3985498" y="3168491"/>
            <a:ext cx="409337" cy="15240"/>
          </a:xfrm>
          <a:prstGeom prst="roundRect">
            <a:avLst>
              <a:gd name="adj" fmla="val 376072"/>
            </a:avLst>
          </a:prstGeom>
          <a:solidFill>
            <a:srgbClr val="BBC2DC"/>
          </a:solidFill>
          <a:ln/>
        </p:spPr>
      </p:sp>
      <p:sp>
        <p:nvSpPr>
          <p:cNvPr id="13" name="Shape 11"/>
          <p:cNvSpPr/>
          <p:nvPr/>
        </p:nvSpPr>
        <p:spPr>
          <a:xfrm>
            <a:off x="3693795" y="3022640"/>
            <a:ext cx="306943" cy="306943"/>
          </a:xfrm>
          <a:prstGeom prst="roundRect">
            <a:avLst>
              <a:gd name="adj" fmla="val 18672"/>
            </a:avLst>
          </a:prstGeom>
          <a:solidFill>
            <a:srgbClr val="D5DCF6"/>
          </a:solidFill>
          <a:ln w="7620">
            <a:solidFill>
              <a:srgbClr val="BBC2DC"/>
            </a:solidFill>
            <a:prstDash val="solid"/>
          </a:ln>
        </p:spPr>
      </p:sp>
      <p:sp>
        <p:nvSpPr>
          <p:cNvPr id="14" name="Text 12"/>
          <p:cNvSpPr/>
          <p:nvPr/>
        </p:nvSpPr>
        <p:spPr>
          <a:xfrm>
            <a:off x="3739575" y="3041452"/>
            <a:ext cx="215384" cy="269319"/>
          </a:xfrm>
          <a:prstGeom prst="rect">
            <a:avLst/>
          </a:prstGeom>
          <a:noFill/>
          <a:ln/>
        </p:spPr>
        <p:txBody>
          <a:bodyPr wrap="none" lIns="0" tIns="0" rIns="0" bIns="0" rtlCol="0" anchor="t"/>
          <a:lstStyle/>
          <a:p>
            <a:pPr algn="ctr" indent="0" marL="0">
              <a:lnSpc>
                <a:spcPts val="1650"/>
              </a:lnSpc>
              <a:buNone/>
            </a:pPr>
            <a:r>
              <a:rPr lang="en-US" sz="1650" dirty="0">
                <a:solidFill>
                  <a:srgbClr val="3B3535"/>
                </a:solidFill>
                <a:latin typeface="Alexandria Semi Bold" pitchFamily="34" charset="0"/>
                <a:ea typeface="Alexandria Semi Bold" pitchFamily="34" charset="-122"/>
                <a:cs typeface="Alexandria Semi Bold" pitchFamily="34" charset="-120"/>
              </a:rPr>
              <a:t>2</a:t>
            </a:r>
            <a:endParaRPr lang="en-US" sz="1650" dirty="0"/>
          </a:p>
        </p:txBody>
      </p:sp>
      <p:sp>
        <p:nvSpPr>
          <p:cNvPr id="15" name="Text 13"/>
          <p:cNvSpPr/>
          <p:nvPr/>
        </p:nvSpPr>
        <p:spPr>
          <a:xfrm>
            <a:off x="4529495" y="3069431"/>
            <a:ext cx="1856065" cy="224433"/>
          </a:xfrm>
          <a:prstGeom prst="rect">
            <a:avLst/>
          </a:prstGeom>
          <a:noFill/>
          <a:ln/>
        </p:spPr>
        <p:txBody>
          <a:bodyPr wrap="none" lIns="0" tIns="0" rIns="0" bIns="0" rtlCol="0" anchor="t"/>
          <a:lstStyle/>
          <a:p>
            <a:pPr algn="l" indent="0" marL="0">
              <a:lnSpc>
                <a:spcPts val="1750"/>
              </a:lnSpc>
              <a:buNone/>
            </a:pPr>
            <a:r>
              <a:rPr lang="en-US" sz="1400" dirty="0">
                <a:solidFill>
                  <a:srgbClr val="3B3535"/>
                </a:solidFill>
                <a:latin typeface="Alexandria Semi Bold" pitchFamily="34" charset="0"/>
                <a:ea typeface="Alexandria Semi Bold" pitchFamily="34" charset="-122"/>
                <a:cs typeface="Alexandria Semi Bold" pitchFamily="34" charset="-120"/>
              </a:rPr>
              <a:t>TKO's Unique Assets</a:t>
            </a:r>
            <a:endParaRPr lang="en-US" sz="1400" dirty="0"/>
          </a:p>
        </p:txBody>
      </p:sp>
      <p:sp>
        <p:nvSpPr>
          <p:cNvPr id="16" name="Text 14"/>
          <p:cNvSpPr/>
          <p:nvPr/>
        </p:nvSpPr>
        <p:spPr>
          <a:xfrm>
            <a:off x="4529495" y="3430310"/>
            <a:ext cx="2619256" cy="654725"/>
          </a:xfrm>
          <a:prstGeom prst="rect">
            <a:avLst/>
          </a:prstGeom>
          <a:noFill/>
          <a:ln/>
        </p:spPr>
        <p:txBody>
          <a:bodyPr wrap="square" lIns="0" tIns="0" rIns="0" bIns="0" rtlCol="0" anchor="t"/>
          <a:lstStyle/>
          <a:p>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Vertical Integration: Own entire value chain from talent development to global distribution</a:t>
            </a:r>
            <a:endParaRPr lang="en-US" sz="1050" dirty="0"/>
          </a:p>
        </p:txBody>
      </p:sp>
      <p:sp>
        <p:nvSpPr>
          <p:cNvPr id="17" name="Text 15"/>
          <p:cNvSpPr/>
          <p:nvPr/>
        </p:nvSpPr>
        <p:spPr>
          <a:xfrm>
            <a:off x="4529495" y="4207788"/>
            <a:ext cx="2619256" cy="872966"/>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3B3535"/>
                </a:solidFill>
                <a:latin typeface="Sora Light" pitchFamily="34" charset="0"/>
                <a:ea typeface="Sora Light" pitchFamily="34" charset="-122"/>
                <a:cs typeface="Sora Light" pitchFamily="34" charset="-120"/>
              </a:rPr>
              <a:t>Global Reach: 93% international fanbase across 210 countries creates massive personalization opportunity</a:t>
            </a:r>
            <a:endParaRPr lang="en-US" sz="1050" dirty="0"/>
          </a:p>
        </p:txBody>
      </p:sp>
      <p:sp>
        <p:nvSpPr>
          <p:cNvPr id="18" name="Text 16"/>
          <p:cNvSpPr/>
          <p:nvPr/>
        </p:nvSpPr>
        <p:spPr>
          <a:xfrm>
            <a:off x="4529495" y="5128498"/>
            <a:ext cx="2619256" cy="654725"/>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3B3535"/>
                </a:solidFill>
                <a:latin typeface="Sora Light" pitchFamily="34" charset="0"/>
                <a:ea typeface="Sora Light" pitchFamily="34" charset="-122"/>
                <a:cs typeface="Sora Light" pitchFamily="34" charset="-120"/>
              </a:rPr>
              <a:t>Live Event Expertise: 500+ annual events provide real-time content and engagement opportunities</a:t>
            </a:r>
            <a:endParaRPr lang="en-US" sz="1050" dirty="0"/>
          </a:p>
        </p:txBody>
      </p:sp>
      <p:sp>
        <p:nvSpPr>
          <p:cNvPr id="19" name="Text 17"/>
          <p:cNvSpPr/>
          <p:nvPr/>
        </p:nvSpPr>
        <p:spPr>
          <a:xfrm>
            <a:off x="4529495" y="5830967"/>
            <a:ext cx="2619256" cy="872966"/>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3B3535"/>
                </a:solidFill>
                <a:latin typeface="Sora Light" pitchFamily="34" charset="0"/>
                <a:ea typeface="Sora Light" pitchFamily="34" charset="-122"/>
                <a:cs typeface="Sora Light" pitchFamily="34" charset="-120"/>
              </a:rPr>
              <a:t>Multi-Brand Portfolio: UFC, WWE, PBR, IMG, and On Location create cross-selling and optimization opportunities</a:t>
            </a:r>
            <a:endParaRPr lang="en-US" sz="1050" dirty="0"/>
          </a:p>
        </p:txBody>
      </p:sp>
      <p:sp>
        <p:nvSpPr>
          <p:cNvPr id="20" name="Text 18"/>
          <p:cNvSpPr/>
          <p:nvPr/>
        </p:nvSpPr>
        <p:spPr>
          <a:xfrm>
            <a:off x="7489269" y="1781175"/>
            <a:ext cx="2242661" cy="269319"/>
          </a:xfrm>
          <a:prstGeom prst="rect">
            <a:avLst/>
          </a:prstGeom>
          <a:noFill/>
          <a:ln/>
        </p:spPr>
        <p:txBody>
          <a:bodyPr wrap="none" lIns="0" tIns="0" rIns="0" bIns="0" rtlCol="0" anchor="t"/>
          <a:lstStyle/>
          <a:p>
            <a:pPr algn="l" indent="0" marL="0">
              <a:lnSpc>
                <a:spcPts val="2100"/>
              </a:lnSpc>
              <a:buNone/>
            </a:pPr>
            <a:r>
              <a:rPr lang="en-US" sz="1650" dirty="0">
                <a:solidFill>
                  <a:srgbClr val="1F1E1E"/>
                </a:solidFill>
                <a:latin typeface="Alexandria Semi Bold" pitchFamily="34" charset="0"/>
                <a:ea typeface="Alexandria Semi Bold" pitchFamily="34" charset="-122"/>
                <a:cs typeface="Alexandria Semi Bold" pitchFamily="34" charset="-120"/>
              </a:rPr>
              <a:t>The Closing Window</a:t>
            </a:r>
            <a:endParaRPr lang="en-US" sz="1650" dirty="0"/>
          </a:p>
        </p:txBody>
      </p:sp>
      <p:sp>
        <p:nvSpPr>
          <p:cNvPr id="21" name="Shape 19"/>
          <p:cNvSpPr/>
          <p:nvPr/>
        </p:nvSpPr>
        <p:spPr>
          <a:xfrm>
            <a:off x="7489269" y="2203966"/>
            <a:ext cx="545783" cy="852011"/>
          </a:xfrm>
          <a:prstGeom prst="roundRect">
            <a:avLst>
              <a:gd name="adj" fmla="val 360038"/>
            </a:avLst>
          </a:prstGeom>
          <a:solidFill>
            <a:srgbClr val="D5DCF6"/>
          </a:solidFill>
          <a:ln w="7620">
            <a:solidFill>
              <a:srgbClr val="BBC2DC"/>
            </a:solidFill>
            <a:prstDash val="solid"/>
          </a:ln>
        </p:spPr>
      </p:sp>
      <p:sp>
        <p:nvSpPr>
          <p:cNvPr id="22" name="Text 20"/>
          <p:cNvSpPr/>
          <p:nvPr/>
        </p:nvSpPr>
        <p:spPr>
          <a:xfrm>
            <a:off x="7659767" y="2502098"/>
            <a:ext cx="204668" cy="255746"/>
          </a:xfrm>
          <a:prstGeom prst="rect">
            <a:avLst/>
          </a:prstGeom>
          <a:noFill/>
          <a:ln/>
        </p:spPr>
        <p:txBody>
          <a:bodyPr wrap="none" lIns="0" tIns="0" rIns="0" bIns="0" rtlCol="0" anchor="t"/>
          <a:lstStyle/>
          <a:p>
            <a:pPr algn="l" indent="0" marL="0">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1</a:t>
            </a:r>
            <a:endParaRPr lang="en-US" sz="1600" dirty="0"/>
          </a:p>
        </p:txBody>
      </p:sp>
      <p:sp>
        <p:nvSpPr>
          <p:cNvPr id="23" name="Text 21"/>
          <p:cNvSpPr/>
          <p:nvPr/>
        </p:nvSpPr>
        <p:spPr>
          <a:xfrm>
            <a:off x="8171498" y="2340412"/>
            <a:ext cx="1795462" cy="224433"/>
          </a:xfrm>
          <a:prstGeom prst="rect">
            <a:avLst/>
          </a:prstGeom>
          <a:noFill/>
          <a:ln/>
        </p:spPr>
        <p:txBody>
          <a:bodyPr wrap="none" lIns="0" tIns="0" rIns="0" bIns="0" rtlCol="0" anchor="t"/>
          <a:lstStyle/>
          <a:p>
            <a:pPr algn="l" indent="0" marL="0">
              <a:lnSpc>
                <a:spcPts val="1750"/>
              </a:lnSpc>
              <a:buNone/>
            </a:pPr>
            <a:r>
              <a:rPr lang="en-US" sz="1400" dirty="0">
                <a:solidFill>
                  <a:srgbClr val="3B3535"/>
                </a:solidFill>
                <a:latin typeface="Alexandria Semi Bold" pitchFamily="34" charset="0"/>
                <a:ea typeface="Alexandria Semi Bold" pitchFamily="34" charset="-122"/>
                <a:cs typeface="Alexandria Semi Bold" pitchFamily="34" charset="-120"/>
              </a:rPr>
              <a:t>2025</a:t>
            </a:r>
            <a:endParaRPr lang="en-US" sz="1400" dirty="0"/>
          </a:p>
        </p:txBody>
      </p:sp>
      <p:sp>
        <p:nvSpPr>
          <p:cNvPr id="24" name="Text 22"/>
          <p:cNvSpPr/>
          <p:nvPr/>
        </p:nvSpPr>
        <p:spPr>
          <a:xfrm>
            <a:off x="8171498" y="2701290"/>
            <a:ext cx="5920740" cy="218242"/>
          </a:xfrm>
          <a:prstGeom prst="rect">
            <a:avLst/>
          </a:prstGeom>
          <a:noFill/>
          <a:ln/>
        </p:spPr>
        <p:txBody>
          <a:bodyPr wrap="none" lIns="0" tIns="0" rIns="0" bIns="0" rtlCol="0" anchor="t"/>
          <a:lstStyle/>
          <a:p>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AI adoption acceleration phase—competitive advantage available for early movers</a:t>
            </a:r>
            <a:endParaRPr lang="en-US" sz="1050" dirty="0"/>
          </a:p>
        </p:txBody>
      </p:sp>
      <p:sp>
        <p:nvSpPr>
          <p:cNvPr id="25" name="Shape 23"/>
          <p:cNvSpPr/>
          <p:nvPr/>
        </p:nvSpPr>
        <p:spPr>
          <a:xfrm>
            <a:off x="7489269" y="3158252"/>
            <a:ext cx="545783" cy="852011"/>
          </a:xfrm>
          <a:prstGeom prst="roundRect">
            <a:avLst>
              <a:gd name="adj" fmla="val 360038"/>
            </a:avLst>
          </a:prstGeom>
          <a:solidFill>
            <a:srgbClr val="D5DCF6"/>
          </a:solidFill>
          <a:ln w="7620">
            <a:solidFill>
              <a:srgbClr val="BBC2DC"/>
            </a:solidFill>
            <a:prstDash val="solid"/>
          </a:ln>
        </p:spPr>
      </p:sp>
      <p:sp>
        <p:nvSpPr>
          <p:cNvPr id="26" name="Text 24"/>
          <p:cNvSpPr/>
          <p:nvPr/>
        </p:nvSpPr>
        <p:spPr>
          <a:xfrm>
            <a:off x="7659767" y="3456384"/>
            <a:ext cx="204668" cy="255746"/>
          </a:xfrm>
          <a:prstGeom prst="rect">
            <a:avLst/>
          </a:prstGeom>
          <a:noFill/>
          <a:ln/>
        </p:spPr>
        <p:txBody>
          <a:bodyPr wrap="none" lIns="0" tIns="0" rIns="0" bIns="0" rtlCol="0" anchor="t"/>
          <a:lstStyle/>
          <a:p>
            <a:pPr algn="l" indent="0" marL="0">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2</a:t>
            </a:r>
            <a:endParaRPr lang="en-US" sz="1600" dirty="0"/>
          </a:p>
        </p:txBody>
      </p:sp>
      <p:sp>
        <p:nvSpPr>
          <p:cNvPr id="27" name="Text 25"/>
          <p:cNvSpPr/>
          <p:nvPr/>
        </p:nvSpPr>
        <p:spPr>
          <a:xfrm>
            <a:off x="8171498" y="3294697"/>
            <a:ext cx="1795462" cy="224433"/>
          </a:xfrm>
          <a:prstGeom prst="rect">
            <a:avLst/>
          </a:prstGeom>
          <a:noFill/>
          <a:ln/>
        </p:spPr>
        <p:txBody>
          <a:bodyPr wrap="none" lIns="0" tIns="0" rIns="0" bIns="0" rtlCol="0" anchor="t"/>
          <a:lstStyle/>
          <a:p>
            <a:pPr algn="l" indent="0" marL="0">
              <a:lnSpc>
                <a:spcPts val="1750"/>
              </a:lnSpc>
              <a:buNone/>
            </a:pPr>
            <a:r>
              <a:rPr lang="en-US" sz="1400" dirty="0">
                <a:solidFill>
                  <a:srgbClr val="3B3535"/>
                </a:solidFill>
                <a:latin typeface="Alexandria Semi Bold" pitchFamily="34" charset="0"/>
                <a:ea typeface="Alexandria Semi Bold" pitchFamily="34" charset="-122"/>
                <a:cs typeface="Alexandria Semi Bold" pitchFamily="34" charset="-120"/>
              </a:rPr>
              <a:t>2026</a:t>
            </a:r>
            <a:endParaRPr lang="en-US" sz="1400" dirty="0"/>
          </a:p>
        </p:txBody>
      </p:sp>
      <p:sp>
        <p:nvSpPr>
          <p:cNvPr id="28" name="Text 26"/>
          <p:cNvSpPr/>
          <p:nvPr/>
        </p:nvSpPr>
        <p:spPr>
          <a:xfrm>
            <a:off x="8171498" y="3655576"/>
            <a:ext cx="5920740" cy="218242"/>
          </a:xfrm>
          <a:prstGeom prst="rect">
            <a:avLst/>
          </a:prstGeom>
          <a:noFill/>
          <a:ln/>
        </p:spPr>
        <p:txBody>
          <a:bodyPr wrap="none" lIns="0" tIns="0" rIns="0" bIns="0" rtlCol="0" anchor="t"/>
          <a:lstStyle/>
          <a:p>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AI becomes industry standard—advantage shifts to execution excellence</a:t>
            </a:r>
            <a:endParaRPr lang="en-US" sz="1050" dirty="0"/>
          </a:p>
        </p:txBody>
      </p:sp>
      <p:sp>
        <p:nvSpPr>
          <p:cNvPr id="29" name="Shape 27"/>
          <p:cNvSpPr/>
          <p:nvPr/>
        </p:nvSpPr>
        <p:spPr>
          <a:xfrm>
            <a:off x="7489269" y="4112538"/>
            <a:ext cx="545783" cy="852011"/>
          </a:xfrm>
          <a:prstGeom prst="roundRect">
            <a:avLst>
              <a:gd name="adj" fmla="val 360038"/>
            </a:avLst>
          </a:prstGeom>
          <a:solidFill>
            <a:srgbClr val="D5DCF6"/>
          </a:solidFill>
          <a:ln w="7620">
            <a:solidFill>
              <a:srgbClr val="BBC2DC"/>
            </a:solidFill>
            <a:prstDash val="solid"/>
          </a:ln>
        </p:spPr>
      </p:sp>
      <p:sp>
        <p:nvSpPr>
          <p:cNvPr id="30" name="Text 28"/>
          <p:cNvSpPr/>
          <p:nvPr/>
        </p:nvSpPr>
        <p:spPr>
          <a:xfrm>
            <a:off x="7659767" y="4410670"/>
            <a:ext cx="204668" cy="255746"/>
          </a:xfrm>
          <a:prstGeom prst="rect">
            <a:avLst/>
          </a:prstGeom>
          <a:noFill/>
          <a:ln/>
        </p:spPr>
        <p:txBody>
          <a:bodyPr wrap="none" lIns="0" tIns="0" rIns="0" bIns="0" rtlCol="0" anchor="t"/>
          <a:lstStyle/>
          <a:p>
            <a:pPr algn="l" indent="0" marL="0">
              <a:lnSpc>
                <a:spcPts val="1600"/>
              </a:lnSpc>
              <a:buNone/>
            </a:pPr>
            <a:r>
              <a:rPr lang="en-US" sz="1600" dirty="0">
                <a:solidFill>
                  <a:srgbClr val="3B3535"/>
                </a:solidFill>
                <a:latin typeface="Alexandria Semi Bold" pitchFamily="34" charset="0"/>
                <a:ea typeface="Alexandria Semi Bold" pitchFamily="34" charset="-122"/>
                <a:cs typeface="Alexandria Semi Bold" pitchFamily="34" charset="-120"/>
              </a:rPr>
              <a:t>3</a:t>
            </a:r>
            <a:endParaRPr lang="en-US" sz="1600" dirty="0"/>
          </a:p>
        </p:txBody>
      </p:sp>
      <p:sp>
        <p:nvSpPr>
          <p:cNvPr id="31" name="Text 29"/>
          <p:cNvSpPr/>
          <p:nvPr/>
        </p:nvSpPr>
        <p:spPr>
          <a:xfrm>
            <a:off x="8171498" y="4248983"/>
            <a:ext cx="1795462" cy="224433"/>
          </a:xfrm>
          <a:prstGeom prst="rect">
            <a:avLst/>
          </a:prstGeom>
          <a:noFill/>
          <a:ln/>
        </p:spPr>
        <p:txBody>
          <a:bodyPr wrap="none" lIns="0" tIns="0" rIns="0" bIns="0" rtlCol="0" anchor="t"/>
          <a:lstStyle/>
          <a:p>
            <a:pPr algn="l" indent="0" marL="0">
              <a:lnSpc>
                <a:spcPts val="1750"/>
              </a:lnSpc>
              <a:buNone/>
            </a:pPr>
            <a:r>
              <a:rPr lang="en-US" sz="1400" dirty="0">
                <a:solidFill>
                  <a:srgbClr val="3B3535"/>
                </a:solidFill>
                <a:latin typeface="Alexandria Semi Bold" pitchFamily="34" charset="0"/>
                <a:ea typeface="Alexandria Semi Bold" pitchFamily="34" charset="-122"/>
                <a:cs typeface="Alexandria Semi Bold" pitchFamily="34" charset="-120"/>
              </a:rPr>
              <a:t>2027+</a:t>
            </a:r>
            <a:endParaRPr lang="en-US" sz="1400" dirty="0"/>
          </a:p>
        </p:txBody>
      </p:sp>
      <p:sp>
        <p:nvSpPr>
          <p:cNvPr id="32" name="Text 30"/>
          <p:cNvSpPr/>
          <p:nvPr/>
        </p:nvSpPr>
        <p:spPr>
          <a:xfrm>
            <a:off x="8171498" y="4609862"/>
            <a:ext cx="5920740" cy="218242"/>
          </a:xfrm>
          <a:prstGeom prst="rect">
            <a:avLst/>
          </a:prstGeom>
          <a:noFill/>
          <a:ln/>
        </p:spPr>
        <p:txBody>
          <a:bodyPr wrap="none" lIns="0" tIns="0" rIns="0" bIns="0" rtlCol="0" anchor="t"/>
          <a:lstStyle/>
          <a:p>
            <a:pPr algn="l" indent="0" marL="0">
              <a:lnSpc>
                <a:spcPts val="1700"/>
              </a:lnSpc>
              <a:buNone/>
            </a:pPr>
            <a:r>
              <a:rPr lang="en-US" sz="1050" dirty="0">
                <a:solidFill>
                  <a:srgbClr val="3B3535"/>
                </a:solidFill>
                <a:latin typeface="Sora Light" pitchFamily="34" charset="0"/>
                <a:ea typeface="Sora Light" pitchFamily="34" charset="-122"/>
                <a:cs typeface="Sora Light" pitchFamily="34" charset="-120"/>
              </a:rPr>
              <a:t>AI-native companies dominate—late adopters face permanent disadvantage</a:t>
            </a:r>
            <a:endParaRPr lang="en-US" sz="1050" dirty="0"/>
          </a:p>
        </p:txBody>
      </p:sp>
      <p:sp>
        <p:nvSpPr>
          <p:cNvPr id="33" name="Text 31"/>
          <p:cNvSpPr/>
          <p:nvPr/>
        </p:nvSpPr>
        <p:spPr>
          <a:xfrm>
            <a:off x="7489269" y="5118021"/>
            <a:ext cx="2902625" cy="269319"/>
          </a:xfrm>
          <a:prstGeom prst="rect">
            <a:avLst/>
          </a:prstGeom>
          <a:noFill/>
          <a:ln/>
        </p:spPr>
        <p:txBody>
          <a:bodyPr wrap="none" lIns="0" tIns="0" rIns="0" bIns="0" rtlCol="0" anchor="t"/>
          <a:lstStyle/>
          <a:p>
            <a:pPr algn="l" indent="0" marL="0">
              <a:lnSpc>
                <a:spcPts val="2100"/>
              </a:lnSpc>
              <a:buNone/>
            </a:pPr>
            <a:r>
              <a:rPr lang="en-US" sz="1650" dirty="0">
                <a:solidFill>
                  <a:srgbClr val="1F1E1E"/>
                </a:solidFill>
                <a:latin typeface="Alexandria Semi Bold" pitchFamily="34" charset="0"/>
                <a:ea typeface="Alexandria Semi Bold" pitchFamily="34" charset="-122"/>
                <a:cs typeface="Alexandria Semi Bold" pitchFamily="34" charset="-120"/>
              </a:rPr>
              <a:t>TKO's Strategic Imperative</a:t>
            </a:r>
            <a:endParaRPr lang="en-US" sz="1650" dirty="0"/>
          </a:p>
        </p:txBody>
      </p:sp>
      <p:sp>
        <p:nvSpPr>
          <p:cNvPr id="34" name="Text 32"/>
          <p:cNvSpPr/>
          <p:nvPr/>
        </p:nvSpPr>
        <p:spPr>
          <a:xfrm>
            <a:off x="7489269" y="5523786"/>
            <a:ext cx="6602968" cy="436483"/>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3B3535"/>
                </a:solidFill>
                <a:latin typeface="Sora Light" pitchFamily="34" charset="0"/>
                <a:ea typeface="Sora Light" pitchFamily="34" charset="-122"/>
                <a:cs typeface="Sora Light" pitchFamily="34" charset="-120"/>
              </a:rPr>
              <a:t>Immediate Action Required: Begin AI transformation within 90 days to maintain competitive position</a:t>
            </a:r>
            <a:endParaRPr lang="en-US" sz="1050" dirty="0"/>
          </a:p>
        </p:txBody>
      </p:sp>
      <p:sp>
        <p:nvSpPr>
          <p:cNvPr id="35" name="Text 33"/>
          <p:cNvSpPr/>
          <p:nvPr/>
        </p:nvSpPr>
        <p:spPr>
          <a:xfrm>
            <a:off x="7489269" y="6008013"/>
            <a:ext cx="6602968" cy="218242"/>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3B3535"/>
                </a:solidFill>
                <a:latin typeface="Sora Light" pitchFamily="34" charset="0"/>
                <a:ea typeface="Sora Light" pitchFamily="34" charset="-122"/>
                <a:cs typeface="Sora Light" pitchFamily="34" charset="-120"/>
              </a:rPr>
              <a:t>Investment Timeline: $150-200M investment over 24 months for $880M annual value creation</a:t>
            </a:r>
            <a:endParaRPr lang="en-US" sz="1050" dirty="0"/>
          </a:p>
        </p:txBody>
      </p:sp>
      <p:sp>
        <p:nvSpPr>
          <p:cNvPr id="36" name="Text 34"/>
          <p:cNvSpPr/>
          <p:nvPr/>
        </p:nvSpPr>
        <p:spPr>
          <a:xfrm>
            <a:off x="7489269" y="6273998"/>
            <a:ext cx="6602968" cy="218242"/>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3B3535"/>
                </a:solidFill>
                <a:latin typeface="Sora Light" pitchFamily="34" charset="0"/>
                <a:ea typeface="Sora Light" pitchFamily="34" charset="-122"/>
                <a:cs typeface="Sora Light" pitchFamily="34" charset="-120"/>
              </a:rPr>
              <a:t>Partnership Strategy: Leverage TCS expertise to accelerate implementation and reduce risk</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261" y="502444"/>
            <a:ext cx="9579293" cy="465653"/>
          </a:xfrm>
          <a:prstGeom prst="rect">
            <a:avLst/>
          </a:prstGeom>
          <a:noFill/>
          <a:ln/>
        </p:spPr>
        <p:txBody>
          <a:bodyPr wrap="none" lIns="0" tIns="0" rIns="0" bIns="0" rtlCol="0" anchor="t"/>
          <a:lstStyle/>
          <a:p>
            <a:pPr algn="l" indent="0" marL="0">
              <a:lnSpc>
                <a:spcPts val="3650"/>
              </a:lnSpc>
              <a:buNone/>
            </a:pPr>
            <a:r>
              <a:rPr lang="en-US" sz="2900" dirty="0">
                <a:solidFill>
                  <a:srgbClr val="1F1E1E"/>
                </a:solidFill>
                <a:latin typeface="Alexandria Semi Bold" pitchFamily="34" charset="0"/>
                <a:ea typeface="Alexandria Semi Bold" pitchFamily="34" charset="-122"/>
                <a:cs typeface="Alexandria Semi Bold" pitchFamily="34" charset="-120"/>
              </a:rPr>
              <a:t>Call to Action - The TKO AI Transformation Journey</a:t>
            </a:r>
            <a:endParaRPr lang="en-US" sz="2900" dirty="0"/>
          </a:p>
        </p:txBody>
      </p:sp>
      <p:sp>
        <p:nvSpPr>
          <p:cNvPr id="3" name="Text 1"/>
          <p:cNvSpPr/>
          <p:nvPr/>
        </p:nvSpPr>
        <p:spPr>
          <a:xfrm>
            <a:off x="566261" y="1321951"/>
            <a:ext cx="2575679" cy="279321"/>
          </a:xfrm>
          <a:prstGeom prst="rect">
            <a:avLst/>
          </a:prstGeom>
          <a:noFill/>
          <a:ln/>
        </p:spPr>
        <p:txBody>
          <a:bodyPr wrap="none" lIns="0" tIns="0" rIns="0" bIns="0" rtlCol="0" anchor="t"/>
          <a:lstStyle/>
          <a:p>
            <a:pPr algn="l" indent="0" marL="0">
              <a:lnSpc>
                <a:spcPts val="2200"/>
              </a:lnSpc>
              <a:buNone/>
            </a:pPr>
            <a:r>
              <a:rPr lang="en-US" sz="1750" dirty="0">
                <a:solidFill>
                  <a:srgbClr val="1F1E1E"/>
                </a:solidFill>
                <a:latin typeface="Alexandria Semi Bold" pitchFamily="34" charset="0"/>
                <a:ea typeface="Alexandria Semi Bold" pitchFamily="34" charset="-122"/>
                <a:cs typeface="Alexandria Semi Bold" pitchFamily="34" charset="-120"/>
              </a:rPr>
              <a:t>The Choice Before TKO</a:t>
            </a:r>
            <a:endParaRPr lang="en-US" sz="1750" dirty="0"/>
          </a:p>
        </p:txBody>
      </p:sp>
      <p:sp>
        <p:nvSpPr>
          <p:cNvPr id="4" name="Shape 2"/>
          <p:cNvSpPr/>
          <p:nvPr/>
        </p:nvSpPr>
        <p:spPr>
          <a:xfrm>
            <a:off x="566261" y="1760458"/>
            <a:ext cx="6576298" cy="2145863"/>
          </a:xfrm>
          <a:prstGeom prst="roundRect">
            <a:avLst>
              <a:gd name="adj" fmla="val 2771"/>
            </a:avLst>
          </a:prstGeom>
          <a:noFill/>
          <a:ln w="15240">
            <a:solidFill>
              <a:srgbClr val="BBC2DC"/>
            </a:solidFill>
            <a:prstDash val="solid"/>
          </a:ln>
        </p:spPr>
      </p:sp>
      <p:sp>
        <p:nvSpPr>
          <p:cNvPr id="5" name="Text 3"/>
          <p:cNvSpPr/>
          <p:nvPr/>
        </p:nvSpPr>
        <p:spPr>
          <a:xfrm>
            <a:off x="723067" y="1917263"/>
            <a:ext cx="3012400" cy="232886"/>
          </a:xfrm>
          <a:prstGeom prst="rect">
            <a:avLst/>
          </a:prstGeom>
          <a:noFill/>
          <a:ln/>
        </p:spPr>
        <p:txBody>
          <a:bodyPr wrap="none" lIns="0" tIns="0" rIns="0" bIns="0" rtlCol="0" anchor="t"/>
          <a:lstStyle/>
          <a:p>
            <a:pPr algn="l" indent="0" marL="0">
              <a:lnSpc>
                <a:spcPts val="1800"/>
              </a:lnSpc>
              <a:buNone/>
            </a:pPr>
            <a:r>
              <a:rPr lang="en-US" sz="1450" dirty="0">
                <a:solidFill>
                  <a:srgbClr val="3B3535"/>
                </a:solidFill>
                <a:latin typeface="Alexandria Semi Bold" pitchFamily="34" charset="0"/>
                <a:ea typeface="Alexandria Semi Bold" pitchFamily="34" charset="-122"/>
                <a:cs typeface="Alexandria Semi Bold" pitchFamily="34" charset="-120"/>
              </a:rPr>
              <a:t>Option 1: Lead the AI Revolution</a:t>
            </a:r>
            <a:endParaRPr lang="en-US" sz="1450" dirty="0"/>
          </a:p>
        </p:txBody>
      </p:sp>
      <p:sp>
        <p:nvSpPr>
          <p:cNvPr id="6" name="Text 4"/>
          <p:cNvSpPr/>
          <p:nvPr/>
        </p:nvSpPr>
        <p:spPr>
          <a:xfrm>
            <a:off x="723067" y="2291715"/>
            <a:ext cx="6262688" cy="452914"/>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3B3535"/>
                </a:solidFill>
                <a:latin typeface="Sora Light" pitchFamily="34" charset="0"/>
                <a:ea typeface="Sora Light" pitchFamily="34" charset="-122"/>
                <a:cs typeface="Sora Light" pitchFamily="34" charset="-120"/>
              </a:rPr>
              <a:t>Immediate Benefits: 300% content velocity increase, 450% fan engagement improvement, $880M annual value creation</a:t>
            </a:r>
            <a:endParaRPr lang="en-US" sz="1100" dirty="0"/>
          </a:p>
        </p:txBody>
      </p:sp>
      <p:sp>
        <p:nvSpPr>
          <p:cNvPr id="7" name="Text 5"/>
          <p:cNvSpPr/>
          <p:nvPr/>
        </p:nvSpPr>
        <p:spPr>
          <a:xfrm>
            <a:off x="723067" y="2794159"/>
            <a:ext cx="6262688" cy="452914"/>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3B3535"/>
                </a:solidFill>
                <a:latin typeface="Sora Light" pitchFamily="34" charset="0"/>
                <a:ea typeface="Sora Light" pitchFamily="34" charset="-122"/>
                <a:cs typeface="Sora Light" pitchFamily="34" charset="-120"/>
              </a:rPr>
              <a:t>Competitive Position: 2-3 year lead over competitors, first-mover advantage in AI-powered sports entertainment</a:t>
            </a:r>
            <a:endParaRPr lang="en-US" sz="1100" dirty="0"/>
          </a:p>
        </p:txBody>
      </p:sp>
      <p:sp>
        <p:nvSpPr>
          <p:cNvPr id="8" name="Text 6"/>
          <p:cNvSpPr/>
          <p:nvPr/>
        </p:nvSpPr>
        <p:spPr>
          <a:xfrm>
            <a:off x="723067" y="3296603"/>
            <a:ext cx="6262688" cy="452914"/>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3B3535"/>
                </a:solidFill>
                <a:latin typeface="Sora Light" pitchFamily="34" charset="0"/>
                <a:ea typeface="Sora Light" pitchFamily="34" charset="-122"/>
                <a:cs typeface="Sora Light" pitchFamily="34" charset="-120"/>
              </a:rPr>
              <a:t>Market Leadership: Position TKO as the AI-native sports entertainment company of the future</a:t>
            </a:r>
            <a:endParaRPr lang="en-US" sz="1100" dirty="0"/>
          </a:p>
        </p:txBody>
      </p:sp>
      <p:sp>
        <p:nvSpPr>
          <p:cNvPr id="9" name="Shape 7"/>
          <p:cNvSpPr/>
          <p:nvPr/>
        </p:nvSpPr>
        <p:spPr>
          <a:xfrm>
            <a:off x="566261" y="4047887"/>
            <a:ext cx="6576298" cy="1466493"/>
          </a:xfrm>
          <a:prstGeom prst="roundRect">
            <a:avLst>
              <a:gd name="adj" fmla="val 4055"/>
            </a:avLst>
          </a:prstGeom>
          <a:noFill/>
          <a:ln w="15240">
            <a:solidFill>
              <a:srgbClr val="BBC2DC"/>
            </a:solidFill>
            <a:prstDash val="solid"/>
          </a:ln>
        </p:spPr>
      </p:sp>
      <p:sp>
        <p:nvSpPr>
          <p:cNvPr id="10" name="Text 8"/>
          <p:cNvSpPr/>
          <p:nvPr/>
        </p:nvSpPr>
        <p:spPr>
          <a:xfrm>
            <a:off x="723067" y="4204692"/>
            <a:ext cx="2623780" cy="232886"/>
          </a:xfrm>
          <a:prstGeom prst="rect">
            <a:avLst/>
          </a:prstGeom>
          <a:noFill/>
          <a:ln/>
        </p:spPr>
        <p:txBody>
          <a:bodyPr wrap="none" lIns="0" tIns="0" rIns="0" bIns="0" rtlCol="0" anchor="t"/>
          <a:lstStyle/>
          <a:p>
            <a:pPr algn="l" indent="0" marL="0">
              <a:lnSpc>
                <a:spcPts val="1800"/>
              </a:lnSpc>
              <a:buNone/>
            </a:pPr>
            <a:r>
              <a:rPr lang="en-US" sz="1450" dirty="0">
                <a:solidFill>
                  <a:srgbClr val="3B3535"/>
                </a:solidFill>
                <a:latin typeface="Alexandria Semi Bold" pitchFamily="34" charset="0"/>
                <a:ea typeface="Alexandria Semi Bold" pitchFamily="34" charset="-122"/>
                <a:cs typeface="Alexandria Semi Bold" pitchFamily="34" charset="-120"/>
              </a:rPr>
              <a:t>Option 2: Follow the Market</a:t>
            </a:r>
            <a:endParaRPr lang="en-US" sz="1450" dirty="0"/>
          </a:p>
        </p:txBody>
      </p:sp>
      <p:sp>
        <p:nvSpPr>
          <p:cNvPr id="11" name="Text 9"/>
          <p:cNvSpPr/>
          <p:nvPr/>
        </p:nvSpPr>
        <p:spPr>
          <a:xfrm>
            <a:off x="723067" y="4579144"/>
            <a:ext cx="6262688" cy="226457"/>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3B3535"/>
                </a:solidFill>
                <a:latin typeface="Sora Light" pitchFamily="34" charset="0"/>
                <a:ea typeface="Sora Light" pitchFamily="34" charset="-122"/>
                <a:cs typeface="Sora Light" pitchFamily="34" charset="-120"/>
              </a:rPr>
              <a:t>Delayed Benefits: 18-24 month disadvantage while competitors build AI capabilities</a:t>
            </a:r>
            <a:endParaRPr lang="en-US" sz="1100" dirty="0"/>
          </a:p>
        </p:txBody>
      </p:sp>
      <p:sp>
        <p:nvSpPr>
          <p:cNvPr id="12" name="Text 10"/>
          <p:cNvSpPr/>
          <p:nvPr/>
        </p:nvSpPr>
        <p:spPr>
          <a:xfrm>
            <a:off x="723067" y="4855131"/>
            <a:ext cx="6262688" cy="226457"/>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3B3535"/>
                </a:solidFill>
                <a:latin typeface="Sora Light" pitchFamily="34" charset="0"/>
                <a:ea typeface="Sora Light" pitchFamily="34" charset="-122"/>
                <a:cs typeface="Sora Light" pitchFamily="34" charset="-120"/>
              </a:rPr>
              <a:t>Competitive Risk: Permanent market share loss to AI-enabled competitors</a:t>
            </a:r>
            <a:endParaRPr lang="en-US" sz="1100" dirty="0"/>
          </a:p>
        </p:txBody>
      </p:sp>
      <p:sp>
        <p:nvSpPr>
          <p:cNvPr id="13" name="Text 11"/>
          <p:cNvSpPr/>
          <p:nvPr/>
        </p:nvSpPr>
        <p:spPr>
          <a:xfrm>
            <a:off x="723067" y="5131118"/>
            <a:ext cx="6262688" cy="226457"/>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3B3535"/>
                </a:solidFill>
                <a:latin typeface="Sora Light" pitchFamily="34" charset="0"/>
                <a:ea typeface="Sora Light" pitchFamily="34" charset="-122"/>
                <a:cs typeface="Sora Light" pitchFamily="34" charset="-120"/>
              </a:rPr>
              <a:t>Opportunity Cost: $1.5+ billion in missed revenue over 3-year period</a:t>
            </a:r>
            <a:endParaRPr lang="en-US" sz="1100" dirty="0"/>
          </a:p>
        </p:txBody>
      </p:sp>
      <p:sp>
        <p:nvSpPr>
          <p:cNvPr id="14" name="Text 12"/>
          <p:cNvSpPr/>
          <p:nvPr/>
        </p:nvSpPr>
        <p:spPr>
          <a:xfrm>
            <a:off x="7495461" y="1321951"/>
            <a:ext cx="2841665" cy="279321"/>
          </a:xfrm>
          <a:prstGeom prst="rect">
            <a:avLst/>
          </a:prstGeom>
          <a:noFill/>
          <a:ln/>
        </p:spPr>
        <p:txBody>
          <a:bodyPr wrap="none" lIns="0" tIns="0" rIns="0" bIns="0" rtlCol="0" anchor="t"/>
          <a:lstStyle/>
          <a:p>
            <a:pPr algn="l" indent="0" marL="0">
              <a:lnSpc>
                <a:spcPts val="2200"/>
              </a:lnSpc>
              <a:buNone/>
            </a:pPr>
            <a:r>
              <a:rPr lang="en-US" sz="1750" dirty="0">
                <a:solidFill>
                  <a:srgbClr val="1F1E1E"/>
                </a:solidFill>
                <a:latin typeface="Alexandria Semi Bold" pitchFamily="34" charset="0"/>
                <a:ea typeface="Alexandria Semi Bold" pitchFamily="34" charset="-122"/>
                <a:cs typeface="Alexandria Semi Bold" pitchFamily="34" charset="-120"/>
              </a:rPr>
              <a:t>The TKO-TCS Partnership</a:t>
            </a:r>
            <a:endParaRPr lang="en-US" sz="1750" dirty="0"/>
          </a:p>
        </p:txBody>
      </p:sp>
      <p:sp>
        <p:nvSpPr>
          <p:cNvPr id="15" name="Text 13"/>
          <p:cNvSpPr/>
          <p:nvPr/>
        </p:nvSpPr>
        <p:spPr>
          <a:xfrm>
            <a:off x="7495461" y="1742837"/>
            <a:ext cx="6576298" cy="452914"/>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3B3535"/>
                </a:solidFill>
                <a:latin typeface="Sora Light" pitchFamily="34" charset="0"/>
                <a:ea typeface="Sora Light" pitchFamily="34" charset="-122"/>
                <a:cs typeface="Sora Light" pitchFamily="34" charset="-120"/>
              </a:rPr>
              <a:t>Immediate Access: 300,000+ AI-trained professionals and $1.5 billion AI pipeline experience</a:t>
            </a:r>
            <a:endParaRPr lang="en-US" sz="1100" dirty="0"/>
          </a:p>
        </p:txBody>
      </p:sp>
      <p:sp>
        <p:nvSpPr>
          <p:cNvPr id="16" name="Text 14"/>
          <p:cNvSpPr/>
          <p:nvPr/>
        </p:nvSpPr>
        <p:spPr>
          <a:xfrm>
            <a:off x="7495461" y="2245281"/>
            <a:ext cx="6576298" cy="226457"/>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3B3535"/>
                </a:solidFill>
                <a:latin typeface="Sora Light" pitchFamily="34" charset="0"/>
                <a:ea typeface="Sora Light" pitchFamily="34" charset="-122"/>
                <a:cs typeface="Sora Light" pitchFamily="34" charset="-120"/>
              </a:rPr>
              <a:t>Proven Results: 600+ successful AI implementations across global enterprises</a:t>
            </a:r>
            <a:endParaRPr lang="en-US" sz="1100" dirty="0"/>
          </a:p>
        </p:txBody>
      </p:sp>
      <p:sp>
        <p:nvSpPr>
          <p:cNvPr id="17" name="Text 15"/>
          <p:cNvSpPr/>
          <p:nvPr/>
        </p:nvSpPr>
        <p:spPr>
          <a:xfrm>
            <a:off x="7495461" y="2521268"/>
            <a:ext cx="6576298" cy="226457"/>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3B3535"/>
                </a:solidFill>
                <a:latin typeface="Sora Light" pitchFamily="34" charset="0"/>
                <a:ea typeface="Sora Light" pitchFamily="34" charset="-122"/>
                <a:cs typeface="Sora Light" pitchFamily="34" charset="-120"/>
              </a:rPr>
              <a:t>Industry Expertise: Deep CMI domain knowledge and sports entertainment specialization</a:t>
            </a:r>
            <a:endParaRPr lang="en-US" sz="1100" dirty="0"/>
          </a:p>
        </p:txBody>
      </p:sp>
      <p:sp>
        <p:nvSpPr>
          <p:cNvPr id="18" name="Text 16"/>
          <p:cNvSpPr/>
          <p:nvPr/>
        </p:nvSpPr>
        <p:spPr>
          <a:xfrm>
            <a:off x="7495461" y="2889290"/>
            <a:ext cx="2235279" cy="279321"/>
          </a:xfrm>
          <a:prstGeom prst="rect">
            <a:avLst/>
          </a:prstGeom>
          <a:noFill/>
          <a:ln/>
        </p:spPr>
        <p:txBody>
          <a:bodyPr wrap="none" lIns="0" tIns="0" rIns="0" bIns="0" rtlCol="0" anchor="t"/>
          <a:lstStyle/>
          <a:p>
            <a:pPr algn="l" indent="0" marL="0">
              <a:lnSpc>
                <a:spcPts val="2200"/>
              </a:lnSpc>
              <a:buNone/>
            </a:pPr>
            <a:r>
              <a:rPr lang="en-US" sz="1750" dirty="0">
                <a:solidFill>
                  <a:srgbClr val="1F1E1E"/>
                </a:solidFill>
                <a:latin typeface="Alexandria Semi Bold" pitchFamily="34" charset="0"/>
                <a:ea typeface="Alexandria Semi Bold" pitchFamily="34" charset="-122"/>
                <a:cs typeface="Alexandria Semi Bold" pitchFamily="34" charset="-120"/>
              </a:rPr>
              <a:t>Next Steps</a:t>
            </a:r>
            <a:endParaRPr lang="en-US" sz="1750" dirty="0"/>
          </a:p>
        </p:txBody>
      </p:sp>
      <p:sp>
        <p:nvSpPr>
          <p:cNvPr id="19" name="Shape 17"/>
          <p:cNvSpPr/>
          <p:nvPr/>
        </p:nvSpPr>
        <p:spPr>
          <a:xfrm>
            <a:off x="7495461" y="3327797"/>
            <a:ext cx="141565" cy="884039"/>
          </a:xfrm>
          <a:prstGeom prst="roundRect">
            <a:avLst>
              <a:gd name="adj" fmla="val 42002"/>
            </a:avLst>
          </a:prstGeom>
          <a:solidFill>
            <a:srgbClr val="D5DCF6"/>
          </a:solidFill>
          <a:ln w="7620">
            <a:solidFill>
              <a:srgbClr val="BBC2DC"/>
            </a:solidFill>
            <a:prstDash val="solid"/>
          </a:ln>
        </p:spPr>
      </p:sp>
      <p:sp>
        <p:nvSpPr>
          <p:cNvPr id="20" name="Text 18"/>
          <p:cNvSpPr/>
          <p:nvPr/>
        </p:nvSpPr>
        <p:spPr>
          <a:xfrm>
            <a:off x="7778591" y="3469362"/>
            <a:ext cx="1862733" cy="232886"/>
          </a:xfrm>
          <a:prstGeom prst="rect">
            <a:avLst/>
          </a:prstGeom>
          <a:noFill/>
          <a:ln/>
        </p:spPr>
        <p:txBody>
          <a:bodyPr wrap="none" lIns="0" tIns="0" rIns="0" bIns="0" rtlCol="0" anchor="t"/>
          <a:lstStyle/>
          <a:p>
            <a:pPr algn="l" indent="0" marL="0">
              <a:lnSpc>
                <a:spcPts val="1800"/>
              </a:lnSpc>
              <a:buNone/>
            </a:pPr>
            <a:r>
              <a:rPr lang="en-US" sz="1450" dirty="0">
                <a:solidFill>
                  <a:srgbClr val="3B3535"/>
                </a:solidFill>
                <a:latin typeface="Alexandria Semi Bold" pitchFamily="34" charset="0"/>
                <a:ea typeface="Alexandria Semi Bold" pitchFamily="34" charset="-122"/>
                <a:cs typeface="Alexandria Semi Bold" pitchFamily="34" charset="-120"/>
              </a:rPr>
              <a:t>30-Day Discovery</a:t>
            </a:r>
            <a:endParaRPr lang="en-US" sz="1450" dirty="0"/>
          </a:p>
        </p:txBody>
      </p:sp>
      <p:sp>
        <p:nvSpPr>
          <p:cNvPr id="21" name="Text 19"/>
          <p:cNvSpPr/>
          <p:nvPr/>
        </p:nvSpPr>
        <p:spPr>
          <a:xfrm>
            <a:off x="7778591" y="3843814"/>
            <a:ext cx="6293168" cy="226457"/>
          </a:xfrm>
          <a:prstGeom prst="rect">
            <a:avLst/>
          </a:prstGeom>
          <a:noFill/>
          <a:ln/>
        </p:spPr>
        <p:txBody>
          <a:bodyPr wrap="none" lIns="0" tIns="0" rIns="0" bIns="0" rtlCol="0" anchor="t"/>
          <a:lstStyle/>
          <a:p>
            <a:pPr algn="l" indent="0" marL="0">
              <a:lnSpc>
                <a:spcPts val="1750"/>
              </a:lnSpc>
              <a:buNone/>
            </a:pPr>
            <a:r>
              <a:rPr lang="en-US" sz="1100" dirty="0">
                <a:solidFill>
                  <a:srgbClr val="3B3535"/>
                </a:solidFill>
                <a:latin typeface="Sora Light" pitchFamily="34" charset="0"/>
                <a:ea typeface="Sora Light" pitchFamily="34" charset="-122"/>
                <a:cs typeface="Sora Light" pitchFamily="34" charset="-120"/>
              </a:rPr>
              <a:t>Comprehensive AI readiness assessment and opportunity mapping</a:t>
            </a:r>
            <a:endParaRPr lang="en-US" sz="1100" dirty="0"/>
          </a:p>
        </p:txBody>
      </p:sp>
      <p:sp>
        <p:nvSpPr>
          <p:cNvPr id="22" name="Shape 20"/>
          <p:cNvSpPr/>
          <p:nvPr/>
        </p:nvSpPr>
        <p:spPr>
          <a:xfrm>
            <a:off x="7707749" y="4317921"/>
            <a:ext cx="141565" cy="884039"/>
          </a:xfrm>
          <a:prstGeom prst="roundRect">
            <a:avLst>
              <a:gd name="adj" fmla="val 42002"/>
            </a:avLst>
          </a:prstGeom>
          <a:solidFill>
            <a:srgbClr val="D5DCF6"/>
          </a:solidFill>
          <a:ln w="7620">
            <a:solidFill>
              <a:srgbClr val="BBC2DC"/>
            </a:solidFill>
            <a:prstDash val="solid"/>
          </a:ln>
        </p:spPr>
      </p:sp>
      <p:sp>
        <p:nvSpPr>
          <p:cNvPr id="23" name="Text 21"/>
          <p:cNvSpPr/>
          <p:nvPr/>
        </p:nvSpPr>
        <p:spPr>
          <a:xfrm>
            <a:off x="7990880" y="4459486"/>
            <a:ext cx="1862733" cy="232886"/>
          </a:xfrm>
          <a:prstGeom prst="rect">
            <a:avLst/>
          </a:prstGeom>
          <a:noFill/>
          <a:ln/>
        </p:spPr>
        <p:txBody>
          <a:bodyPr wrap="none" lIns="0" tIns="0" rIns="0" bIns="0" rtlCol="0" anchor="t"/>
          <a:lstStyle/>
          <a:p>
            <a:pPr algn="l" indent="0" marL="0">
              <a:lnSpc>
                <a:spcPts val="1800"/>
              </a:lnSpc>
              <a:buNone/>
            </a:pPr>
            <a:r>
              <a:rPr lang="en-US" sz="1450" dirty="0">
                <a:solidFill>
                  <a:srgbClr val="3B3535"/>
                </a:solidFill>
                <a:latin typeface="Alexandria Semi Bold" pitchFamily="34" charset="0"/>
                <a:ea typeface="Alexandria Semi Bold" pitchFamily="34" charset="-122"/>
                <a:cs typeface="Alexandria Semi Bold" pitchFamily="34" charset="-120"/>
              </a:rPr>
              <a:t>90-Day Quick Wins</a:t>
            </a:r>
            <a:endParaRPr lang="en-US" sz="1450" dirty="0"/>
          </a:p>
        </p:txBody>
      </p:sp>
      <p:sp>
        <p:nvSpPr>
          <p:cNvPr id="24" name="Text 22"/>
          <p:cNvSpPr/>
          <p:nvPr/>
        </p:nvSpPr>
        <p:spPr>
          <a:xfrm>
            <a:off x="7990880" y="4833937"/>
            <a:ext cx="6080879" cy="226457"/>
          </a:xfrm>
          <a:prstGeom prst="rect">
            <a:avLst/>
          </a:prstGeom>
          <a:noFill/>
          <a:ln/>
        </p:spPr>
        <p:txBody>
          <a:bodyPr wrap="none" lIns="0" tIns="0" rIns="0" bIns="0" rtlCol="0" anchor="t"/>
          <a:lstStyle/>
          <a:p>
            <a:pPr algn="l" indent="0" marL="0">
              <a:lnSpc>
                <a:spcPts val="1750"/>
              </a:lnSpc>
              <a:buNone/>
            </a:pPr>
            <a:r>
              <a:rPr lang="en-US" sz="1100" dirty="0">
                <a:solidFill>
                  <a:srgbClr val="3B3535"/>
                </a:solidFill>
                <a:latin typeface="Sora Light" pitchFamily="34" charset="0"/>
                <a:ea typeface="Sora Light" pitchFamily="34" charset="-122"/>
                <a:cs typeface="Sora Light" pitchFamily="34" charset="-120"/>
              </a:rPr>
              <a:t>Implement 3 high-impact AI use cases for immediate ROI</a:t>
            </a:r>
            <a:endParaRPr lang="en-US" sz="1100" dirty="0"/>
          </a:p>
        </p:txBody>
      </p:sp>
      <p:sp>
        <p:nvSpPr>
          <p:cNvPr id="25" name="Shape 23"/>
          <p:cNvSpPr/>
          <p:nvPr/>
        </p:nvSpPr>
        <p:spPr>
          <a:xfrm>
            <a:off x="7920157" y="5308044"/>
            <a:ext cx="141565" cy="884039"/>
          </a:xfrm>
          <a:prstGeom prst="roundRect">
            <a:avLst>
              <a:gd name="adj" fmla="val 42002"/>
            </a:avLst>
          </a:prstGeom>
          <a:solidFill>
            <a:srgbClr val="D5DCF6"/>
          </a:solidFill>
          <a:ln w="7620">
            <a:solidFill>
              <a:srgbClr val="BBC2DC"/>
            </a:solidFill>
            <a:prstDash val="solid"/>
          </a:ln>
        </p:spPr>
      </p:sp>
      <p:sp>
        <p:nvSpPr>
          <p:cNvPr id="26" name="Text 24"/>
          <p:cNvSpPr/>
          <p:nvPr/>
        </p:nvSpPr>
        <p:spPr>
          <a:xfrm>
            <a:off x="8203287" y="5449610"/>
            <a:ext cx="2383750" cy="232886"/>
          </a:xfrm>
          <a:prstGeom prst="rect">
            <a:avLst/>
          </a:prstGeom>
          <a:noFill/>
          <a:ln/>
        </p:spPr>
        <p:txBody>
          <a:bodyPr wrap="none" lIns="0" tIns="0" rIns="0" bIns="0" rtlCol="0" anchor="t"/>
          <a:lstStyle/>
          <a:p>
            <a:pPr algn="l" indent="0" marL="0">
              <a:lnSpc>
                <a:spcPts val="1800"/>
              </a:lnSpc>
              <a:buNone/>
            </a:pPr>
            <a:r>
              <a:rPr lang="en-US" sz="1450" dirty="0">
                <a:solidFill>
                  <a:srgbClr val="3B3535"/>
                </a:solidFill>
                <a:latin typeface="Alexandria Semi Bold" pitchFamily="34" charset="0"/>
                <a:ea typeface="Alexandria Semi Bold" pitchFamily="34" charset="-122"/>
                <a:cs typeface="Alexandria Semi Bold" pitchFamily="34" charset="-120"/>
              </a:rPr>
              <a:t>12-Month Transformation</a:t>
            </a:r>
            <a:endParaRPr lang="en-US" sz="1450" dirty="0"/>
          </a:p>
        </p:txBody>
      </p:sp>
      <p:sp>
        <p:nvSpPr>
          <p:cNvPr id="27" name="Text 25"/>
          <p:cNvSpPr/>
          <p:nvPr/>
        </p:nvSpPr>
        <p:spPr>
          <a:xfrm>
            <a:off x="8203287" y="5824061"/>
            <a:ext cx="5868472" cy="226457"/>
          </a:xfrm>
          <a:prstGeom prst="rect">
            <a:avLst/>
          </a:prstGeom>
          <a:noFill/>
          <a:ln/>
        </p:spPr>
        <p:txBody>
          <a:bodyPr wrap="none" lIns="0" tIns="0" rIns="0" bIns="0" rtlCol="0" anchor="t"/>
          <a:lstStyle/>
          <a:p>
            <a:pPr algn="l" indent="0" marL="0">
              <a:lnSpc>
                <a:spcPts val="1750"/>
              </a:lnSpc>
              <a:buNone/>
            </a:pPr>
            <a:r>
              <a:rPr lang="en-US" sz="1100" dirty="0">
                <a:solidFill>
                  <a:srgbClr val="3B3535"/>
                </a:solidFill>
                <a:latin typeface="Sora Light" pitchFamily="34" charset="0"/>
                <a:ea typeface="Sora Light" pitchFamily="34" charset="-122"/>
                <a:cs typeface="Sora Light" pitchFamily="34" charset="-120"/>
              </a:rPr>
              <a:t>Full-scale AI deployment across TKO's global operations</a:t>
            </a:r>
            <a:endParaRPr lang="en-US" sz="1100" dirty="0"/>
          </a:p>
        </p:txBody>
      </p:sp>
      <p:sp>
        <p:nvSpPr>
          <p:cNvPr id="28" name="Shape 26"/>
          <p:cNvSpPr/>
          <p:nvPr/>
        </p:nvSpPr>
        <p:spPr>
          <a:xfrm>
            <a:off x="8132445" y="6298168"/>
            <a:ext cx="141565" cy="884039"/>
          </a:xfrm>
          <a:prstGeom prst="roundRect">
            <a:avLst>
              <a:gd name="adj" fmla="val 42002"/>
            </a:avLst>
          </a:prstGeom>
          <a:solidFill>
            <a:srgbClr val="D5DCF6"/>
          </a:solidFill>
          <a:ln w="7620">
            <a:solidFill>
              <a:srgbClr val="BBC2DC"/>
            </a:solidFill>
            <a:prstDash val="solid"/>
          </a:ln>
        </p:spPr>
      </p:sp>
      <p:sp>
        <p:nvSpPr>
          <p:cNvPr id="29" name="Text 27"/>
          <p:cNvSpPr/>
          <p:nvPr/>
        </p:nvSpPr>
        <p:spPr>
          <a:xfrm>
            <a:off x="8415576" y="6439733"/>
            <a:ext cx="2009061" cy="232886"/>
          </a:xfrm>
          <a:prstGeom prst="rect">
            <a:avLst/>
          </a:prstGeom>
          <a:noFill/>
          <a:ln/>
        </p:spPr>
        <p:txBody>
          <a:bodyPr wrap="none" lIns="0" tIns="0" rIns="0" bIns="0" rtlCol="0" anchor="t"/>
          <a:lstStyle/>
          <a:p>
            <a:pPr algn="l" indent="0" marL="0">
              <a:lnSpc>
                <a:spcPts val="1800"/>
              </a:lnSpc>
              <a:buNone/>
            </a:pPr>
            <a:r>
              <a:rPr lang="en-US" sz="1450" dirty="0">
                <a:solidFill>
                  <a:srgbClr val="3B3535"/>
                </a:solidFill>
                <a:latin typeface="Alexandria Semi Bold" pitchFamily="34" charset="0"/>
                <a:ea typeface="Alexandria Semi Bold" pitchFamily="34" charset="-122"/>
                <a:cs typeface="Alexandria Semi Bold" pitchFamily="34" charset="-120"/>
              </a:rPr>
              <a:t>24-Month Leadership</a:t>
            </a:r>
            <a:endParaRPr lang="en-US" sz="1450" dirty="0"/>
          </a:p>
        </p:txBody>
      </p:sp>
      <p:sp>
        <p:nvSpPr>
          <p:cNvPr id="30" name="Text 28"/>
          <p:cNvSpPr/>
          <p:nvPr/>
        </p:nvSpPr>
        <p:spPr>
          <a:xfrm>
            <a:off x="8415576" y="6814185"/>
            <a:ext cx="5656183" cy="226457"/>
          </a:xfrm>
          <a:prstGeom prst="rect">
            <a:avLst/>
          </a:prstGeom>
          <a:noFill/>
          <a:ln/>
        </p:spPr>
        <p:txBody>
          <a:bodyPr wrap="none" lIns="0" tIns="0" rIns="0" bIns="0" rtlCol="0" anchor="t"/>
          <a:lstStyle/>
          <a:p>
            <a:pPr algn="l" indent="0" marL="0">
              <a:lnSpc>
                <a:spcPts val="1750"/>
              </a:lnSpc>
              <a:buNone/>
            </a:pPr>
            <a:r>
              <a:rPr lang="en-US" sz="1100" dirty="0">
                <a:solidFill>
                  <a:srgbClr val="3B3535"/>
                </a:solidFill>
                <a:latin typeface="Sora Light" pitchFamily="34" charset="0"/>
                <a:ea typeface="Sora Light" pitchFamily="34" charset="-122"/>
                <a:cs typeface="Sora Light" pitchFamily="34" charset="-120"/>
              </a:rPr>
              <a:t>Establish TKO as the AI leader in sports entertainment</a:t>
            </a:r>
            <a:endParaRPr lang="en-US" sz="1100" dirty="0"/>
          </a:p>
        </p:txBody>
      </p:sp>
      <p:sp>
        <p:nvSpPr>
          <p:cNvPr id="31" name="Text 29"/>
          <p:cNvSpPr/>
          <p:nvPr/>
        </p:nvSpPr>
        <p:spPr>
          <a:xfrm>
            <a:off x="566261" y="7500580"/>
            <a:ext cx="13497877" cy="226457"/>
          </a:xfrm>
          <a:prstGeom prst="rect">
            <a:avLst/>
          </a:prstGeom>
          <a:noFill/>
          <a:ln/>
        </p:spPr>
        <p:txBody>
          <a:bodyPr wrap="none" lIns="0" tIns="0" rIns="0" bIns="0" rtlCol="0" anchor="t"/>
          <a:lstStyle/>
          <a:p>
            <a:pPr algn="l" indent="0" marL="0">
              <a:lnSpc>
                <a:spcPts val="1750"/>
              </a:lnSpc>
              <a:buNone/>
            </a:pPr>
            <a:r>
              <a:rPr lang="en-US" sz="1100" dirty="0">
                <a:solidFill>
                  <a:srgbClr val="3B3535"/>
                </a:solidFill>
                <a:latin typeface="Sora Light" pitchFamily="34" charset="0"/>
                <a:ea typeface="Sora Light" pitchFamily="34" charset="-122"/>
                <a:cs typeface="Sora Light" pitchFamily="34" charset="-120"/>
              </a:rPr>
              <a:t>The time for AI transformation is now. The question is not whether TKO will embrace AI, but whether you'll lead the revolution or be left behind by it.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2025-07-13T23:35:25Z</dcterms:created>
  <dcterms:modified xsi:type="dcterms:W3CDTF">2025-07-13T23:35:25Z</dcterms:modified>
</cp:coreProperties>
</file>